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y="10287000" cx="18288000"/>
  <p:notesSz cx="6858000" cy="9144000"/>
  <p:embeddedFontLst>
    <p:embeddedFont>
      <p:font typeface="Raleway"/>
      <p:regular r:id="rId65"/>
      <p:bold r:id="rId66"/>
      <p:italic r:id="rId67"/>
      <p:boldItalic r:id="rId68"/>
    </p:embeddedFont>
    <p:embeddedFont>
      <p:font typeface="Montserrat"/>
      <p:bold r:id="rId69"/>
      <p:boldItalic r:id="rId70"/>
    </p:embeddedFont>
    <p:embeddedFont>
      <p:font typeface="Open Sans ExtraBold"/>
      <p:bold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73" roundtripDataSignature="AMtx7mju87dEfdYwYjVua+bJ6wXBT8Up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C90F9C7-CA72-463E-B247-5019459E9078}">
  <a:tblStyle styleId="{2C90F9C7-CA72-463E-B247-5019459E9078}"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customschemas.google.com/relationships/presentationmetadata" Target="metadata"/><Relationship Id="rId72" Type="http://schemas.openxmlformats.org/officeDocument/2006/relationships/font" Target="fonts/OpenSansExtraBold-bold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OpenSansExtraBold-bold.fntdata"/><Relationship Id="rId70" Type="http://schemas.openxmlformats.org/officeDocument/2006/relationships/font" Target="fonts/Montserrat-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Raleway-bold.fntdata"/><Relationship Id="rId21" Type="http://schemas.openxmlformats.org/officeDocument/2006/relationships/slide" Target="slides/slide15.xml"/><Relationship Id="rId65" Type="http://schemas.openxmlformats.org/officeDocument/2006/relationships/font" Target="fonts/Raleway-regular.fntdata"/><Relationship Id="rId24" Type="http://schemas.openxmlformats.org/officeDocument/2006/relationships/slide" Target="slides/slide18.xml"/><Relationship Id="rId68" Type="http://schemas.openxmlformats.org/officeDocument/2006/relationships/font" Target="fonts/Raleway-boldItalic.fntdata"/><Relationship Id="rId23" Type="http://schemas.openxmlformats.org/officeDocument/2006/relationships/slide" Target="slides/slide17.xml"/><Relationship Id="rId67" Type="http://schemas.openxmlformats.org/officeDocument/2006/relationships/font" Target="fonts/Raleway-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Montserrat-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7" name="Google Shape;54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9" name="Google Shape;569;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0" name="Google Shape;570;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7" name="Google Shape;587;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4" name="Google Shape;60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7" name="Google Shape;617;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0" name="Google Shape;630;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4" name="Google Shape;644;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5" name="Google Shape;645;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9" name="Google Shape;659;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9" name="Google Shape;689;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0" name="Google Shape;690;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5" name="Google Shape;705;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6" name="Google Shape;706;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1" name="Google Shape;721;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2" name="Google Shape;722;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8" name="Google Shape;738;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1" name="Google Shape;751;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2" name="Google Shape;752;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4" name="Google Shape;764;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5" name="Google Shape;765;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7" name="Google Shape;777;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8" name="Google Shape;778;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3" name="Google Shape;793;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4" name="Google Shape;794;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3" name="Google Shape;813;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4" name="Google Shape;814;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7" name="Google Shape;827;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8" name="Google Shape;828;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3" name="Google Shape;843;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4" name="Google Shape;844;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9" name="Google Shape;859;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0" name="Google Shape;860;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4" name="Google Shape;894;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5" name="Google Shape;895;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7" name="Google Shape;907;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8" name="Google Shape;908;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9" name="Google Shape;919;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0" name="Google Shape;920;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3" name="Google Shape;933;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4" name="Google Shape;934;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9" name="Google Shape;949;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0" name="Google Shape;950;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2" name="Google Shape;962;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3" name="Google Shape;963;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2" name="Google Shape;982;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3" name="Google Shape;983;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7" name="Google Shape;997;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7" name="Google Shape;1007;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8" name="Google Shape;1008;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6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6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6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6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6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6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6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6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6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6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6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6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6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6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6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68"/>
          <p:cNvSpPr/>
          <p:nvPr>
            <p:ph idx="2" type="pic"/>
          </p:nvPr>
        </p:nvSpPr>
        <p:spPr>
          <a:xfrm>
            <a:off x="1792288" y="612775"/>
            <a:ext cx="5486400" cy="4114800"/>
          </a:xfrm>
          <a:prstGeom prst="rect">
            <a:avLst/>
          </a:prstGeom>
          <a:noFill/>
          <a:ln>
            <a:noFill/>
          </a:ln>
        </p:spPr>
      </p:sp>
      <p:sp>
        <p:nvSpPr>
          <p:cNvPr id="68" name="Google Shape;68;p6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6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6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7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7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7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4.jpg"/><Relationship Id="rId5" Type="http://schemas.openxmlformats.org/officeDocument/2006/relationships/image" Target="../media/image10.jpg"/><Relationship Id="rId6" Type="http://schemas.openxmlformats.org/officeDocument/2006/relationships/image" Target="../media/image12.jpg"/><Relationship Id="rId7" Type="http://schemas.openxmlformats.org/officeDocument/2006/relationships/image" Target="../media/image7.jpg"/><Relationship Id="rId8"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23.jpg"/><Relationship Id="rId5"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27.png"/><Relationship Id="rId5"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7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25.jpg"/><Relationship Id="rId5" Type="http://schemas.openxmlformats.org/officeDocument/2006/relationships/image" Target="../media/image3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6.jpg"/><Relationship Id="rId4" Type="http://schemas.openxmlformats.org/officeDocument/2006/relationships/image" Target="../media/image2.png"/><Relationship Id="rId5" Type="http://schemas.openxmlformats.org/officeDocument/2006/relationships/image" Target="../media/image41.jpg"/><Relationship Id="rId6" Type="http://schemas.openxmlformats.org/officeDocument/2006/relationships/image" Target="../media/image1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3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32.jpg"/><Relationship Id="rId5" Type="http://schemas.openxmlformats.org/officeDocument/2006/relationships/image" Target="../media/image2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3.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image" Target="../media/image30.jpg"/><Relationship Id="rId5" Type="http://schemas.openxmlformats.org/officeDocument/2006/relationships/image" Target="../media/image35.png"/><Relationship Id="rId6" Type="http://schemas.openxmlformats.org/officeDocument/2006/relationships/hyperlink" Target="https://scikit-learn.org/stable/modules/naive_bayes.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png"/><Relationship Id="rId4" Type="http://schemas.openxmlformats.org/officeDocument/2006/relationships/image" Target="../media/image46.jpg"/><Relationship Id="rId5"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png"/><Relationship Id="rId4" Type="http://schemas.openxmlformats.org/officeDocument/2006/relationships/image" Target="../media/image34.png"/><Relationship Id="rId5" Type="http://schemas.openxmlformats.org/officeDocument/2006/relationships/image" Target="../media/image4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png"/><Relationship Id="rId4" Type="http://schemas.openxmlformats.org/officeDocument/2006/relationships/image" Target="../media/image3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3.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2.png"/><Relationship Id="rId4" Type="http://schemas.openxmlformats.org/officeDocument/2006/relationships/image" Target="../media/image2.png"/><Relationship Id="rId5" Type="http://schemas.openxmlformats.org/officeDocument/2006/relationships/image" Target="../media/image35.png"/><Relationship Id="rId6"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2.png"/><Relationship Id="rId4" Type="http://schemas.openxmlformats.org/officeDocument/2006/relationships/image" Target="../media/image2.png"/><Relationship Id="rId5"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png"/><Relationship Id="rId4" Type="http://schemas.openxmlformats.org/officeDocument/2006/relationships/image" Target="../media/image44.png"/><Relationship Id="rId5" Type="http://schemas.openxmlformats.org/officeDocument/2006/relationships/image" Target="../media/image4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png"/><Relationship Id="rId4" Type="http://schemas.openxmlformats.org/officeDocument/2006/relationships/image" Target="../media/image6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png"/><Relationship Id="rId4" Type="http://schemas.openxmlformats.org/officeDocument/2006/relationships/image" Target="../media/image45.png"/><Relationship Id="rId5" Type="http://schemas.openxmlformats.org/officeDocument/2006/relationships/image" Target="../media/image5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png"/><Relationship Id="rId4" Type="http://schemas.openxmlformats.org/officeDocument/2006/relationships/image" Target="../media/image55.png"/><Relationship Id="rId9" Type="http://schemas.openxmlformats.org/officeDocument/2006/relationships/image" Target="../media/image50.png"/><Relationship Id="rId5" Type="http://schemas.openxmlformats.org/officeDocument/2006/relationships/image" Target="../media/image48.png"/><Relationship Id="rId6" Type="http://schemas.openxmlformats.org/officeDocument/2006/relationships/image" Target="../media/image66.png"/><Relationship Id="rId7" Type="http://schemas.openxmlformats.org/officeDocument/2006/relationships/image" Target="../media/image47.png"/><Relationship Id="rId8" Type="http://schemas.openxmlformats.org/officeDocument/2006/relationships/image" Target="../media/image5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png"/><Relationship Id="rId4" Type="http://schemas.openxmlformats.org/officeDocument/2006/relationships/image" Target="../media/image62.png"/><Relationship Id="rId5" Type="http://schemas.openxmlformats.org/officeDocument/2006/relationships/image" Target="../media/image5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2.png"/><Relationship Id="rId4" Type="http://schemas.openxmlformats.org/officeDocument/2006/relationships/image" Target="../media/image57.png"/><Relationship Id="rId5" Type="http://schemas.openxmlformats.org/officeDocument/2006/relationships/image" Target="../media/image60.png"/><Relationship Id="rId6" Type="http://schemas.openxmlformats.org/officeDocument/2006/relationships/image" Target="../media/image58.png"/><Relationship Id="rId7" Type="http://schemas.openxmlformats.org/officeDocument/2006/relationships/image" Target="../media/image5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png"/><Relationship Id="rId4" Type="http://schemas.openxmlformats.org/officeDocument/2006/relationships/image" Target="../media/image59.png"/><Relationship Id="rId5" Type="http://schemas.openxmlformats.org/officeDocument/2006/relationships/image" Target="../media/image54.png"/><Relationship Id="rId6" Type="http://schemas.openxmlformats.org/officeDocument/2006/relationships/image" Target="../media/image65.png"/><Relationship Id="rId7" Type="http://schemas.openxmlformats.org/officeDocument/2006/relationships/image" Target="../media/image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3.png"/><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63.jpg"/><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2.png"/><Relationship Id="rId4" Type="http://schemas.openxmlformats.org/officeDocument/2006/relationships/image" Target="../media/image72.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2.png"/><Relationship Id="rId4" Type="http://schemas.openxmlformats.org/officeDocument/2006/relationships/image" Target="../media/image67.jpg"/><Relationship Id="rId5" Type="http://schemas.openxmlformats.org/officeDocument/2006/relationships/image" Target="../media/image6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3.png"/><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2.png"/><Relationship Id="rId4" Type="http://schemas.openxmlformats.org/officeDocument/2006/relationships/image" Target="../media/image64.png"/><Relationship Id="rId5" Type="http://schemas.openxmlformats.org/officeDocument/2006/relationships/image" Target="../media/image74.jpg"/><Relationship Id="rId6" Type="http://schemas.openxmlformats.org/officeDocument/2006/relationships/image" Target="../media/image6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2.png"/><Relationship Id="rId4" Type="http://schemas.openxmlformats.org/officeDocument/2006/relationships/image" Target="../media/image69.png"/><Relationship Id="rId5" Type="http://schemas.openxmlformats.org/officeDocument/2006/relationships/image" Target="../media/image70.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2.png"/><Relationship Id="rId4" Type="http://schemas.openxmlformats.org/officeDocument/2006/relationships/hyperlink" Target="https://www.mltut.com/k-fold-cross-validation-in-machine-learning-how-does-k-fold-work/"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88" name="Shape 88"/>
        <p:cNvGrpSpPr/>
        <p:nvPr/>
      </p:nvGrpSpPr>
      <p:grpSpPr>
        <a:xfrm>
          <a:off x="0" y="0"/>
          <a:ext cx="0" cy="0"/>
          <a:chOff x="0" y="0"/>
          <a:chExt cx="0" cy="0"/>
        </a:xfrm>
      </p:grpSpPr>
      <p:sp>
        <p:nvSpPr>
          <p:cNvPr id="89" name="Google Shape;89;p1"/>
          <p:cNvSpPr/>
          <p:nvPr/>
        </p:nvSpPr>
        <p:spPr>
          <a:xfrm>
            <a:off x="0" y="-953969"/>
            <a:ext cx="18288000" cy="11240970"/>
          </a:xfrm>
          <a:custGeom>
            <a:rect b="b" l="l" r="r" t="t"/>
            <a:pathLst>
              <a:path extrusionOk="0" h="12194939" w="18288000">
                <a:moveTo>
                  <a:pt x="0" y="0"/>
                </a:moveTo>
                <a:lnTo>
                  <a:pt x="18288000" y="0"/>
                </a:lnTo>
                <a:lnTo>
                  <a:pt x="18288000" y="12194940"/>
                </a:lnTo>
                <a:lnTo>
                  <a:pt x="0" y="1219494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0" name="Google Shape;90;p1"/>
          <p:cNvGrpSpPr/>
          <p:nvPr/>
        </p:nvGrpSpPr>
        <p:grpSpPr>
          <a:xfrm>
            <a:off x="0" y="-144661"/>
            <a:ext cx="18288000" cy="10431661"/>
            <a:chOff x="0" y="-38100"/>
            <a:chExt cx="4816593" cy="2747433"/>
          </a:xfrm>
        </p:grpSpPr>
        <p:sp>
          <p:nvSpPr>
            <p:cNvPr id="91" name="Google Shape;91;p1"/>
            <p:cNvSpPr/>
            <p:nvPr/>
          </p:nvSpPr>
          <p:spPr>
            <a:xfrm>
              <a:off x="0" y="0"/>
              <a:ext cx="4816592" cy="2709333"/>
            </a:xfrm>
            <a:custGeom>
              <a:rect b="b" l="l" r="r" t="t"/>
              <a:pathLst>
                <a:path extrusionOk="0" h="2709333" w="4816592">
                  <a:moveTo>
                    <a:pt x="0" y="0"/>
                  </a:moveTo>
                  <a:lnTo>
                    <a:pt x="4816592" y="0"/>
                  </a:lnTo>
                  <a:lnTo>
                    <a:pt x="4816592" y="2709333"/>
                  </a:lnTo>
                  <a:lnTo>
                    <a:pt x="0" y="2709333"/>
                  </a:lnTo>
                  <a:close/>
                </a:path>
              </a:pathLst>
            </a:custGeom>
            <a:solidFill>
              <a:srgbClr val="FDFDFD">
                <a:alpha val="7882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1"/>
            <p:cNvSpPr txBox="1"/>
            <p:nvPr/>
          </p:nvSpPr>
          <p:spPr>
            <a:xfrm>
              <a:off x="0" y="-38100"/>
              <a:ext cx="4816593" cy="274743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3" name="Google Shape;93;p1"/>
          <p:cNvSpPr/>
          <p:nvPr/>
        </p:nvSpPr>
        <p:spPr>
          <a:xfrm>
            <a:off x="305748" y="323497"/>
            <a:ext cx="1690679" cy="1410406"/>
          </a:xfrm>
          <a:custGeom>
            <a:rect b="b" l="l" r="r" t="t"/>
            <a:pathLst>
              <a:path extrusionOk="0" h="1410406" w="1690679">
                <a:moveTo>
                  <a:pt x="0" y="0"/>
                </a:moveTo>
                <a:lnTo>
                  <a:pt x="1690679" y="0"/>
                </a:lnTo>
                <a:lnTo>
                  <a:pt x="1690679" y="1410406"/>
                </a:lnTo>
                <a:lnTo>
                  <a:pt x="0" y="141040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4" name="Google Shape;94;p1"/>
          <p:cNvGrpSpPr/>
          <p:nvPr/>
        </p:nvGrpSpPr>
        <p:grpSpPr>
          <a:xfrm>
            <a:off x="0" y="9771383"/>
            <a:ext cx="18288000" cy="515616"/>
            <a:chOff x="0" y="-38100"/>
            <a:chExt cx="3793620" cy="326159"/>
          </a:xfrm>
        </p:grpSpPr>
        <p:sp>
          <p:nvSpPr>
            <p:cNvPr id="95" name="Google Shape;95;p1"/>
            <p:cNvSpPr/>
            <p:nvPr/>
          </p:nvSpPr>
          <p:spPr>
            <a:xfrm>
              <a:off x="0" y="0"/>
              <a:ext cx="3793620" cy="288059"/>
            </a:xfrm>
            <a:custGeom>
              <a:rect b="b" l="l" r="r" t="t"/>
              <a:pathLst>
                <a:path extrusionOk="0" h="288059" w="3793620">
                  <a:moveTo>
                    <a:pt x="0" y="0"/>
                  </a:moveTo>
                  <a:lnTo>
                    <a:pt x="3793620" y="0"/>
                  </a:lnTo>
                  <a:lnTo>
                    <a:pt x="3793620" y="288059"/>
                  </a:lnTo>
                  <a:lnTo>
                    <a:pt x="0" y="288059"/>
                  </a:ln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1"/>
            <p:cNvSpPr txBox="1"/>
            <p:nvPr/>
          </p:nvSpPr>
          <p:spPr>
            <a:xfrm>
              <a:off x="0" y="-38100"/>
              <a:ext cx="3793620" cy="32615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7" name="Google Shape;97;p1"/>
          <p:cNvSpPr/>
          <p:nvPr/>
        </p:nvSpPr>
        <p:spPr>
          <a:xfrm>
            <a:off x="1996427" y="395391"/>
            <a:ext cx="154333" cy="1266619"/>
          </a:xfrm>
          <a:custGeom>
            <a:rect b="b" l="l" r="r" t="t"/>
            <a:pathLst>
              <a:path extrusionOk="0" h="1266619" w="154333">
                <a:moveTo>
                  <a:pt x="0" y="0"/>
                </a:moveTo>
                <a:lnTo>
                  <a:pt x="154334" y="0"/>
                </a:lnTo>
                <a:lnTo>
                  <a:pt x="154334" y="1266618"/>
                </a:lnTo>
                <a:lnTo>
                  <a:pt x="0" y="1266618"/>
                </a:lnTo>
                <a:lnTo>
                  <a:pt x="0" y="0"/>
                </a:lnTo>
                <a:close/>
              </a:path>
            </a:pathLst>
          </a:custGeom>
          <a:blipFill rotWithShape="1">
            <a:blip r:embed="rId5">
              <a:alphaModFix/>
            </a:blip>
            <a:stretch>
              <a:fillRect b="-280156"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 name="Google Shape;98;p1"/>
          <p:cNvSpPr txBox="1"/>
          <p:nvPr/>
        </p:nvSpPr>
        <p:spPr>
          <a:xfrm>
            <a:off x="2246411" y="2595229"/>
            <a:ext cx="13795173" cy="184665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6000">
                <a:solidFill>
                  <a:srgbClr val="08377C"/>
                </a:solidFill>
                <a:latin typeface="Montserrat"/>
                <a:ea typeface="Montserrat"/>
                <a:cs typeface="Montserrat"/>
                <a:sym typeface="Montserrat"/>
              </a:rPr>
              <a:t>Introduction to Classification</a:t>
            </a:r>
            <a:endParaRPr/>
          </a:p>
          <a:p>
            <a:pPr indent="0" lvl="0" marL="0" marR="0" rtl="0" algn="ctr">
              <a:spcBef>
                <a:spcPts val="0"/>
              </a:spcBef>
              <a:spcAft>
                <a:spcPts val="0"/>
              </a:spcAft>
              <a:buNone/>
            </a:pPr>
            <a:r>
              <a:rPr b="1" lang="en-US" sz="6000">
                <a:solidFill>
                  <a:srgbClr val="08377C"/>
                </a:solidFill>
                <a:latin typeface="Montserrat"/>
                <a:ea typeface="Montserrat"/>
                <a:cs typeface="Montserrat"/>
                <a:sym typeface="Montserrat"/>
              </a:rPr>
              <a:t>KNN </a:t>
            </a:r>
            <a:endParaRPr/>
          </a:p>
        </p:txBody>
      </p:sp>
      <p:sp>
        <p:nvSpPr>
          <p:cNvPr id="99" name="Google Shape;99;p1"/>
          <p:cNvSpPr txBox="1"/>
          <p:nvPr/>
        </p:nvSpPr>
        <p:spPr>
          <a:xfrm>
            <a:off x="4740434" y="4694049"/>
            <a:ext cx="8807132" cy="1949252"/>
          </a:xfrm>
          <a:prstGeom prst="rect">
            <a:avLst/>
          </a:prstGeom>
          <a:noFill/>
          <a:ln>
            <a:noFill/>
          </a:ln>
        </p:spPr>
        <p:txBody>
          <a:bodyPr anchorCtr="0" anchor="t" bIns="0" lIns="0" spcFirstLastPara="1" rIns="0" wrap="square" tIns="0">
            <a:spAutoFit/>
          </a:bodyPr>
          <a:lstStyle/>
          <a:p>
            <a:pPr indent="0" lvl="0" marL="0" marR="0" rtl="0" algn="ctr">
              <a:lnSpc>
                <a:spcPct val="140022"/>
              </a:lnSpc>
              <a:spcBef>
                <a:spcPts val="0"/>
              </a:spcBef>
              <a:spcAft>
                <a:spcPts val="0"/>
              </a:spcAft>
              <a:buNone/>
            </a:pPr>
            <a:r>
              <a:rPr lang="en-US" sz="2696">
                <a:solidFill>
                  <a:srgbClr val="08377C"/>
                </a:solidFill>
                <a:latin typeface="Montserrat"/>
                <a:ea typeface="Montserrat"/>
                <a:cs typeface="Montserrat"/>
                <a:sym typeface="Montserrat"/>
              </a:rPr>
              <a:t>Week 5</a:t>
            </a:r>
            <a:endParaRPr/>
          </a:p>
          <a:p>
            <a:pPr indent="0" lvl="0" marL="0" marR="0" rtl="0" algn="ctr">
              <a:lnSpc>
                <a:spcPct val="140022"/>
              </a:lnSpc>
              <a:spcBef>
                <a:spcPts val="0"/>
              </a:spcBef>
              <a:spcAft>
                <a:spcPts val="0"/>
              </a:spcAft>
              <a:buNone/>
            </a:pPr>
            <a:r>
              <a:rPr lang="en-US" sz="2696">
                <a:solidFill>
                  <a:srgbClr val="08377C"/>
                </a:solidFill>
                <a:latin typeface="Montserrat"/>
                <a:ea typeface="Montserrat"/>
                <a:cs typeface="Montserrat"/>
                <a:sym typeface="Montserrat"/>
              </a:rPr>
              <a:t>D4 Robotics Engineering Study Program</a:t>
            </a:r>
            <a:endParaRPr/>
          </a:p>
          <a:p>
            <a:pPr indent="0" lvl="0" marL="0" marR="0" rtl="0" algn="ctr">
              <a:lnSpc>
                <a:spcPct val="140022"/>
              </a:lnSpc>
              <a:spcBef>
                <a:spcPts val="0"/>
              </a:spcBef>
              <a:spcAft>
                <a:spcPts val="0"/>
              </a:spcAft>
              <a:buNone/>
            </a:pPr>
            <a:r>
              <a:rPr lang="en-US" sz="2696">
                <a:solidFill>
                  <a:srgbClr val="08377C"/>
                </a:solidFill>
                <a:latin typeface="Montserrat"/>
                <a:ea typeface="Montserrat"/>
                <a:cs typeface="Montserrat"/>
                <a:sym typeface="Montserrat"/>
              </a:rPr>
              <a:t>Department of Electrical Engineering</a:t>
            </a:r>
            <a:endParaRPr/>
          </a:p>
          <a:p>
            <a:pPr indent="0" lvl="0" marL="0" marR="0" rtl="0" algn="ctr">
              <a:lnSpc>
                <a:spcPct val="140022"/>
              </a:lnSpc>
              <a:spcBef>
                <a:spcPts val="0"/>
              </a:spcBef>
              <a:spcAft>
                <a:spcPts val="0"/>
              </a:spcAft>
              <a:buNone/>
            </a:pPr>
            <a:r>
              <a:rPr lang="en-US" sz="2696">
                <a:solidFill>
                  <a:srgbClr val="08377C"/>
                </a:solidFill>
                <a:latin typeface="Montserrat"/>
                <a:ea typeface="Montserrat"/>
                <a:cs typeface="Montserrat"/>
                <a:sym typeface="Montserrat"/>
              </a:rPr>
              <a:t>Politeknik Negeri Batam</a:t>
            </a:r>
            <a:endParaRPr/>
          </a:p>
        </p:txBody>
      </p:sp>
      <p:sp>
        <p:nvSpPr>
          <p:cNvPr id="100" name="Google Shape;100;p1"/>
          <p:cNvSpPr txBox="1"/>
          <p:nvPr/>
        </p:nvSpPr>
        <p:spPr>
          <a:xfrm>
            <a:off x="2217839" y="404916"/>
            <a:ext cx="2167395" cy="1250698"/>
          </a:xfrm>
          <a:prstGeom prst="rect">
            <a:avLst/>
          </a:prstGeom>
          <a:noFill/>
          <a:ln>
            <a:noFill/>
          </a:ln>
        </p:spPr>
        <p:txBody>
          <a:bodyPr anchorCtr="0" anchor="t" bIns="0" lIns="0" spcFirstLastPara="1" rIns="0" wrap="square" tIns="0">
            <a:spAutoFit/>
          </a:bodyPr>
          <a:lstStyle/>
          <a:p>
            <a:pPr indent="0" lvl="0" marL="0" marR="0" rtl="0" algn="l">
              <a:lnSpc>
                <a:spcPct val="116005"/>
              </a:lnSpc>
              <a:spcBef>
                <a:spcPts val="0"/>
              </a:spcBef>
              <a:spcAft>
                <a:spcPts val="0"/>
              </a:spcAft>
              <a:buNone/>
            </a:pPr>
            <a:r>
              <a:rPr lang="en-US" sz="2824">
                <a:solidFill>
                  <a:srgbClr val="08377C"/>
                </a:solidFill>
                <a:latin typeface="Montserrat"/>
                <a:ea typeface="Montserrat"/>
                <a:cs typeface="Montserrat"/>
                <a:sym typeface="Montserrat"/>
              </a:rPr>
              <a:t>Politeknik</a:t>
            </a:r>
            <a:endParaRPr/>
          </a:p>
          <a:p>
            <a:pPr indent="0" lvl="0" marL="0" marR="0" rtl="0" algn="l">
              <a:lnSpc>
                <a:spcPct val="116005"/>
              </a:lnSpc>
              <a:spcBef>
                <a:spcPts val="0"/>
              </a:spcBef>
              <a:spcAft>
                <a:spcPts val="0"/>
              </a:spcAft>
              <a:buNone/>
            </a:pPr>
            <a:r>
              <a:rPr lang="en-US" sz="2824">
                <a:solidFill>
                  <a:srgbClr val="08377C"/>
                </a:solidFill>
                <a:latin typeface="Montserrat"/>
                <a:ea typeface="Montserrat"/>
                <a:cs typeface="Montserrat"/>
                <a:sym typeface="Montserrat"/>
              </a:rPr>
              <a:t>Negeri Batam</a:t>
            </a:r>
            <a:endParaRPr/>
          </a:p>
        </p:txBody>
      </p:sp>
      <p:sp>
        <p:nvSpPr>
          <p:cNvPr id="101" name="Google Shape;101;p1"/>
          <p:cNvSpPr txBox="1"/>
          <p:nvPr/>
        </p:nvSpPr>
        <p:spPr>
          <a:xfrm>
            <a:off x="4110593" y="7475884"/>
            <a:ext cx="9753969" cy="432554"/>
          </a:xfrm>
          <a:prstGeom prst="rect">
            <a:avLst/>
          </a:prstGeom>
          <a:noFill/>
          <a:ln>
            <a:noFill/>
          </a:ln>
        </p:spPr>
        <p:txBody>
          <a:bodyPr anchorCtr="0" anchor="t" bIns="0" lIns="0" spcFirstLastPara="1" rIns="0" wrap="square" tIns="0">
            <a:spAutoFit/>
          </a:bodyPr>
          <a:lstStyle/>
          <a:p>
            <a:pPr indent="0" lvl="0" marL="0" marR="0" rtl="0" algn="ctr">
              <a:lnSpc>
                <a:spcPct val="140022"/>
              </a:lnSpc>
              <a:spcBef>
                <a:spcPts val="0"/>
              </a:spcBef>
              <a:spcAft>
                <a:spcPts val="0"/>
              </a:spcAft>
              <a:buNone/>
            </a:pPr>
            <a:r>
              <a:rPr lang="en-US" sz="2696">
                <a:solidFill>
                  <a:srgbClr val="08377C"/>
                </a:solidFill>
                <a:latin typeface="Montserrat"/>
                <a:ea typeface="Montserrat"/>
                <a:cs typeface="Montserrat"/>
                <a:sym typeface="Montserrat"/>
              </a:rPr>
              <a:t>Machine Learning</a:t>
            </a:r>
            <a:endParaRPr/>
          </a:p>
        </p:txBody>
      </p:sp>
      <p:cxnSp>
        <p:nvCxnSpPr>
          <p:cNvPr id="102" name="Google Shape;102;p1"/>
          <p:cNvCxnSpPr/>
          <p:nvPr/>
        </p:nvCxnSpPr>
        <p:spPr>
          <a:xfrm>
            <a:off x="5897880" y="7082061"/>
            <a:ext cx="6492240" cy="0"/>
          </a:xfrm>
          <a:prstGeom prst="straightConnector1">
            <a:avLst/>
          </a:prstGeom>
          <a:noFill/>
          <a:ln cap="flat" cmpd="sng" w="38100">
            <a:solidFill>
              <a:srgbClr val="08377C"/>
            </a:solidFill>
            <a:prstDash val="solid"/>
            <a:round/>
            <a:headEnd len="sm" w="sm" type="none"/>
            <a:tailEnd len="sm" w="sm" type="none"/>
          </a:ln>
        </p:spPr>
      </p:cxn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grpSp>
        <p:nvGrpSpPr>
          <p:cNvPr id="108" name="Google Shape;108;p2"/>
          <p:cNvGrpSpPr/>
          <p:nvPr/>
        </p:nvGrpSpPr>
        <p:grpSpPr>
          <a:xfrm>
            <a:off x="13955786" y="-435680"/>
            <a:ext cx="4632524" cy="10996052"/>
            <a:chOff x="0" y="-47625"/>
            <a:chExt cx="1220089" cy="2896080"/>
          </a:xfrm>
        </p:grpSpPr>
        <p:sp>
          <p:nvSpPr>
            <p:cNvPr id="109" name="Google Shape;109;p2"/>
            <p:cNvSpPr/>
            <p:nvPr/>
          </p:nvSpPr>
          <p:spPr>
            <a:xfrm>
              <a:off x="0" y="0"/>
              <a:ext cx="1220089" cy="2848455"/>
            </a:xfrm>
            <a:custGeom>
              <a:rect b="b" l="l" r="r" t="t"/>
              <a:pathLst>
                <a:path extrusionOk="0" h="2848455" w="1220089">
                  <a:moveTo>
                    <a:pt x="0" y="0"/>
                  </a:moveTo>
                  <a:lnTo>
                    <a:pt x="1220089" y="0"/>
                  </a:lnTo>
                  <a:lnTo>
                    <a:pt x="1220089" y="2848455"/>
                  </a:lnTo>
                  <a:lnTo>
                    <a:pt x="0" y="2848455"/>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2"/>
            <p:cNvSpPr txBox="1"/>
            <p:nvPr/>
          </p:nvSpPr>
          <p:spPr>
            <a:xfrm>
              <a:off x="0" y="-47625"/>
              <a:ext cx="1220089" cy="289608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1" name="Google Shape;111;p2"/>
          <p:cNvSpPr/>
          <p:nvPr/>
        </p:nvSpPr>
        <p:spPr>
          <a:xfrm rot="-5400000">
            <a:off x="11952046" y="3265440"/>
            <a:ext cx="7715094" cy="3707614"/>
          </a:xfrm>
          <a:custGeom>
            <a:rect b="b" l="l" r="r" t="t"/>
            <a:pathLst>
              <a:path extrusionOk="0" h="3707614" w="7715094">
                <a:moveTo>
                  <a:pt x="0" y="0"/>
                </a:moveTo>
                <a:lnTo>
                  <a:pt x="7715094" y="0"/>
                </a:lnTo>
                <a:lnTo>
                  <a:pt x="7715094" y="3707614"/>
                </a:lnTo>
                <a:lnTo>
                  <a:pt x="0" y="3707614"/>
                </a:lnTo>
                <a:lnTo>
                  <a:pt x="0" y="0"/>
                </a:lnTo>
                <a:close/>
              </a:path>
            </a:pathLst>
          </a:custGeom>
          <a:blipFill rotWithShape="1">
            <a:blip r:embed="rId3">
              <a:alphaModFix/>
            </a:blip>
            <a:stretch>
              <a:fillRect b="0" l="0" r="0" t="-593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 name="Google Shape;112;p2"/>
          <p:cNvSpPr txBox="1"/>
          <p:nvPr/>
        </p:nvSpPr>
        <p:spPr>
          <a:xfrm>
            <a:off x="1311647" y="4214179"/>
            <a:ext cx="4967583" cy="77514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5035" u="none" strike="noStrike">
                <a:solidFill>
                  <a:srgbClr val="2A2E3A"/>
                </a:solidFill>
                <a:latin typeface="Montserrat"/>
                <a:ea typeface="Montserrat"/>
                <a:cs typeface="Montserrat"/>
                <a:sym typeface="Montserrat"/>
              </a:rPr>
              <a:t>Classification</a:t>
            </a:r>
            <a:endParaRPr/>
          </a:p>
        </p:txBody>
      </p:sp>
      <p:sp>
        <p:nvSpPr>
          <p:cNvPr id="113" name="Google Shape;113;p2"/>
          <p:cNvSpPr txBox="1"/>
          <p:nvPr/>
        </p:nvSpPr>
        <p:spPr>
          <a:xfrm>
            <a:off x="1259652" y="5143500"/>
            <a:ext cx="10779948" cy="957634"/>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lang="en-US" sz="6792">
                <a:solidFill>
                  <a:srgbClr val="08377C"/>
                </a:solidFill>
                <a:latin typeface="Montserrat"/>
                <a:ea typeface="Montserrat"/>
                <a:cs typeface="Montserrat"/>
                <a:sym typeface="Montserrat"/>
              </a:rPr>
              <a:t>in Machine Learning</a:t>
            </a:r>
            <a:endParaRPr b="1" sz="6792" u="none" strike="noStrike">
              <a:solidFill>
                <a:srgbClr val="08377C"/>
              </a:solidFill>
              <a:latin typeface="Montserrat"/>
              <a:ea typeface="Montserrat"/>
              <a:cs typeface="Montserrat"/>
              <a:sym typeface="Montserrat"/>
            </a:endParaRPr>
          </a:p>
        </p:txBody>
      </p:sp>
      <p:sp>
        <p:nvSpPr>
          <p:cNvPr id="114" name="Google Shape;114;p2"/>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4">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2"/>
          <p:cNvSpPr txBox="1"/>
          <p:nvPr/>
        </p:nvSpPr>
        <p:spPr>
          <a:xfrm>
            <a:off x="14721159" y="4804810"/>
            <a:ext cx="2237609" cy="730456"/>
          </a:xfrm>
          <a:prstGeom prst="rect">
            <a:avLst/>
          </a:prstGeom>
          <a:noFill/>
          <a:ln>
            <a:noFill/>
          </a:ln>
        </p:spPr>
        <p:txBody>
          <a:bodyPr anchorCtr="0" anchor="t" bIns="0" lIns="0" spcFirstLastPara="1" rIns="0" wrap="square" tIns="0">
            <a:spAutoFit/>
          </a:bodyPr>
          <a:lstStyle/>
          <a:p>
            <a:pPr indent="0" lvl="0" marL="0" marR="0" rtl="0" algn="l">
              <a:lnSpc>
                <a:spcPct val="42789"/>
              </a:lnSpc>
              <a:spcBef>
                <a:spcPts val="0"/>
              </a:spcBef>
              <a:spcAft>
                <a:spcPts val="0"/>
              </a:spcAft>
              <a:buNone/>
            </a:pPr>
            <a:r>
              <a:rPr lang="en-US" sz="10000">
                <a:solidFill>
                  <a:schemeClr val="lt1"/>
                </a:solidFill>
                <a:latin typeface="Montserrat"/>
                <a:ea typeface="Montserrat"/>
                <a:cs typeface="Montserrat"/>
                <a:sym typeface="Montserrat"/>
              </a:rPr>
              <a:t>01</a:t>
            </a:r>
            <a:endParaRP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grpSp>
        <p:nvGrpSpPr>
          <p:cNvPr id="121" name="Google Shape;121;p3"/>
          <p:cNvGrpSpPr/>
          <p:nvPr/>
        </p:nvGrpSpPr>
        <p:grpSpPr>
          <a:xfrm>
            <a:off x="17016492" y="-180826"/>
            <a:ext cx="1271508" cy="10467826"/>
            <a:chOff x="0" y="-47625"/>
            <a:chExt cx="334883" cy="2756958"/>
          </a:xfrm>
        </p:grpSpPr>
        <p:sp>
          <p:nvSpPr>
            <p:cNvPr id="122" name="Google Shape;122;p3"/>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3"/>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4" name="Google Shape;124;p3"/>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3"/>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126" name="Google Shape;126;p3"/>
          <p:cNvSpPr/>
          <p:nvPr/>
        </p:nvSpPr>
        <p:spPr>
          <a:xfrm>
            <a:off x="5295601" y="6143370"/>
            <a:ext cx="7643911" cy="3948650"/>
          </a:xfrm>
          <a:custGeom>
            <a:rect b="b" l="l" r="r" t="t"/>
            <a:pathLst>
              <a:path extrusionOk="0" h="3948650" w="7643911">
                <a:moveTo>
                  <a:pt x="0" y="0"/>
                </a:moveTo>
                <a:lnTo>
                  <a:pt x="7643912" y="0"/>
                </a:lnTo>
                <a:lnTo>
                  <a:pt x="7643912" y="3948650"/>
                </a:lnTo>
                <a:lnTo>
                  <a:pt x="0" y="394865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3"/>
          <p:cNvSpPr txBox="1"/>
          <p:nvPr/>
        </p:nvSpPr>
        <p:spPr>
          <a:xfrm>
            <a:off x="4152286" y="1328699"/>
            <a:ext cx="9983428" cy="175260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What is Supervised Learning?</a:t>
            </a:r>
            <a:endParaRPr/>
          </a:p>
        </p:txBody>
      </p:sp>
      <p:sp>
        <p:nvSpPr>
          <p:cNvPr id="128" name="Google Shape;128;p3"/>
          <p:cNvSpPr txBox="1"/>
          <p:nvPr/>
        </p:nvSpPr>
        <p:spPr>
          <a:xfrm>
            <a:off x="751417" y="3536335"/>
            <a:ext cx="15591442" cy="2151999"/>
          </a:xfrm>
          <a:prstGeom prst="rect">
            <a:avLst/>
          </a:prstGeom>
          <a:noFill/>
          <a:ln>
            <a:noFill/>
          </a:ln>
        </p:spPr>
        <p:txBody>
          <a:bodyPr anchorCtr="0" anchor="t" bIns="0" lIns="0" spcFirstLastPara="1" rIns="0" wrap="square" tIns="0">
            <a:spAutoFit/>
          </a:bodyPr>
          <a:lstStyle/>
          <a:p>
            <a:pPr indent="0" lvl="0" marL="0" marR="0" rtl="0" algn="ctr">
              <a:lnSpc>
                <a:spcPct val="161031"/>
              </a:lnSpc>
              <a:spcBef>
                <a:spcPts val="0"/>
              </a:spcBef>
              <a:spcAft>
                <a:spcPts val="0"/>
              </a:spcAft>
              <a:buNone/>
            </a:pPr>
            <a:r>
              <a:rPr lang="en-US" sz="2656">
                <a:solidFill>
                  <a:srgbClr val="2A2E3A"/>
                </a:solidFill>
                <a:latin typeface="Montserrat"/>
                <a:ea typeface="Montserrat"/>
                <a:cs typeface="Montserrat"/>
                <a:sym typeface="Montserrat"/>
              </a:rPr>
              <a:t>Dalam Supervised Learning, mesin dilatih menggunakan data berlabel, yang juga dikenal sebagai data pelatihan, untuk memprediksi hasil. Tujuannya adalah untuk membangun model yang dapat belajar dari data berlabel ini untuk membuat prediksi atau klasifikasi pada data baru yang belum pernah dilihat sebelumnya.</a:t>
            </a:r>
            <a:endParaRP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grpSp>
        <p:nvGrpSpPr>
          <p:cNvPr id="134" name="Google Shape;134;p4"/>
          <p:cNvGrpSpPr/>
          <p:nvPr/>
        </p:nvGrpSpPr>
        <p:grpSpPr>
          <a:xfrm>
            <a:off x="17016492" y="-180826"/>
            <a:ext cx="1271508" cy="10467826"/>
            <a:chOff x="0" y="-47625"/>
            <a:chExt cx="334883" cy="2756958"/>
          </a:xfrm>
        </p:grpSpPr>
        <p:sp>
          <p:nvSpPr>
            <p:cNvPr id="135" name="Google Shape;135;p4"/>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4"/>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7" name="Google Shape;137;p4"/>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4"/>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139" name="Google Shape;139;p4"/>
          <p:cNvSpPr txBox="1"/>
          <p:nvPr/>
        </p:nvSpPr>
        <p:spPr>
          <a:xfrm>
            <a:off x="4152286" y="1328699"/>
            <a:ext cx="9983428" cy="81734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What is Classification?</a:t>
            </a:r>
            <a:endParaRPr/>
          </a:p>
        </p:txBody>
      </p:sp>
      <p:pic>
        <p:nvPicPr>
          <p:cNvPr descr="Image result for apel " id="140" name="Google Shape;140;p4"/>
          <p:cNvPicPr preferRelativeResize="0"/>
          <p:nvPr/>
        </p:nvPicPr>
        <p:blipFill rotWithShape="1">
          <a:blip r:embed="rId4">
            <a:alphaModFix/>
          </a:blip>
          <a:srcRect b="0" l="0" r="0" t="0"/>
          <a:stretch/>
        </p:blipFill>
        <p:spPr>
          <a:xfrm>
            <a:off x="1066800" y="5053087"/>
            <a:ext cx="2819398" cy="2819400"/>
          </a:xfrm>
          <a:prstGeom prst="rect">
            <a:avLst/>
          </a:prstGeom>
          <a:noFill/>
          <a:ln>
            <a:noFill/>
          </a:ln>
        </p:spPr>
      </p:pic>
      <p:pic>
        <p:nvPicPr>
          <p:cNvPr descr="Image result for JERUK" id="141" name="Google Shape;141;p4"/>
          <p:cNvPicPr preferRelativeResize="0"/>
          <p:nvPr/>
        </p:nvPicPr>
        <p:blipFill rotWithShape="1">
          <a:blip r:embed="rId5">
            <a:alphaModFix/>
          </a:blip>
          <a:srcRect b="0" l="0" r="0" t="0"/>
          <a:stretch/>
        </p:blipFill>
        <p:spPr>
          <a:xfrm>
            <a:off x="4876800" y="5186156"/>
            <a:ext cx="2693724" cy="2693724"/>
          </a:xfrm>
          <a:prstGeom prst="rect">
            <a:avLst/>
          </a:prstGeom>
          <a:noFill/>
          <a:ln>
            <a:noFill/>
          </a:ln>
        </p:spPr>
      </p:pic>
      <p:pic>
        <p:nvPicPr>
          <p:cNvPr descr="Image result for semangka" id="142" name="Google Shape;142;p4"/>
          <p:cNvPicPr preferRelativeResize="0"/>
          <p:nvPr/>
        </p:nvPicPr>
        <p:blipFill rotWithShape="1">
          <a:blip r:embed="rId6">
            <a:alphaModFix/>
          </a:blip>
          <a:srcRect b="0" l="0" r="0" t="0"/>
          <a:stretch/>
        </p:blipFill>
        <p:spPr>
          <a:xfrm>
            <a:off x="9082680" y="5090050"/>
            <a:ext cx="2737243" cy="2831631"/>
          </a:xfrm>
          <a:prstGeom prst="rect">
            <a:avLst/>
          </a:prstGeom>
          <a:noFill/>
          <a:ln>
            <a:noFill/>
          </a:ln>
        </p:spPr>
      </p:pic>
      <p:pic>
        <p:nvPicPr>
          <p:cNvPr descr="Image result for melon" id="143" name="Google Shape;143;p4"/>
          <p:cNvPicPr preferRelativeResize="0"/>
          <p:nvPr/>
        </p:nvPicPr>
        <p:blipFill rotWithShape="1">
          <a:blip r:embed="rId7">
            <a:alphaModFix/>
          </a:blip>
          <a:srcRect b="0" l="0" r="0" t="0"/>
          <a:stretch/>
        </p:blipFill>
        <p:spPr>
          <a:xfrm>
            <a:off x="12843286" y="5157155"/>
            <a:ext cx="3450274" cy="2536209"/>
          </a:xfrm>
          <a:prstGeom prst="rect">
            <a:avLst/>
          </a:prstGeom>
          <a:noFill/>
          <a:ln>
            <a:noFill/>
          </a:ln>
        </p:spPr>
      </p:pic>
      <p:sp>
        <p:nvSpPr>
          <p:cNvPr id="144" name="Google Shape;144;p4"/>
          <p:cNvSpPr/>
          <p:nvPr/>
        </p:nvSpPr>
        <p:spPr>
          <a:xfrm>
            <a:off x="14592123" y="615014"/>
            <a:ext cx="1967960" cy="1826684"/>
          </a:xfrm>
          <a:custGeom>
            <a:rect b="b" l="l" r="r" t="t"/>
            <a:pathLst>
              <a:path extrusionOk="0" h="3948650" w="7643911">
                <a:moveTo>
                  <a:pt x="0" y="0"/>
                </a:moveTo>
                <a:lnTo>
                  <a:pt x="7643912" y="0"/>
                </a:lnTo>
                <a:lnTo>
                  <a:pt x="7643912" y="3948650"/>
                </a:lnTo>
                <a:lnTo>
                  <a:pt x="0" y="3948650"/>
                </a:lnTo>
                <a:lnTo>
                  <a:pt x="0" y="0"/>
                </a:lnTo>
                <a:close/>
              </a:path>
            </a:pathLst>
          </a:custGeom>
          <a:blipFill rotWithShape="1">
            <a:blip r:embed="rId8">
              <a:alphaModFix/>
            </a:blip>
            <a:stretch>
              <a:fillRect b="-10540" l="0" r="-98625"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5"/>
          <p:cNvPicPr preferRelativeResize="0"/>
          <p:nvPr/>
        </p:nvPicPr>
        <p:blipFill rotWithShape="1">
          <a:blip r:embed="rId3">
            <a:alphaModFix/>
          </a:blip>
          <a:srcRect b="0" l="0" r="0" t="0"/>
          <a:stretch/>
        </p:blipFill>
        <p:spPr>
          <a:xfrm>
            <a:off x="9466286" y="3086100"/>
            <a:ext cx="7385750" cy="5878835"/>
          </a:xfrm>
          <a:prstGeom prst="rect">
            <a:avLst/>
          </a:prstGeom>
          <a:noFill/>
          <a:ln>
            <a:noFill/>
          </a:ln>
        </p:spPr>
      </p:pic>
      <p:grpSp>
        <p:nvGrpSpPr>
          <p:cNvPr id="151" name="Google Shape;151;p5"/>
          <p:cNvGrpSpPr/>
          <p:nvPr/>
        </p:nvGrpSpPr>
        <p:grpSpPr>
          <a:xfrm>
            <a:off x="15238003" y="8290589"/>
            <a:ext cx="7523780" cy="7523780"/>
            <a:chOff x="0" y="0"/>
            <a:chExt cx="812800" cy="812800"/>
          </a:xfrm>
        </p:grpSpPr>
        <p:sp>
          <p:nvSpPr>
            <p:cNvPr id="152" name="Google Shape;152;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 name="Google Shape;153;p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54" name="Google Shape;154;p5"/>
          <p:cNvGrpSpPr/>
          <p:nvPr/>
        </p:nvGrpSpPr>
        <p:grpSpPr>
          <a:xfrm>
            <a:off x="-3724222" y="-4507687"/>
            <a:ext cx="5924489" cy="5924489"/>
            <a:chOff x="0" y="0"/>
            <a:chExt cx="812800" cy="812800"/>
          </a:xfrm>
        </p:grpSpPr>
        <p:sp>
          <p:nvSpPr>
            <p:cNvPr id="155" name="Google Shape;155;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57" name="Google Shape;157;p5"/>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4">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5"/>
          <p:cNvSpPr txBox="1"/>
          <p:nvPr/>
        </p:nvSpPr>
        <p:spPr>
          <a:xfrm>
            <a:off x="1111216" y="1232844"/>
            <a:ext cx="8392584" cy="619208"/>
          </a:xfrm>
          <a:prstGeom prst="rect">
            <a:avLst/>
          </a:prstGeom>
          <a:noFill/>
          <a:ln>
            <a:noFill/>
          </a:ln>
        </p:spPr>
        <p:txBody>
          <a:bodyPr anchorCtr="0" anchor="t" bIns="0" lIns="0" spcFirstLastPara="1" rIns="0" wrap="square" tIns="0">
            <a:spAutoFit/>
          </a:bodyPr>
          <a:lstStyle/>
          <a:p>
            <a:pPr indent="-474980" lvl="1" marL="949961" marR="0" rtl="0" algn="l">
              <a:lnSpc>
                <a:spcPct val="120000"/>
              </a:lnSpc>
              <a:spcBef>
                <a:spcPts val="0"/>
              </a:spcBef>
              <a:spcAft>
                <a:spcPts val="0"/>
              </a:spcAft>
              <a:buClr>
                <a:srgbClr val="08377C"/>
              </a:buClr>
              <a:buSzPts val="4400"/>
              <a:buFont typeface="Montserrat"/>
              <a:buAutoNum type="arabicPeriod"/>
            </a:pPr>
            <a:r>
              <a:rPr b="1" i="0" lang="en-US" sz="4400" u="none" cap="none" strike="noStrike">
                <a:solidFill>
                  <a:srgbClr val="08377C"/>
                </a:solidFill>
                <a:latin typeface="Montserrat"/>
                <a:ea typeface="Montserrat"/>
                <a:cs typeface="Montserrat"/>
                <a:sym typeface="Montserrat"/>
              </a:rPr>
              <a:t>Classification</a:t>
            </a:r>
            <a:endParaRPr/>
          </a:p>
        </p:txBody>
      </p:sp>
      <p:sp>
        <p:nvSpPr>
          <p:cNvPr id="159" name="Google Shape;159;p5"/>
          <p:cNvSpPr txBox="1"/>
          <p:nvPr/>
        </p:nvSpPr>
        <p:spPr>
          <a:xfrm>
            <a:off x="1981200" y="1965619"/>
            <a:ext cx="16666600" cy="712913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800">
                <a:solidFill>
                  <a:schemeClr val="dk1"/>
                </a:solidFill>
                <a:latin typeface="Montserrat"/>
                <a:ea typeface="Montserrat"/>
                <a:cs typeface="Montserrat"/>
                <a:sym typeface="Montserrat"/>
              </a:rPr>
              <a:t>Definition: </a:t>
            </a:r>
            <a:r>
              <a:rPr lang="en-US" sz="2800">
                <a:solidFill>
                  <a:schemeClr val="dk1"/>
                </a:solidFill>
                <a:latin typeface="Montserrat"/>
                <a:ea typeface="Montserrat"/>
                <a:cs typeface="Montserrat"/>
                <a:sym typeface="Montserrat"/>
              </a:rPr>
              <a:t>Model memprediksi kategori atau label diskrit dari input yang diberikan</a:t>
            </a:r>
            <a:endParaRPr/>
          </a:p>
          <a:p>
            <a:pPr indent="0" lvl="0" marL="0" marR="0" rtl="0" algn="l">
              <a:lnSpc>
                <a:spcPct val="150000"/>
              </a:lnSpc>
              <a:spcBef>
                <a:spcPts val="0"/>
              </a:spcBef>
              <a:spcAft>
                <a:spcPts val="0"/>
              </a:spcAft>
              <a:buNone/>
            </a:pPr>
            <a:r>
              <a:rPr b="1" lang="en-US" sz="2800">
                <a:solidFill>
                  <a:schemeClr val="dk1"/>
                </a:solidFill>
                <a:latin typeface="Montserrat"/>
                <a:ea typeface="Montserrat"/>
                <a:cs typeface="Montserrat"/>
                <a:sym typeface="Montserrat"/>
              </a:rPr>
              <a:t>Output : </a:t>
            </a:r>
            <a:r>
              <a:rPr lang="en-US" sz="2800">
                <a:solidFill>
                  <a:schemeClr val="dk1"/>
                </a:solidFill>
                <a:latin typeface="Montserrat"/>
                <a:ea typeface="Montserrat"/>
                <a:cs typeface="Montserrat"/>
                <a:sym typeface="Montserrat"/>
              </a:rPr>
              <a:t>Categorical atau discrete</a:t>
            </a:r>
            <a:endParaRPr/>
          </a:p>
          <a:p>
            <a:pPr indent="0" lvl="0" marL="0" marR="0" rtl="0" algn="l">
              <a:lnSpc>
                <a:spcPct val="150000"/>
              </a:lnSpc>
              <a:spcBef>
                <a:spcPts val="0"/>
              </a:spcBef>
              <a:spcAft>
                <a:spcPts val="0"/>
              </a:spcAft>
              <a:buNone/>
            </a:pPr>
            <a:r>
              <a:rPr b="1" lang="en-US" sz="2800">
                <a:solidFill>
                  <a:schemeClr val="dk1"/>
                </a:solidFill>
                <a:latin typeface="Montserrat"/>
                <a:ea typeface="Montserrat"/>
                <a:cs typeface="Montserrat"/>
                <a:sym typeface="Montserrat"/>
              </a:rPr>
              <a:t>Model :</a:t>
            </a:r>
            <a:endParaRPr/>
          </a:p>
          <a:p>
            <a:pPr indent="-457200" lvl="0" marL="457200" marR="0" rtl="0" algn="l">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Decision Tree,</a:t>
            </a:r>
            <a:endParaRPr/>
          </a:p>
          <a:p>
            <a:pPr indent="-457200" lvl="0" marL="457200" marR="0" rtl="0" algn="l">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Naïve Bayes,</a:t>
            </a:r>
            <a:endParaRPr/>
          </a:p>
          <a:p>
            <a:pPr indent="-457200" lvl="0" marL="457200" marR="0" rtl="0" algn="l">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Random Forest,</a:t>
            </a:r>
            <a:endParaRPr/>
          </a:p>
          <a:p>
            <a:pPr indent="-457200" lvl="0" marL="457200" marR="0" rtl="0" algn="l">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Support Vector Machine (SVM)</a:t>
            </a:r>
            <a:endParaRPr/>
          </a:p>
          <a:p>
            <a:pPr indent="0" lvl="0" marL="0" marR="0" rtl="0" algn="l">
              <a:lnSpc>
                <a:spcPct val="150000"/>
              </a:lnSpc>
              <a:spcBef>
                <a:spcPts val="0"/>
              </a:spcBef>
              <a:spcAft>
                <a:spcPts val="0"/>
              </a:spcAft>
              <a:buNone/>
            </a:pPr>
            <a:r>
              <a:rPr b="1" lang="en-US" sz="2800">
                <a:solidFill>
                  <a:schemeClr val="dk1"/>
                </a:solidFill>
                <a:latin typeface="Montserrat"/>
                <a:ea typeface="Montserrat"/>
                <a:cs typeface="Montserrat"/>
                <a:sym typeface="Montserrat"/>
              </a:rPr>
              <a:t>Model evaluation: </a:t>
            </a:r>
            <a:endParaRPr/>
          </a:p>
          <a:p>
            <a:pPr indent="-457200" lvl="0" marL="457200" marR="0" rtl="0" algn="l">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Accuracy,</a:t>
            </a:r>
            <a:endParaRPr/>
          </a:p>
          <a:p>
            <a:pPr indent="-457200" lvl="0" marL="457200" marR="0" rtl="0" algn="l">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Precision,</a:t>
            </a:r>
            <a:endParaRPr/>
          </a:p>
          <a:p>
            <a:pPr indent="-457200" lvl="0" marL="457200" marR="0" rtl="0" algn="l">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Recall, F1- Score</a:t>
            </a:r>
            <a:endParaRPr/>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grpSp>
        <p:nvGrpSpPr>
          <p:cNvPr id="165" name="Google Shape;165;p6"/>
          <p:cNvGrpSpPr/>
          <p:nvPr/>
        </p:nvGrpSpPr>
        <p:grpSpPr>
          <a:xfrm>
            <a:off x="15238003" y="8290589"/>
            <a:ext cx="7523780" cy="7523780"/>
            <a:chOff x="0" y="0"/>
            <a:chExt cx="812800" cy="812800"/>
          </a:xfrm>
        </p:grpSpPr>
        <p:sp>
          <p:nvSpPr>
            <p:cNvPr id="166" name="Google Shape;166;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68" name="Google Shape;168;p6"/>
          <p:cNvGrpSpPr/>
          <p:nvPr/>
        </p:nvGrpSpPr>
        <p:grpSpPr>
          <a:xfrm>
            <a:off x="-3724222" y="-4507687"/>
            <a:ext cx="5924489" cy="5924489"/>
            <a:chOff x="0" y="0"/>
            <a:chExt cx="812800" cy="812800"/>
          </a:xfrm>
        </p:grpSpPr>
        <p:sp>
          <p:nvSpPr>
            <p:cNvPr id="169" name="Google Shape;169;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1" name="Google Shape;171;p6"/>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6"/>
          <p:cNvSpPr txBox="1"/>
          <p:nvPr/>
        </p:nvSpPr>
        <p:spPr>
          <a:xfrm>
            <a:off x="751416" y="1521577"/>
            <a:ext cx="8392584" cy="619208"/>
          </a:xfrm>
          <a:prstGeom prst="rect">
            <a:avLst/>
          </a:prstGeom>
          <a:noFill/>
          <a:ln>
            <a:noFill/>
          </a:ln>
        </p:spPr>
        <p:txBody>
          <a:bodyPr anchorCtr="0" anchor="t" bIns="0" lIns="0" spcFirstLastPara="1" rIns="0" wrap="square" tIns="0">
            <a:spAutoFit/>
          </a:bodyPr>
          <a:lstStyle/>
          <a:p>
            <a:pPr indent="-474980" lvl="1" marL="949961" marR="0" rtl="0" algn="l">
              <a:lnSpc>
                <a:spcPct val="120000"/>
              </a:lnSpc>
              <a:spcBef>
                <a:spcPts val="0"/>
              </a:spcBef>
              <a:spcAft>
                <a:spcPts val="0"/>
              </a:spcAft>
              <a:buClr>
                <a:srgbClr val="08377C"/>
              </a:buClr>
              <a:buSzPts val="4400"/>
              <a:buFont typeface="Montserrat"/>
              <a:buAutoNum type="arabicPeriod"/>
            </a:pPr>
            <a:r>
              <a:rPr b="1" i="0" lang="en-US" sz="4400" u="none" cap="none" strike="noStrike">
                <a:solidFill>
                  <a:srgbClr val="08377C"/>
                </a:solidFill>
                <a:latin typeface="Montserrat"/>
                <a:ea typeface="Montserrat"/>
                <a:cs typeface="Montserrat"/>
                <a:sym typeface="Montserrat"/>
              </a:rPr>
              <a:t>Classification</a:t>
            </a:r>
            <a:endParaRPr/>
          </a:p>
        </p:txBody>
      </p:sp>
      <p:sp>
        <p:nvSpPr>
          <p:cNvPr id="173" name="Google Shape;173;p6"/>
          <p:cNvSpPr txBox="1"/>
          <p:nvPr/>
        </p:nvSpPr>
        <p:spPr>
          <a:xfrm>
            <a:off x="1644846" y="2493462"/>
            <a:ext cx="147066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Montserrat"/>
                <a:ea typeface="Montserrat"/>
                <a:cs typeface="Montserrat"/>
                <a:sym typeface="Montserrat"/>
              </a:rPr>
              <a:t>Definition: The model learns from labeled data to predict new outputs.</a:t>
            </a:r>
            <a:endParaRPr/>
          </a:p>
        </p:txBody>
      </p:sp>
      <p:pic>
        <p:nvPicPr>
          <p:cNvPr id="174" name="Google Shape;174;p6"/>
          <p:cNvPicPr preferRelativeResize="0"/>
          <p:nvPr/>
        </p:nvPicPr>
        <p:blipFill rotWithShape="1">
          <a:blip r:embed="rId4">
            <a:alphaModFix/>
          </a:blip>
          <a:srcRect b="0" l="6704" r="0" t="0"/>
          <a:stretch/>
        </p:blipFill>
        <p:spPr>
          <a:xfrm>
            <a:off x="55662" y="4217917"/>
            <a:ext cx="18013514" cy="3257478"/>
          </a:xfrm>
          <a:prstGeom prst="rect">
            <a:avLst/>
          </a:prstGeom>
          <a:noFill/>
          <a:ln>
            <a:noFill/>
          </a:ln>
        </p:spPr>
      </p:pic>
      <p:sp>
        <p:nvSpPr>
          <p:cNvPr id="175" name="Google Shape;175;p6"/>
          <p:cNvSpPr txBox="1"/>
          <p:nvPr/>
        </p:nvSpPr>
        <p:spPr>
          <a:xfrm>
            <a:off x="1790700" y="3390900"/>
            <a:ext cx="1470660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dk1"/>
                </a:solidFill>
                <a:latin typeface="Montserrat"/>
                <a:ea typeface="Montserrat"/>
                <a:cs typeface="Montserrat"/>
                <a:sym typeface="Montserrat"/>
              </a:rPr>
              <a:t>B</a:t>
            </a:r>
            <a:r>
              <a:rPr b="1" i="0" lang="en-US" sz="3200">
                <a:solidFill>
                  <a:srgbClr val="1F2328"/>
                </a:solidFill>
                <a:latin typeface="Montserrat"/>
                <a:ea typeface="Montserrat"/>
                <a:cs typeface="Montserrat"/>
                <a:sym typeface="Montserrat"/>
              </a:rPr>
              <a:t>ank Customer Churn Prediction</a:t>
            </a:r>
            <a:endParaRP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grpSp>
        <p:nvGrpSpPr>
          <p:cNvPr id="181" name="Google Shape;181;p7"/>
          <p:cNvGrpSpPr/>
          <p:nvPr/>
        </p:nvGrpSpPr>
        <p:grpSpPr>
          <a:xfrm>
            <a:off x="15238003" y="8290589"/>
            <a:ext cx="7523780" cy="7523780"/>
            <a:chOff x="0" y="0"/>
            <a:chExt cx="812800" cy="812800"/>
          </a:xfrm>
        </p:grpSpPr>
        <p:sp>
          <p:nvSpPr>
            <p:cNvPr id="182" name="Google Shape;182;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84" name="Google Shape;184;p7"/>
          <p:cNvGrpSpPr/>
          <p:nvPr/>
        </p:nvGrpSpPr>
        <p:grpSpPr>
          <a:xfrm>
            <a:off x="-3724222" y="-4507687"/>
            <a:ext cx="5924489" cy="5924489"/>
            <a:chOff x="0" y="0"/>
            <a:chExt cx="812800" cy="812800"/>
          </a:xfrm>
        </p:grpSpPr>
        <p:sp>
          <p:nvSpPr>
            <p:cNvPr id="185" name="Google Shape;185;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7" name="Google Shape;187;p7"/>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7"/>
          <p:cNvSpPr txBox="1"/>
          <p:nvPr/>
        </p:nvSpPr>
        <p:spPr>
          <a:xfrm>
            <a:off x="751416" y="1521577"/>
            <a:ext cx="8392584" cy="619208"/>
          </a:xfrm>
          <a:prstGeom prst="rect">
            <a:avLst/>
          </a:prstGeom>
          <a:noFill/>
          <a:ln>
            <a:noFill/>
          </a:ln>
        </p:spPr>
        <p:txBody>
          <a:bodyPr anchorCtr="0" anchor="t" bIns="0" lIns="0" spcFirstLastPara="1" rIns="0" wrap="square" tIns="0">
            <a:spAutoFit/>
          </a:bodyPr>
          <a:lstStyle/>
          <a:p>
            <a:pPr indent="-474980" lvl="1" marL="949961" marR="0" rtl="0" algn="l">
              <a:lnSpc>
                <a:spcPct val="120000"/>
              </a:lnSpc>
              <a:spcBef>
                <a:spcPts val="0"/>
              </a:spcBef>
              <a:spcAft>
                <a:spcPts val="0"/>
              </a:spcAft>
              <a:buClr>
                <a:srgbClr val="08377C"/>
              </a:buClr>
              <a:buSzPts val="4400"/>
              <a:buFont typeface="Montserrat"/>
              <a:buAutoNum type="arabicPeriod"/>
            </a:pPr>
            <a:r>
              <a:rPr b="1" i="0" lang="en-US" sz="4400" u="none" cap="none" strike="noStrike">
                <a:solidFill>
                  <a:srgbClr val="08377C"/>
                </a:solidFill>
                <a:latin typeface="Montserrat"/>
                <a:ea typeface="Montserrat"/>
                <a:cs typeface="Montserrat"/>
                <a:sym typeface="Montserrat"/>
              </a:rPr>
              <a:t>Classification</a:t>
            </a:r>
            <a:endParaRPr/>
          </a:p>
        </p:txBody>
      </p:sp>
      <p:sp>
        <p:nvSpPr>
          <p:cNvPr id="189" name="Google Shape;189;p7"/>
          <p:cNvSpPr txBox="1"/>
          <p:nvPr/>
        </p:nvSpPr>
        <p:spPr>
          <a:xfrm>
            <a:off x="1644846" y="2493462"/>
            <a:ext cx="147066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Montserrat"/>
                <a:ea typeface="Montserrat"/>
                <a:cs typeface="Montserrat"/>
                <a:sym typeface="Montserrat"/>
              </a:rPr>
              <a:t>Definition: The model learns from labeled data to predict new outputs.</a:t>
            </a:r>
            <a:endParaRPr/>
          </a:p>
        </p:txBody>
      </p:sp>
      <p:sp>
        <p:nvSpPr>
          <p:cNvPr id="190" name="Google Shape;190;p7"/>
          <p:cNvSpPr txBox="1"/>
          <p:nvPr/>
        </p:nvSpPr>
        <p:spPr>
          <a:xfrm>
            <a:off x="1790700" y="3390900"/>
            <a:ext cx="1470660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chemeClr val="dk1"/>
                </a:solidFill>
                <a:latin typeface="Montserrat"/>
                <a:ea typeface="Montserrat"/>
                <a:cs typeface="Montserrat"/>
                <a:sym typeface="Montserrat"/>
              </a:rPr>
              <a:t>Anemia Disease Prediction</a:t>
            </a:r>
            <a:endParaRPr b="1" i="0" sz="3200">
              <a:solidFill>
                <a:srgbClr val="1F2328"/>
              </a:solidFill>
              <a:latin typeface="Montserrat"/>
              <a:ea typeface="Montserrat"/>
              <a:cs typeface="Montserrat"/>
              <a:sym typeface="Montserrat"/>
            </a:endParaRPr>
          </a:p>
        </p:txBody>
      </p:sp>
      <p:pic>
        <p:nvPicPr>
          <p:cNvPr id="191" name="Google Shape;191;p7"/>
          <p:cNvPicPr preferRelativeResize="0"/>
          <p:nvPr/>
        </p:nvPicPr>
        <p:blipFill rotWithShape="1">
          <a:blip r:embed="rId4">
            <a:alphaModFix/>
          </a:blip>
          <a:srcRect b="0" l="0" r="0" t="0"/>
          <a:stretch/>
        </p:blipFill>
        <p:spPr>
          <a:xfrm>
            <a:off x="1461674" y="4288338"/>
            <a:ext cx="15364652" cy="4002251"/>
          </a:xfrm>
          <a:prstGeom prst="rect">
            <a:avLst/>
          </a:prstGeom>
          <a:noFill/>
          <a:ln>
            <a:noFill/>
          </a:ln>
        </p:spPr>
      </p:pic>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grpSp>
        <p:nvGrpSpPr>
          <p:cNvPr id="196" name="Google Shape;196;p8"/>
          <p:cNvGrpSpPr/>
          <p:nvPr/>
        </p:nvGrpSpPr>
        <p:grpSpPr>
          <a:xfrm>
            <a:off x="17016492" y="-180826"/>
            <a:ext cx="1271508" cy="10467826"/>
            <a:chOff x="0" y="-47625"/>
            <a:chExt cx="334883" cy="2756958"/>
          </a:xfrm>
        </p:grpSpPr>
        <p:sp>
          <p:nvSpPr>
            <p:cNvPr id="197" name="Google Shape;197;p8"/>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8"/>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99" name="Google Shape;199;p8"/>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8"/>
          <p:cNvSpPr txBox="1"/>
          <p:nvPr/>
        </p:nvSpPr>
        <p:spPr>
          <a:xfrm>
            <a:off x="751416" y="1565597"/>
            <a:ext cx="9392960" cy="876300"/>
          </a:xfrm>
          <a:prstGeom prst="rect">
            <a:avLst/>
          </a:prstGeom>
          <a:noFill/>
          <a:ln>
            <a:noFill/>
          </a:ln>
        </p:spPr>
        <p:txBody>
          <a:bodyPr anchorCtr="0" anchor="t" bIns="0" lIns="0" spcFirstLastPara="1" rIns="0" wrap="square" tIns="0">
            <a:spAutoFit/>
          </a:bodyPr>
          <a:lstStyle/>
          <a:p>
            <a:pPr indent="0" lvl="0" marL="0" marR="0" rtl="0" algn="l">
              <a:lnSpc>
                <a:spcPct val="120010"/>
              </a:lnSpc>
              <a:spcBef>
                <a:spcPts val="0"/>
              </a:spcBef>
              <a:spcAft>
                <a:spcPts val="0"/>
              </a:spcAft>
              <a:buNone/>
            </a:pPr>
            <a:r>
              <a:rPr b="1" lang="en-US" sz="5792">
                <a:solidFill>
                  <a:srgbClr val="08377C"/>
                </a:solidFill>
                <a:latin typeface="Montserrat"/>
                <a:ea typeface="Montserrat"/>
                <a:cs typeface="Montserrat"/>
                <a:sym typeface="Montserrat"/>
              </a:rPr>
              <a:t>Types of Classification</a:t>
            </a:r>
            <a:endParaRPr/>
          </a:p>
        </p:txBody>
      </p:sp>
      <p:grpSp>
        <p:nvGrpSpPr>
          <p:cNvPr id="201" name="Google Shape;201;p8"/>
          <p:cNvGrpSpPr/>
          <p:nvPr/>
        </p:nvGrpSpPr>
        <p:grpSpPr>
          <a:xfrm>
            <a:off x="2133600" y="2902029"/>
            <a:ext cx="12719944" cy="5819374"/>
            <a:chOff x="0" y="0"/>
            <a:chExt cx="16959925" cy="7759166"/>
          </a:xfrm>
        </p:grpSpPr>
        <p:sp>
          <p:nvSpPr>
            <p:cNvPr id="202" name="Google Shape;202;p8"/>
            <p:cNvSpPr/>
            <p:nvPr/>
          </p:nvSpPr>
          <p:spPr>
            <a:xfrm>
              <a:off x="0" y="0"/>
              <a:ext cx="16959925" cy="7759166"/>
            </a:xfrm>
            <a:custGeom>
              <a:rect b="b" l="l" r="r" t="t"/>
              <a:pathLst>
                <a:path extrusionOk="0" h="7759166" w="16959925">
                  <a:moveTo>
                    <a:pt x="0" y="0"/>
                  </a:moveTo>
                  <a:lnTo>
                    <a:pt x="16959925" y="0"/>
                  </a:lnTo>
                  <a:lnTo>
                    <a:pt x="16959925" y="7759166"/>
                  </a:lnTo>
                  <a:lnTo>
                    <a:pt x="0" y="775916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8"/>
            <p:cNvSpPr txBox="1"/>
            <p:nvPr/>
          </p:nvSpPr>
          <p:spPr>
            <a:xfrm>
              <a:off x="1278404" y="7293190"/>
              <a:ext cx="8061137" cy="458331"/>
            </a:xfrm>
            <a:prstGeom prst="rect">
              <a:avLst/>
            </a:prstGeom>
            <a:noFill/>
            <a:ln>
              <a:noFill/>
            </a:ln>
          </p:spPr>
          <p:txBody>
            <a:bodyPr anchorCtr="0" anchor="t" bIns="0" lIns="0" spcFirstLastPara="1" rIns="0" wrap="square" tIns="0">
              <a:spAutoFit/>
            </a:bodyPr>
            <a:lstStyle/>
            <a:p>
              <a:pPr indent="0" lvl="0" marL="0" marR="0" rtl="0" algn="l">
                <a:lnSpc>
                  <a:spcPct val="166277"/>
                </a:lnSpc>
                <a:spcBef>
                  <a:spcPts val="0"/>
                </a:spcBef>
                <a:spcAft>
                  <a:spcPts val="0"/>
                </a:spcAft>
                <a:buNone/>
              </a:pPr>
              <a:r>
                <a:rPr b="0" i="0" lang="en-US" sz="1800">
                  <a:solidFill>
                    <a:srgbClr val="074364"/>
                  </a:solidFill>
                  <a:latin typeface="Raleway"/>
                  <a:ea typeface="Raleway"/>
                  <a:cs typeface="Raleway"/>
                  <a:sym typeface="Raleway"/>
                </a:rPr>
                <a:t>Image Source </a:t>
              </a:r>
              <a:r>
                <a:rPr lang="en-US" sz="1800">
                  <a:solidFill>
                    <a:srgbClr val="08377C"/>
                  </a:solidFill>
                  <a:latin typeface="Raleway"/>
                  <a:ea typeface="Raleway"/>
                  <a:cs typeface="Raleway"/>
                  <a:sym typeface="Raleway"/>
                </a:rPr>
                <a:t>: </a:t>
              </a:r>
              <a:r>
                <a:rPr lang="en-US" sz="1800" u="sng">
                  <a:solidFill>
                    <a:srgbClr val="08377C"/>
                  </a:solidFill>
                  <a:latin typeface="Raleway"/>
                  <a:ea typeface="Raleway"/>
                  <a:cs typeface="Raleway"/>
                  <a:sym typeface="Raleway"/>
                </a:rPr>
                <a:t>https://www.dicoding.com/ </a:t>
              </a:r>
              <a:endParaRPr/>
            </a:p>
          </p:txBody>
        </p:sp>
      </p:gr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grpSp>
        <p:nvGrpSpPr>
          <p:cNvPr id="209" name="Google Shape;209;p9"/>
          <p:cNvGrpSpPr/>
          <p:nvPr/>
        </p:nvGrpSpPr>
        <p:grpSpPr>
          <a:xfrm>
            <a:off x="15238003" y="8290589"/>
            <a:ext cx="7523780" cy="7523780"/>
            <a:chOff x="0" y="0"/>
            <a:chExt cx="812800" cy="812800"/>
          </a:xfrm>
        </p:grpSpPr>
        <p:sp>
          <p:nvSpPr>
            <p:cNvPr id="210" name="Google Shape;210;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12" name="Google Shape;212;p9"/>
          <p:cNvGrpSpPr/>
          <p:nvPr/>
        </p:nvGrpSpPr>
        <p:grpSpPr>
          <a:xfrm>
            <a:off x="-3724222" y="-4507687"/>
            <a:ext cx="5924489" cy="5924489"/>
            <a:chOff x="0" y="0"/>
            <a:chExt cx="812800" cy="812800"/>
          </a:xfrm>
        </p:grpSpPr>
        <p:sp>
          <p:nvSpPr>
            <p:cNvPr id="213" name="Google Shape;213;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5" name="Google Shape;215;p9"/>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9"/>
          <p:cNvSpPr/>
          <p:nvPr/>
        </p:nvSpPr>
        <p:spPr>
          <a:xfrm>
            <a:off x="1902264" y="3609602"/>
            <a:ext cx="5813600" cy="4461408"/>
          </a:xfrm>
          <a:custGeom>
            <a:rect b="b" l="l" r="r" t="t"/>
            <a:pathLst>
              <a:path extrusionOk="0" h="4461408" w="5813600">
                <a:moveTo>
                  <a:pt x="0" y="0"/>
                </a:moveTo>
                <a:lnTo>
                  <a:pt x="5813600" y="0"/>
                </a:lnTo>
                <a:lnTo>
                  <a:pt x="5813600" y="4461408"/>
                </a:lnTo>
                <a:lnTo>
                  <a:pt x="0" y="4461408"/>
                </a:lnTo>
                <a:lnTo>
                  <a:pt x="0" y="0"/>
                </a:lnTo>
                <a:close/>
              </a:path>
            </a:pathLst>
          </a:custGeom>
          <a:blipFill rotWithShape="1">
            <a:blip r:embed="rId4">
              <a:alphaModFix/>
            </a:blip>
            <a:stretch>
              <a:fillRect b="-6065" l="-28001" r="-27291" t="-23445"/>
            </a:stretch>
          </a:blip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9"/>
          <p:cNvSpPr/>
          <p:nvPr/>
        </p:nvSpPr>
        <p:spPr>
          <a:xfrm>
            <a:off x="8418771" y="2967073"/>
            <a:ext cx="8164863" cy="5746466"/>
          </a:xfrm>
          <a:custGeom>
            <a:rect b="b" l="l" r="r" t="t"/>
            <a:pathLst>
              <a:path extrusionOk="0" h="5746466" w="8164863">
                <a:moveTo>
                  <a:pt x="0" y="0"/>
                </a:moveTo>
                <a:lnTo>
                  <a:pt x="8164863" y="0"/>
                </a:lnTo>
                <a:lnTo>
                  <a:pt x="8164863" y="5746466"/>
                </a:lnTo>
                <a:lnTo>
                  <a:pt x="0" y="5746466"/>
                </a:lnTo>
                <a:lnTo>
                  <a:pt x="0" y="0"/>
                </a:lnTo>
                <a:close/>
              </a:path>
            </a:pathLst>
          </a:custGeom>
          <a:blipFill rotWithShape="1">
            <a:blip r:embed="rId5">
              <a:alphaModFix/>
            </a:blip>
            <a:stretch>
              <a:fillRect b="-7058" l="-21032" r="-21452" t="-681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9"/>
          <p:cNvSpPr txBox="1"/>
          <p:nvPr/>
        </p:nvSpPr>
        <p:spPr>
          <a:xfrm>
            <a:off x="751416" y="1521577"/>
            <a:ext cx="11895607" cy="666750"/>
          </a:xfrm>
          <a:prstGeom prst="rect">
            <a:avLst/>
          </a:prstGeom>
          <a:noFill/>
          <a:ln>
            <a:noFill/>
          </a:ln>
        </p:spPr>
        <p:txBody>
          <a:bodyPr anchorCtr="0" anchor="t" bIns="0" lIns="0" spcFirstLastPara="1" rIns="0" wrap="square" tIns="0">
            <a:spAutoFit/>
          </a:bodyPr>
          <a:lstStyle/>
          <a:p>
            <a:pPr indent="-474980" lvl="1" marL="949961" marR="0" rtl="0" algn="l">
              <a:lnSpc>
                <a:spcPct val="120000"/>
              </a:lnSpc>
              <a:spcBef>
                <a:spcPts val="0"/>
              </a:spcBef>
              <a:spcAft>
                <a:spcPts val="0"/>
              </a:spcAft>
              <a:buClr>
                <a:srgbClr val="08377C"/>
              </a:buClr>
              <a:buSzPts val="4400"/>
              <a:buFont typeface="Montserrat"/>
              <a:buAutoNum type="arabicPeriod"/>
            </a:pPr>
            <a:r>
              <a:rPr b="1" i="0" lang="en-US" sz="4400" u="none" cap="none" strike="noStrike">
                <a:solidFill>
                  <a:srgbClr val="08377C"/>
                </a:solidFill>
                <a:latin typeface="Montserrat"/>
                <a:ea typeface="Montserrat"/>
                <a:cs typeface="Montserrat"/>
                <a:sym typeface="Montserrat"/>
              </a:rPr>
              <a:t>Binary Classification</a:t>
            </a:r>
            <a:endParaRPr/>
          </a:p>
        </p:txBody>
      </p:sp>
      <p:sp>
        <p:nvSpPr>
          <p:cNvPr id="219" name="Google Shape;219;p9"/>
          <p:cNvSpPr txBox="1"/>
          <p:nvPr/>
        </p:nvSpPr>
        <p:spPr>
          <a:xfrm>
            <a:off x="9094267" y="8541665"/>
            <a:ext cx="6045853" cy="343748"/>
          </a:xfrm>
          <a:prstGeom prst="rect">
            <a:avLst/>
          </a:prstGeom>
          <a:noFill/>
          <a:ln>
            <a:noFill/>
          </a:ln>
        </p:spPr>
        <p:txBody>
          <a:bodyPr anchorCtr="0" anchor="t" bIns="0" lIns="0" spcFirstLastPara="1" rIns="0" wrap="square" tIns="0">
            <a:spAutoFit/>
          </a:bodyPr>
          <a:lstStyle/>
          <a:p>
            <a:pPr indent="0" lvl="0" marL="0" marR="0" rtl="0" algn="l">
              <a:lnSpc>
                <a:spcPct val="166277"/>
              </a:lnSpc>
              <a:spcBef>
                <a:spcPts val="0"/>
              </a:spcBef>
              <a:spcAft>
                <a:spcPts val="0"/>
              </a:spcAft>
              <a:buNone/>
            </a:pPr>
            <a:r>
              <a:rPr b="0" i="0" lang="en-US" sz="1800">
                <a:solidFill>
                  <a:srgbClr val="074364"/>
                </a:solidFill>
                <a:latin typeface="Raleway"/>
                <a:ea typeface="Raleway"/>
                <a:cs typeface="Raleway"/>
                <a:sym typeface="Raleway"/>
              </a:rPr>
              <a:t>Image Source </a:t>
            </a:r>
            <a:r>
              <a:rPr lang="en-US" sz="1800">
                <a:solidFill>
                  <a:srgbClr val="08377C"/>
                </a:solidFill>
                <a:latin typeface="Raleway"/>
                <a:ea typeface="Raleway"/>
                <a:cs typeface="Raleway"/>
                <a:sym typeface="Raleway"/>
              </a:rPr>
              <a:t>: </a:t>
            </a:r>
            <a:r>
              <a:rPr lang="en-US" sz="1800" u="sng">
                <a:solidFill>
                  <a:srgbClr val="08377C"/>
                </a:solidFill>
                <a:latin typeface="Raleway"/>
                <a:ea typeface="Raleway"/>
                <a:cs typeface="Raleway"/>
                <a:sym typeface="Raleway"/>
              </a:rPr>
              <a:t>https://www.dicoding.com/ </a:t>
            </a:r>
            <a:endParaRPr/>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grpSp>
        <p:nvGrpSpPr>
          <p:cNvPr id="225" name="Google Shape;225;p10"/>
          <p:cNvGrpSpPr/>
          <p:nvPr/>
        </p:nvGrpSpPr>
        <p:grpSpPr>
          <a:xfrm>
            <a:off x="15238003" y="8290589"/>
            <a:ext cx="7523780" cy="7523780"/>
            <a:chOff x="0" y="0"/>
            <a:chExt cx="812800" cy="812800"/>
          </a:xfrm>
        </p:grpSpPr>
        <p:sp>
          <p:nvSpPr>
            <p:cNvPr id="226" name="Google Shape;226;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28" name="Google Shape;228;p10"/>
          <p:cNvGrpSpPr/>
          <p:nvPr/>
        </p:nvGrpSpPr>
        <p:grpSpPr>
          <a:xfrm>
            <a:off x="-3724222" y="-4507687"/>
            <a:ext cx="5924489" cy="5924489"/>
            <a:chOff x="0" y="0"/>
            <a:chExt cx="812800" cy="812800"/>
          </a:xfrm>
        </p:grpSpPr>
        <p:sp>
          <p:nvSpPr>
            <p:cNvPr id="229" name="Google Shape;229;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1" name="Google Shape;231;p10"/>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10"/>
          <p:cNvSpPr txBox="1"/>
          <p:nvPr/>
        </p:nvSpPr>
        <p:spPr>
          <a:xfrm>
            <a:off x="751416" y="1521577"/>
            <a:ext cx="11895607" cy="619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4400">
                <a:solidFill>
                  <a:srgbClr val="08377C"/>
                </a:solidFill>
                <a:latin typeface="Montserrat"/>
                <a:ea typeface="Montserrat"/>
                <a:cs typeface="Montserrat"/>
                <a:sym typeface="Montserrat"/>
              </a:rPr>
              <a:t>2. Multiclass Classification</a:t>
            </a:r>
            <a:endParaRPr/>
          </a:p>
        </p:txBody>
      </p:sp>
      <p:pic>
        <p:nvPicPr>
          <p:cNvPr id="233" name="Google Shape;233;p10"/>
          <p:cNvPicPr preferRelativeResize="0"/>
          <p:nvPr/>
        </p:nvPicPr>
        <p:blipFill rotWithShape="1">
          <a:blip r:embed="rId4">
            <a:alphaModFix/>
          </a:blip>
          <a:srcRect b="0" l="24500" r="21945" t="22445"/>
          <a:stretch/>
        </p:blipFill>
        <p:spPr>
          <a:xfrm>
            <a:off x="1277238" y="2920031"/>
            <a:ext cx="5816576" cy="4738070"/>
          </a:xfrm>
          <a:prstGeom prst="rect">
            <a:avLst/>
          </a:prstGeom>
          <a:noFill/>
          <a:ln cap="flat" cmpd="sng" w="19050">
            <a:solidFill>
              <a:schemeClr val="dk1"/>
            </a:solidFill>
            <a:prstDash val="solid"/>
            <a:round/>
            <a:headEnd len="sm" w="sm" type="none"/>
            <a:tailEnd len="sm" w="sm" type="none"/>
          </a:ln>
        </p:spPr>
      </p:pic>
      <p:sp>
        <p:nvSpPr>
          <p:cNvPr id="234" name="Google Shape;234;p10"/>
          <p:cNvSpPr txBox="1"/>
          <p:nvPr/>
        </p:nvSpPr>
        <p:spPr>
          <a:xfrm>
            <a:off x="8001000" y="7486227"/>
            <a:ext cx="6045853" cy="343748"/>
          </a:xfrm>
          <a:prstGeom prst="rect">
            <a:avLst/>
          </a:prstGeom>
          <a:noFill/>
          <a:ln>
            <a:noFill/>
          </a:ln>
        </p:spPr>
        <p:txBody>
          <a:bodyPr anchorCtr="0" anchor="t" bIns="0" lIns="0" spcFirstLastPara="1" rIns="0" wrap="square" tIns="0">
            <a:spAutoFit/>
          </a:bodyPr>
          <a:lstStyle/>
          <a:p>
            <a:pPr indent="0" lvl="0" marL="0" marR="0" rtl="0" algn="l">
              <a:lnSpc>
                <a:spcPct val="166277"/>
              </a:lnSpc>
              <a:spcBef>
                <a:spcPts val="0"/>
              </a:spcBef>
              <a:spcAft>
                <a:spcPts val="0"/>
              </a:spcAft>
              <a:buNone/>
            </a:pPr>
            <a:r>
              <a:rPr b="0" i="0" lang="en-US" sz="1800">
                <a:solidFill>
                  <a:srgbClr val="074364"/>
                </a:solidFill>
                <a:latin typeface="Raleway"/>
                <a:ea typeface="Raleway"/>
                <a:cs typeface="Raleway"/>
                <a:sym typeface="Raleway"/>
              </a:rPr>
              <a:t>Image Source </a:t>
            </a:r>
            <a:r>
              <a:rPr lang="en-US" sz="1800">
                <a:solidFill>
                  <a:srgbClr val="08377C"/>
                </a:solidFill>
                <a:latin typeface="Raleway"/>
                <a:ea typeface="Raleway"/>
                <a:cs typeface="Raleway"/>
                <a:sym typeface="Raleway"/>
              </a:rPr>
              <a:t>: </a:t>
            </a:r>
            <a:r>
              <a:rPr lang="en-US" sz="1800" u="sng">
                <a:solidFill>
                  <a:srgbClr val="08377C"/>
                </a:solidFill>
                <a:latin typeface="Raleway"/>
                <a:ea typeface="Raleway"/>
                <a:cs typeface="Raleway"/>
                <a:sym typeface="Raleway"/>
              </a:rPr>
              <a:t>https://www.dicoding.com/ </a:t>
            </a:r>
            <a:endParaRPr/>
          </a:p>
        </p:txBody>
      </p:sp>
      <p:sp>
        <p:nvSpPr>
          <p:cNvPr id="235" name="Google Shape;235;p10"/>
          <p:cNvSpPr/>
          <p:nvPr/>
        </p:nvSpPr>
        <p:spPr>
          <a:xfrm>
            <a:off x="8382000" y="3371427"/>
            <a:ext cx="4114800" cy="4114800"/>
          </a:xfrm>
          <a:custGeom>
            <a:rect b="b" l="l" r="r" t="t"/>
            <a:pathLst>
              <a:path extrusionOk="0" h="7759166" w="16959925">
                <a:moveTo>
                  <a:pt x="0" y="0"/>
                </a:moveTo>
                <a:lnTo>
                  <a:pt x="16959925" y="0"/>
                </a:lnTo>
                <a:lnTo>
                  <a:pt x="16959925" y="7759166"/>
                </a:lnTo>
                <a:lnTo>
                  <a:pt x="0" y="7759166"/>
                </a:lnTo>
                <a:lnTo>
                  <a:pt x="0" y="0"/>
                </a:lnTo>
                <a:close/>
              </a:path>
            </a:pathLst>
          </a:custGeom>
          <a:blipFill rotWithShape="1">
            <a:blip r:embed="rId5">
              <a:alphaModFix/>
            </a:blip>
            <a:stretch>
              <a:fillRect b="-13059" l="-106188" r="-128674" t="-2564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grpSp>
        <p:nvGrpSpPr>
          <p:cNvPr id="241" name="Google Shape;241;p11"/>
          <p:cNvGrpSpPr/>
          <p:nvPr/>
        </p:nvGrpSpPr>
        <p:grpSpPr>
          <a:xfrm>
            <a:off x="15238003" y="8290589"/>
            <a:ext cx="7523780" cy="7523780"/>
            <a:chOff x="0" y="0"/>
            <a:chExt cx="812800" cy="812800"/>
          </a:xfrm>
        </p:grpSpPr>
        <p:sp>
          <p:nvSpPr>
            <p:cNvPr id="242" name="Google Shape;242;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1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44" name="Google Shape;244;p11"/>
          <p:cNvGrpSpPr/>
          <p:nvPr/>
        </p:nvGrpSpPr>
        <p:grpSpPr>
          <a:xfrm>
            <a:off x="-3724222" y="-4507687"/>
            <a:ext cx="5924489" cy="5924489"/>
            <a:chOff x="0" y="0"/>
            <a:chExt cx="812800" cy="812800"/>
          </a:xfrm>
        </p:grpSpPr>
        <p:sp>
          <p:nvSpPr>
            <p:cNvPr id="245" name="Google Shape;245;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 name="Google Shape;246;p1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7" name="Google Shape;247;p11"/>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11"/>
          <p:cNvSpPr txBox="1"/>
          <p:nvPr/>
        </p:nvSpPr>
        <p:spPr>
          <a:xfrm>
            <a:off x="1277236" y="2629501"/>
            <a:ext cx="15591442" cy="4086438"/>
          </a:xfrm>
          <a:prstGeom prst="rect">
            <a:avLst/>
          </a:prstGeom>
          <a:noFill/>
          <a:ln>
            <a:noFill/>
          </a:ln>
        </p:spPr>
        <p:txBody>
          <a:bodyPr anchorCtr="0" anchor="t" bIns="0" lIns="0" spcFirstLastPara="1" rIns="0" wrap="square" tIns="0">
            <a:spAutoFit/>
          </a:bodyPr>
          <a:lstStyle/>
          <a:p>
            <a:pPr indent="0" lvl="0" marL="0" marR="0" rtl="0" algn="l">
              <a:lnSpc>
                <a:spcPct val="161032"/>
              </a:lnSpc>
              <a:spcBef>
                <a:spcPts val="0"/>
              </a:spcBef>
              <a:spcAft>
                <a:spcPts val="0"/>
              </a:spcAft>
              <a:buNone/>
            </a:pPr>
            <a:r>
              <a:rPr lang="en-US" sz="2556">
                <a:solidFill>
                  <a:srgbClr val="2A2E3A"/>
                </a:solidFill>
                <a:latin typeface="Montserrat"/>
                <a:ea typeface="Montserrat"/>
                <a:cs typeface="Montserrat"/>
                <a:sym typeface="Montserrat"/>
              </a:rPr>
              <a:t>Multilabel classification is a method that allows data to be categorized into more than one label or category at a time. Unlike multiclass classification, which limits data to only one category from several options, multilabel classification provides greater flexibility by allowing a single data sample to have multiple labels.</a:t>
            </a:r>
            <a:endParaRPr/>
          </a:p>
          <a:p>
            <a:pPr indent="0" lvl="0" marL="0" marR="0" rtl="0" algn="l">
              <a:lnSpc>
                <a:spcPct val="161032"/>
              </a:lnSpc>
              <a:spcBef>
                <a:spcPts val="0"/>
              </a:spcBef>
              <a:spcAft>
                <a:spcPts val="0"/>
              </a:spcAft>
              <a:buNone/>
            </a:pPr>
            <a:r>
              <a:t/>
            </a:r>
            <a:endParaRPr sz="2556">
              <a:solidFill>
                <a:srgbClr val="2A2E3A"/>
              </a:solidFill>
              <a:latin typeface="Montserrat"/>
              <a:ea typeface="Montserrat"/>
              <a:cs typeface="Montserrat"/>
              <a:sym typeface="Montserrat"/>
            </a:endParaRPr>
          </a:p>
          <a:p>
            <a:pPr indent="0" lvl="0" marL="0" marR="0" rtl="0" algn="l">
              <a:lnSpc>
                <a:spcPct val="161032"/>
              </a:lnSpc>
              <a:spcBef>
                <a:spcPts val="0"/>
              </a:spcBef>
              <a:spcAft>
                <a:spcPts val="0"/>
              </a:spcAft>
              <a:buNone/>
            </a:pPr>
            <a:r>
              <a:rPr lang="en-US" sz="2556">
                <a:solidFill>
                  <a:srgbClr val="2A2E3A"/>
                </a:solidFill>
                <a:latin typeface="Montserrat"/>
                <a:ea typeface="Montserrat"/>
                <a:cs typeface="Montserrat"/>
                <a:sym typeface="Montserrat"/>
              </a:rPr>
              <a:t>Example:</a:t>
            </a:r>
            <a:endParaRPr/>
          </a:p>
          <a:p>
            <a:pPr indent="0" lvl="0" marL="0" marR="0" rtl="0" algn="l">
              <a:lnSpc>
                <a:spcPct val="161032"/>
              </a:lnSpc>
              <a:spcBef>
                <a:spcPts val="0"/>
              </a:spcBef>
              <a:spcAft>
                <a:spcPts val="0"/>
              </a:spcAft>
              <a:buNone/>
            </a:pPr>
            <a:r>
              <a:rPr b="1" lang="en-US" sz="2556">
                <a:solidFill>
                  <a:srgbClr val="08377C"/>
                </a:solidFill>
                <a:latin typeface="Montserrat"/>
                <a:ea typeface="Montserrat"/>
                <a:cs typeface="Montserrat"/>
                <a:sym typeface="Montserrat"/>
              </a:rPr>
              <a:t>Tagging a news article</a:t>
            </a:r>
            <a:endParaRPr/>
          </a:p>
          <a:p>
            <a:pPr indent="0" lvl="0" marL="0" marR="0" rtl="0" algn="l">
              <a:lnSpc>
                <a:spcPct val="161032"/>
              </a:lnSpc>
              <a:spcBef>
                <a:spcPts val="0"/>
              </a:spcBef>
              <a:spcAft>
                <a:spcPts val="0"/>
              </a:spcAft>
              <a:buNone/>
            </a:pPr>
            <a:r>
              <a:t/>
            </a:r>
            <a:endParaRPr b="1" sz="2556">
              <a:solidFill>
                <a:srgbClr val="08377C"/>
              </a:solidFill>
              <a:latin typeface="Montserrat"/>
              <a:ea typeface="Montserrat"/>
              <a:cs typeface="Montserrat"/>
              <a:sym typeface="Montserrat"/>
            </a:endParaRPr>
          </a:p>
        </p:txBody>
      </p:sp>
      <p:sp>
        <p:nvSpPr>
          <p:cNvPr id="249" name="Google Shape;249;p11"/>
          <p:cNvSpPr/>
          <p:nvPr/>
        </p:nvSpPr>
        <p:spPr>
          <a:xfrm>
            <a:off x="7120183" y="6232014"/>
            <a:ext cx="3151262" cy="3136744"/>
          </a:xfrm>
          <a:custGeom>
            <a:rect b="b" l="l" r="r" t="t"/>
            <a:pathLst>
              <a:path extrusionOk="0" h="3136744" w="3151262">
                <a:moveTo>
                  <a:pt x="0" y="0"/>
                </a:moveTo>
                <a:lnTo>
                  <a:pt x="3151262" y="0"/>
                </a:lnTo>
                <a:lnTo>
                  <a:pt x="3151262" y="3136745"/>
                </a:lnTo>
                <a:lnTo>
                  <a:pt x="0" y="3136745"/>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11"/>
          <p:cNvSpPr/>
          <p:nvPr/>
        </p:nvSpPr>
        <p:spPr>
          <a:xfrm>
            <a:off x="3179842" y="6921791"/>
            <a:ext cx="2057400" cy="2057400"/>
          </a:xfrm>
          <a:custGeom>
            <a:rect b="b" l="l" r="r" t="t"/>
            <a:pathLst>
              <a:path extrusionOk="0" h="2057400" w="2057400">
                <a:moveTo>
                  <a:pt x="0" y="0"/>
                </a:moveTo>
                <a:lnTo>
                  <a:pt x="2057400" y="0"/>
                </a:lnTo>
                <a:lnTo>
                  <a:pt x="2057400" y="2057400"/>
                </a:lnTo>
                <a:lnTo>
                  <a:pt x="0" y="205740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1"/>
          <p:cNvSpPr txBox="1"/>
          <p:nvPr/>
        </p:nvSpPr>
        <p:spPr>
          <a:xfrm>
            <a:off x="751416" y="1521577"/>
            <a:ext cx="11895607" cy="6667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4400">
                <a:solidFill>
                  <a:srgbClr val="08377C"/>
                </a:solidFill>
                <a:latin typeface="Montserrat"/>
                <a:ea typeface="Montserrat"/>
                <a:cs typeface="Montserrat"/>
                <a:sym typeface="Montserrat"/>
              </a:rPr>
              <a:t>3. Multilabel Classification</a:t>
            </a:r>
            <a:endParaRPr/>
          </a:p>
        </p:txBody>
      </p:sp>
      <p:sp>
        <p:nvSpPr>
          <p:cNvPr id="252" name="Google Shape;252;p11"/>
          <p:cNvSpPr txBox="1"/>
          <p:nvPr/>
        </p:nvSpPr>
        <p:spPr>
          <a:xfrm>
            <a:off x="12009920" y="7081154"/>
            <a:ext cx="2099456" cy="485988"/>
          </a:xfrm>
          <a:prstGeom prst="rect">
            <a:avLst/>
          </a:prstGeom>
          <a:noFill/>
          <a:ln>
            <a:noFill/>
          </a:ln>
        </p:spPr>
        <p:txBody>
          <a:bodyPr anchorCtr="0" anchor="t" bIns="0" lIns="0" spcFirstLastPara="1" rIns="0" wrap="square" tIns="0">
            <a:spAutoFit/>
          </a:bodyPr>
          <a:lstStyle/>
          <a:p>
            <a:pPr indent="-276016" lvl="1" marL="552031" marR="0" rtl="0" algn="l">
              <a:lnSpc>
                <a:spcPct val="161032"/>
              </a:lnSpc>
              <a:spcBef>
                <a:spcPts val="0"/>
              </a:spcBef>
              <a:spcAft>
                <a:spcPts val="0"/>
              </a:spcAft>
              <a:buClr>
                <a:srgbClr val="2A2E3A"/>
              </a:buClr>
              <a:buSzPts val="2556"/>
              <a:buFont typeface="Arial"/>
              <a:buChar char="•"/>
            </a:pPr>
            <a:r>
              <a:rPr b="0" i="0" lang="en-US" sz="2556" u="none" cap="none" strike="noStrike">
                <a:solidFill>
                  <a:srgbClr val="2A2E3A"/>
                </a:solidFill>
                <a:latin typeface="Montserrat"/>
                <a:ea typeface="Montserrat"/>
                <a:cs typeface="Montserrat"/>
                <a:sym typeface="Montserrat"/>
              </a:rPr>
              <a:t>Politics</a:t>
            </a:r>
            <a:endParaRPr/>
          </a:p>
        </p:txBody>
      </p:sp>
      <p:sp>
        <p:nvSpPr>
          <p:cNvPr id="253" name="Google Shape;253;p11"/>
          <p:cNvSpPr txBox="1"/>
          <p:nvPr/>
        </p:nvSpPr>
        <p:spPr>
          <a:xfrm>
            <a:off x="12009920" y="7583383"/>
            <a:ext cx="2271877" cy="485988"/>
          </a:xfrm>
          <a:prstGeom prst="rect">
            <a:avLst/>
          </a:prstGeom>
          <a:noFill/>
          <a:ln>
            <a:noFill/>
          </a:ln>
        </p:spPr>
        <p:txBody>
          <a:bodyPr anchorCtr="0" anchor="t" bIns="0" lIns="0" spcFirstLastPara="1" rIns="0" wrap="square" tIns="0">
            <a:spAutoFit/>
          </a:bodyPr>
          <a:lstStyle/>
          <a:p>
            <a:pPr indent="-276016" lvl="1" marL="552031" marR="0" rtl="0" algn="l">
              <a:lnSpc>
                <a:spcPct val="161032"/>
              </a:lnSpc>
              <a:spcBef>
                <a:spcPts val="0"/>
              </a:spcBef>
              <a:spcAft>
                <a:spcPts val="0"/>
              </a:spcAft>
              <a:buClr>
                <a:srgbClr val="2A2E3A"/>
              </a:buClr>
              <a:buSzPts val="2556"/>
              <a:buFont typeface="Arial"/>
              <a:buChar char="•"/>
            </a:pPr>
            <a:r>
              <a:rPr b="0" i="0" lang="en-US" sz="2556" u="none" cap="none" strike="noStrike">
                <a:solidFill>
                  <a:srgbClr val="2A2E3A"/>
                </a:solidFill>
                <a:latin typeface="Montserrat"/>
                <a:ea typeface="Montserrat"/>
                <a:cs typeface="Montserrat"/>
                <a:sym typeface="Montserrat"/>
              </a:rPr>
              <a:t>Economy</a:t>
            </a:r>
            <a:endParaRPr/>
          </a:p>
        </p:txBody>
      </p:sp>
      <p:sp>
        <p:nvSpPr>
          <p:cNvPr id="254" name="Google Shape;254;p11"/>
          <p:cNvSpPr txBox="1"/>
          <p:nvPr/>
        </p:nvSpPr>
        <p:spPr>
          <a:xfrm>
            <a:off x="12009920" y="8073585"/>
            <a:ext cx="3133985" cy="485988"/>
          </a:xfrm>
          <a:prstGeom prst="rect">
            <a:avLst/>
          </a:prstGeom>
          <a:noFill/>
          <a:ln>
            <a:noFill/>
          </a:ln>
        </p:spPr>
        <p:txBody>
          <a:bodyPr anchorCtr="0" anchor="t" bIns="0" lIns="0" spcFirstLastPara="1" rIns="0" wrap="square" tIns="0">
            <a:spAutoFit/>
          </a:bodyPr>
          <a:lstStyle/>
          <a:p>
            <a:pPr indent="-276016" lvl="1" marL="552031" marR="0" rtl="0" algn="l">
              <a:lnSpc>
                <a:spcPct val="161032"/>
              </a:lnSpc>
              <a:spcBef>
                <a:spcPts val="0"/>
              </a:spcBef>
              <a:spcAft>
                <a:spcPts val="0"/>
              </a:spcAft>
              <a:buClr>
                <a:srgbClr val="2A2E3A"/>
              </a:buClr>
              <a:buSzPts val="2556"/>
              <a:buFont typeface="Arial"/>
              <a:buChar char="•"/>
            </a:pPr>
            <a:r>
              <a:rPr b="0" i="0" lang="en-US" sz="2556" u="none" cap="none" strike="noStrike">
                <a:solidFill>
                  <a:srgbClr val="2A2E3A"/>
                </a:solidFill>
                <a:latin typeface="Montserrat"/>
                <a:ea typeface="Montserrat"/>
                <a:cs typeface="Montserrat"/>
                <a:sym typeface="Montserrat"/>
              </a:rPr>
              <a:t>Technology</a:t>
            </a:r>
            <a:endParaRPr/>
          </a:p>
        </p:txBody>
      </p:sp>
      <p:sp>
        <p:nvSpPr>
          <p:cNvPr id="255" name="Google Shape;255;p11"/>
          <p:cNvSpPr/>
          <p:nvPr/>
        </p:nvSpPr>
        <p:spPr>
          <a:xfrm>
            <a:off x="5470333" y="7510683"/>
            <a:ext cx="1575483" cy="879616"/>
          </a:xfrm>
          <a:prstGeom prst="rightArrow">
            <a:avLst>
              <a:gd fmla="val 50000" name="adj1"/>
              <a:gd fmla="val 50000" name="adj2"/>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 name="Google Shape;256;p11"/>
          <p:cNvSpPr/>
          <p:nvPr/>
        </p:nvSpPr>
        <p:spPr>
          <a:xfrm>
            <a:off x="10365543" y="7510683"/>
            <a:ext cx="1575483" cy="879616"/>
          </a:xfrm>
          <a:prstGeom prst="rightArrow">
            <a:avLst>
              <a:gd fmla="val 50000" name="adj1"/>
              <a:gd fmla="val 50000" name="adj2"/>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 name="Google Shape;257;p11"/>
          <p:cNvSpPr txBox="1"/>
          <p:nvPr/>
        </p:nvSpPr>
        <p:spPr>
          <a:xfrm>
            <a:off x="3179842" y="9184092"/>
            <a:ext cx="20574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Montserrat"/>
                <a:ea typeface="Montserrat"/>
                <a:cs typeface="Montserrat"/>
                <a:sym typeface="Montserrat"/>
              </a:rPr>
              <a:t>News Article</a:t>
            </a:r>
            <a:endParaRPr/>
          </a:p>
        </p:txBody>
      </p:sp>
      <p:sp>
        <p:nvSpPr>
          <p:cNvPr id="258" name="Google Shape;258;p11"/>
          <p:cNvSpPr txBox="1"/>
          <p:nvPr/>
        </p:nvSpPr>
        <p:spPr>
          <a:xfrm>
            <a:off x="12514690" y="8979191"/>
            <a:ext cx="20574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Montserrat"/>
                <a:ea typeface="Montserrat"/>
                <a:cs typeface="Montserrat"/>
                <a:sym typeface="Montserrat"/>
              </a:rPr>
              <a:t>Tag</a:t>
            </a:r>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grpSp>
        <p:nvGrpSpPr>
          <p:cNvPr id="264" name="Google Shape;264;p12"/>
          <p:cNvGrpSpPr/>
          <p:nvPr/>
        </p:nvGrpSpPr>
        <p:grpSpPr>
          <a:xfrm>
            <a:off x="13955786" y="-435680"/>
            <a:ext cx="4632524" cy="10996052"/>
            <a:chOff x="0" y="-47625"/>
            <a:chExt cx="1220089" cy="2896080"/>
          </a:xfrm>
        </p:grpSpPr>
        <p:sp>
          <p:nvSpPr>
            <p:cNvPr id="265" name="Google Shape;265;p12"/>
            <p:cNvSpPr/>
            <p:nvPr/>
          </p:nvSpPr>
          <p:spPr>
            <a:xfrm>
              <a:off x="0" y="0"/>
              <a:ext cx="1220089" cy="2848455"/>
            </a:xfrm>
            <a:custGeom>
              <a:rect b="b" l="l" r="r" t="t"/>
              <a:pathLst>
                <a:path extrusionOk="0" h="2848455" w="1220089">
                  <a:moveTo>
                    <a:pt x="0" y="0"/>
                  </a:moveTo>
                  <a:lnTo>
                    <a:pt x="1220089" y="0"/>
                  </a:lnTo>
                  <a:lnTo>
                    <a:pt x="1220089" y="2848455"/>
                  </a:lnTo>
                  <a:lnTo>
                    <a:pt x="0" y="2848455"/>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12"/>
            <p:cNvSpPr txBox="1"/>
            <p:nvPr/>
          </p:nvSpPr>
          <p:spPr>
            <a:xfrm>
              <a:off x="0" y="-47625"/>
              <a:ext cx="1220089" cy="289608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7" name="Google Shape;267;p12"/>
          <p:cNvSpPr/>
          <p:nvPr/>
        </p:nvSpPr>
        <p:spPr>
          <a:xfrm rot="-5400000">
            <a:off x="11952046" y="3265440"/>
            <a:ext cx="7715094" cy="3707614"/>
          </a:xfrm>
          <a:custGeom>
            <a:rect b="b" l="l" r="r" t="t"/>
            <a:pathLst>
              <a:path extrusionOk="0" h="3707614" w="7715094">
                <a:moveTo>
                  <a:pt x="0" y="0"/>
                </a:moveTo>
                <a:lnTo>
                  <a:pt x="7715094" y="0"/>
                </a:lnTo>
                <a:lnTo>
                  <a:pt x="7715094" y="3707614"/>
                </a:lnTo>
                <a:lnTo>
                  <a:pt x="0" y="3707614"/>
                </a:lnTo>
                <a:lnTo>
                  <a:pt x="0" y="0"/>
                </a:lnTo>
                <a:close/>
              </a:path>
            </a:pathLst>
          </a:custGeom>
          <a:blipFill rotWithShape="1">
            <a:blip r:embed="rId3">
              <a:alphaModFix/>
            </a:blip>
            <a:stretch>
              <a:fillRect b="0" l="0" r="0" t="-593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12"/>
          <p:cNvSpPr txBox="1"/>
          <p:nvPr/>
        </p:nvSpPr>
        <p:spPr>
          <a:xfrm>
            <a:off x="1311647" y="4214179"/>
            <a:ext cx="8822953" cy="769441"/>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5035" u="none" strike="noStrike">
                <a:solidFill>
                  <a:srgbClr val="2A2E3A"/>
                </a:solidFill>
                <a:latin typeface="Montserrat"/>
                <a:ea typeface="Montserrat"/>
                <a:cs typeface="Montserrat"/>
                <a:sym typeface="Montserrat"/>
              </a:rPr>
              <a:t>Algorithm Classification</a:t>
            </a:r>
            <a:endParaRPr/>
          </a:p>
        </p:txBody>
      </p:sp>
      <p:sp>
        <p:nvSpPr>
          <p:cNvPr id="269" name="Google Shape;269;p12"/>
          <p:cNvSpPr txBox="1"/>
          <p:nvPr/>
        </p:nvSpPr>
        <p:spPr>
          <a:xfrm>
            <a:off x="1259652" y="5143500"/>
            <a:ext cx="10779948" cy="957634"/>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lang="en-US" sz="6792">
                <a:solidFill>
                  <a:srgbClr val="08377C"/>
                </a:solidFill>
                <a:latin typeface="Montserrat"/>
                <a:ea typeface="Montserrat"/>
                <a:cs typeface="Montserrat"/>
                <a:sym typeface="Montserrat"/>
              </a:rPr>
              <a:t>in Machine Learning</a:t>
            </a:r>
            <a:endParaRPr b="1" sz="6792" u="none" strike="noStrike">
              <a:solidFill>
                <a:srgbClr val="08377C"/>
              </a:solidFill>
              <a:latin typeface="Montserrat"/>
              <a:ea typeface="Montserrat"/>
              <a:cs typeface="Montserrat"/>
              <a:sym typeface="Montserrat"/>
            </a:endParaRPr>
          </a:p>
        </p:txBody>
      </p:sp>
      <p:sp>
        <p:nvSpPr>
          <p:cNvPr id="270" name="Google Shape;270;p12"/>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4">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12"/>
          <p:cNvSpPr txBox="1"/>
          <p:nvPr/>
        </p:nvSpPr>
        <p:spPr>
          <a:xfrm>
            <a:off x="14721159" y="4804810"/>
            <a:ext cx="2237609" cy="730456"/>
          </a:xfrm>
          <a:prstGeom prst="rect">
            <a:avLst/>
          </a:prstGeom>
          <a:noFill/>
          <a:ln>
            <a:noFill/>
          </a:ln>
        </p:spPr>
        <p:txBody>
          <a:bodyPr anchorCtr="0" anchor="t" bIns="0" lIns="0" spcFirstLastPara="1" rIns="0" wrap="square" tIns="0">
            <a:spAutoFit/>
          </a:bodyPr>
          <a:lstStyle/>
          <a:p>
            <a:pPr indent="0" lvl="0" marL="0" marR="0" rtl="0" algn="l">
              <a:lnSpc>
                <a:spcPct val="42789"/>
              </a:lnSpc>
              <a:spcBef>
                <a:spcPts val="0"/>
              </a:spcBef>
              <a:spcAft>
                <a:spcPts val="0"/>
              </a:spcAft>
              <a:buNone/>
            </a:pPr>
            <a:r>
              <a:rPr lang="en-US" sz="10000">
                <a:solidFill>
                  <a:schemeClr val="lt1"/>
                </a:solidFill>
                <a:latin typeface="Montserrat"/>
                <a:ea typeface="Montserrat"/>
                <a:cs typeface="Montserrat"/>
                <a:sym typeface="Montserrat"/>
              </a:rPr>
              <a:t>02</a:t>
            </a:r>
            <a:endParaRPr/>
          </a:p>
        </p:txBody>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grpSp>
        <p:nvGrpSpPr>
          <p:cNvPr id="276" name="Google Shape;276;p13"/>
          <p:cNvGrpSpPr/>
          <p:nvPr/>
        </p:nvGrpSpPr>
        <p:grpSpPr>
          <a:xfrm>
            <a:off x="17016492" y="-180826"/>
            <a:ext cx="1271508" cy="10467826"/>
            <a:chOff x="0" y="-47625"/>
            <a:chExt cx="334883" cy="2756958"/>
          </a:xfrm>
        </p:grpSpPr>
        <p:sp>
          <p:nvSpPr>
            <p:cNvPr id="277" name="Google Shape;277;p13"/>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13"/>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9" name="Google Shape;279;p13"/>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13"/>
          <p:cNvSpPr txBox="1"/>
          <p:nvPr/>
        </p:nvSpPr>
        <p:spPr>
          <a:xfrm>
            <a:off x="751416" y="1565597"/>
            <a:ext cx="13269384" cy="897682"/>
          </a:xfrm>
          <a:prstGeom prst="rect">
            <a:avLst/>
          </a:prstGeom>
          <a:noFill/>
          <a:ln>
            <a:noFill/>
          </a:ln>
        </p:spPr>
        <p:txBody>
          <a:bodyPr anchorCtr="0" anchor="t" bIns="0" lIns="0" spcFirstLastPara="1" rIns="0" wrap="square" tIns="0">
            <a:spAutoFit/>
          </a:bodyPr>
          <a:lstStyle/>
          <a:p>
            <a:pPr indent="0" lvl="0" marL="0" marR="0" rtl="0" algn="l">
              <a:lnSpc>
                <a:spcPct val="120010"/>
              </a:lnSpc>
              <a:spcBef>
                <a:spcPts val="0"/>
              </a:spcBef>
              <a:spcAft>
                <a:spcPts val="0"/>
              </a:spcAft>
              <a:buNone/>
            </a:pPr>
            <a:r>
              <a:rPr b="1" lang="en-US" sz="5792">
                <a:solidFill>
                  <a:srgbClr val="08377C"/>
                </a:solidFill>
                <a:latin typeface="Montserrat"/>
                <a:ea typeface="Montserrat"/>
                <a:cs typeface="Montserrat"/>
                <a:sym typeface="Montserrat"/>
              </a:rPr>
              <a:t>Algorithm Classification</a:t>
            </a:r>
            <a:endParaRPr/>
          </a:p>
        </p:txBody>
      </p:sp>
      <p:sp>
        <p:nvSpPr>
          <p:cNvPr descr="Depiction of the working of kNN algorithm. | Download Scientific Diagram" id="281" name="Google Shape;281;p1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epiction of the working of kNN algorithm. | Download Scientific Diagram" id="282" name="Google Shape;282;p13"/>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83" name="Google Shape;283;p13"/>
          <p:cNvPicPr preferRelativeResize="0"/>
          <p:nvPr/>
        </p:nvPicPr>
        <p:blipFill rotWithShape="1">
          <a:blip r:embed="rId4">
            <a:alphaModFix/>
          </a:blip>
          <a:srcRect b="0" l="0" r="0" t="0"/>
          <a:stretch/>
        </p:blipFill>
        <p:spPr>
          <a:xfrm>
            <a:off x="460375" y="4229100"/>
            <a:ext cx="7141308" cy="3276600"/>
          </a:xfrm>
          <a:prstGeom prst="rect">
            <a:avLst/>
          </a:prstGeom>
          <a:noFill/>
          <a:ln>
            <a:noFill/>
          </a:ln>
        </p:spPr>
      </p:pic>
      <p:pic>
        <p:nvPicPr>
          <p:cNvPr id="284" name="Google Shape;284;p13"/>
          <p:cNvPicPr preferRelativeResize="0"/>
          <p:nvPr/>
        </p:nvPicPr>
        <p:blipFill rotWithShape="1">
          <a:blip r:embed="rId5">
            <a:alphaModFix/>
          </a:blip>
          <a:srcRect b="0" l="0" r="0" t="0"/>
          <a:stretch/>
        </p:blipFill>
        <p:spPr>
          <a:xfrm>
            <a:off x="9829800" y="4457700"/>
            <a:ext cx="5735778" cy="2779452"/>
          </a:xfrm>
          <a:prstGeom prst="rect">
            <a:avLst/>
          </a:prstGeom>
          <a:noFill/>
          <a:ln>
            <a:noFill/>
          </a:ln>
        </p:spPr>
      </p:pic>
      <p:sp>
        <p:nvSpPr>
          <p:cNvPr id="285" name="Google Shape;285;p13"/>
          <p:cNvSpPr txBox="1"/>
          <p:nvPr/>
        </p:nvSpPr>
        <p:spPr>
          <a:xfrm>
            <a:off x="293190" y="3438626"/>
            <a:ext cx="2754810" cy="679673"/>
          </a:xfrm>
          <a:prstGeom prst="rect">
            <a:avLst/>
          </a:prstGeom>
          <a:noFill/>
          <a:ln>
            <a:noFill/>
          </a:ln>
        </p:spPr>
        <p:txBody>
          <a:bodyPr anchorCtr="0" anchor="t" bIns="0" lIns="0" spcFirstLastPara="1" rIns="0" wrap="square" tIns="0">
            <a:spAutoFit/>
          </a:bodyPr>
          <a:lstStyle/>
          <a:p>
            <a:pPr indent="-474980" lvl="1" marL="949961" marR="0" rtl="0" algn="l">
              <a:lnSpc>
                <a:spcPct val="165000"/>
              </a:lnSpc>
              <a:spcBef>
                <a:spcPts val="0"/>
              </a:spcBef>
              <a:spcAft>
                <a:spcPts val="0"/>
              </a:spcAft>
              <a:buClr>
                <a:srgbClr val="08377C"/>
              </a:buClr>
              <a:buSzPts val="3200"/>
              <a:buFont typeface="Montserrat"/>
              <a:buAutoNum type="arabicPeriod"/>
            </a:pPr>
            <a:r>
              <a:rPr b="1" i="0" lang="en-US" sz="3200" u="none" cap="none" strike="noStrike">
                <a:solidFill>
                  <a:srgbClr val="08377C"/>
                </a:solidFill>
                <a:latin typeface="Montserrat"/>
                <a:ea typeface="Montserrat"/>
                <a:cs typeface="Montserrat"/>
                <a:sym typeface="Montserrat"/>
              </a:rPr>
              <a:t>KNN</a:t>
            </a:r>
            <a:endParaRPr/>
          </a:p>
        </p:txBody>
      </p:sp>
      <p:sp>
        <p:nvSpPr>
          <p:cNvPr id="286" name="Google Shape;286;p13"/>
          <p:cNvSpPr txBox="1"/>
          <p:nvPr/>
        </p:nvSpPr>
        <p:spPr>
          <a:xfrm>
            <a:off x="9296400" y="3438626"/>
            <a:ext cx="5181600" cy="679673"/>
          </a:xfrm>
          <a:prstGeom prst="rect">
            <a:avLst/>
          </a:prstGeom>
          <a:noFill/>
          <a:ln>
            <a:noFill/>
          </a:ln>
        </p:spPr>
        <p:txBody>
          <a:bodyPr anchorCtr="0" anchor="t" bIns="0" lIns="0" spcFirstLastPara="1" rIns="0" wrap="square" tIns="0">
            <a:spAutoFit/>
          </a:bodyPr>
          <a:lstStyle/>
          <a:p>
            <a:pPr indent="0" lvl="1" marL="474981" marR="0" rtl="0" algn="l">
              <a:lnSpc>
                <a:spcPct val="165000"/>
              </a:lnSpc>
              <a:spcBef>
                <a:spcPts val="0"/>
              </a:spcBef>
              <a:spcAft>
                <a:spcPts val="0"/>
              </a:spcAft>
              <a:buNone/>
            </a:pPr>
            <a:r>
              <a:rPr b="1" i="0" lang="en-US" sz="3200" u="none" cap="none" strike="noStrike">
                <a:solidFill>
                  <a:srgbClr val="08377C"/>
                </a:solidFill>
                <a:latin typeface="Montserrat"/>
                <a:ea typeface="Montserrat"/>
                <a:cs typeface="Montserrat"/>
                <a:sym typeface="Montserrat"/>
              </a:rPr>
              <a:t>2. Decision Tree</a:t>
            </a:r>
            <a:endParaRPr/>
          </a:p>
        </p:txBody>
      </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grpSp>
        <p:nvGrpSpPr>
          <p:cNvPr id="291" name="Google Shape;291;p14"/>
          <p:cNvGrpSpPr/>
          <p:nvPr/>
        </p:nvGrpSpPr>
        <p:grpSpPr>
          <a:xfrm>
            <a:off x="17016492" y="-180826"/>
            <a:ext cx="1271508" cy="10467826"/>
            <a:chOff x="0" y="-47625"/>
            <a:chExt cx="334883" cy="2756958"/>
          </a:xfrm>
        </p:grpSpPr>
        <p:sp>
          <p:nvSpPr>
            <p:cNvPr id="292" name="Google Shape;292;p14"/>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14"/>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4" name="Google Shape;294;p14"/>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14"/>
          <p:cNvSpPr txBox="1"/>
          <p:nvPr/>
        </p:nvSpPr>
        <p:spPr>
          <a:xfrm>
            <a:off x="751416" y="1565597"/>
            <a:ext cx="13269384" cy="897682"/>
          </a:xfrm>
          <a:prstGeom prst="rect">
            <a:avLst/>
          </a:prstGeom>
          <a:noFill/>
          <a:ln>
            <a:noFill/>
          </a:ln>
        </p:spPr>
        <p:txBody>
          <a:bodyPr anchorCtr="0" anchor="t" bIns="0" lIns="0" spcFirstLastPara="1" rIns="0" wrap="square" tIns="0">
            <a:spAutoFit/>
          </a:bodyPr>
          <a:lstStyle/>
          <a:p>
            <a:pPr indent="0" lvl="0" marL="0" marR="0" rtl="0" algn="l">
              <a:lnSpc>
                <a:spcPct val="120010"/>
              </a:lnSpc>
              <a:spcBef>
                <a:spcPts val="0"/>
              </a:spcBef>
              <a:spcAft>
                <a:spcPts val="0"/>
              </a:spcAft>
              <a:buNone/>
            </a:pPr>
            <a:r>
              <a:rPr b="1" lang="en-US" sz="5792">
                <a:solidFill>
                  <a:srgbClr val="08377C"/>
                </a:solidFill>
                <a:latin typeface="Montserrat"/>
                <a:ea typeface="Montserrat"/>
                <a:cs typeface="Montserrat"/>
                <a:sym typeface="Montserrat"/>
              </a:rPr>
              <a:t>Algorithm Classification</a:t>
            </a:r>
            <a:endParaRPr/>
          </a:p>
        </p:txBody>
      </p:sp>
      <p:sp>
        <p:nvSpPr>
          <p:cNvPr descr="Depiction of the working of kNN algorithm. | Download Scientific Diagram" id="296" name="Google Shape;296;p1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epiction of the working of kNN algorithm. | Download Scientific Diagram" id="297" name="Google Shape;297;p14"/>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14"/>
          <p:cNvSpPr txBox="1"/>
          <p:nvPr/>
        </p:nvSpPr>
        <p:spPr>
          <a:xfrm>
            <a:off x="293190" y="3438626"/>
            <a:ext cx="7022010" cy="679673"/>
          </a:xfrm>
          <a:prstGeom prst="rect">
            <a:avLst/>
          </a:prstGeom>
          <a:noFill/>
          <a:ln>
            <a:noFill/>
          </a:ln>
        </p:spPr>
        <p:txBody>
          <a:bodyPr anchorCtr="0" anchor="t" bIns="0" lIns="0" spcFirstLastPara="1" rIns="0" wrap="square" tIns="0">
            <a:spAutoFit/>
          </a:bodyPr>
          <a:lstStyle/>
          <a:p>
            <a:pPr indent="0" lvl="1" marL="474981" marR="0" rtl="0" algn="l">
              <a:lnSpc>
                <a:spcPct val="165000"/>
              </a:lnSpc>
              <a:spcBef>
                <a:spcPts val="0"/>
              </a:spcBef>
              <a:spcAft>
                <a:spcPts val="0"/>
              </a:spcAft>
              <a:buNone/>
            </a:pPr>
            <a:r>
              <a:rPr b="1" i="0" lang="en-US" sz="3200" u="none" cap="none" strike="noStrike">
                <a:solidFill>
                  <a:srgbClr val="08377C"/>
                </a:solidFill>
                <a:latin typeface="Montserrat"/>
                <a:ea typeface="Montserrat"/>
                <a:cs typeface="Montserrat"/>
                <a:sym typeface="Montserrat"/>
              </a:rPr>
              <a:t>3. Random Forest</a:t>
            </a:r>
            <a:endParaRPr/>
          </a:p>
        </p:txBody>
      </p:sp>
      <p:sp>
        <p:nvSpPr>
          <p:cNvPr id="299" name="Google Shape;299;p14"/>
          <p:cNvSpPr txBox="1"/>
          <p:nvPr/>
        </p:nvSpPr>
        <p:spPr>
          <a:xfrm>
            <a:off x="8534400" y="3438626"/>
            <a:ext cx="8596045" cy="679673"/>
          </a:xfrm>
          <a:prstGeom prst="rect">
            <a:avLst/>
          </a:prstGeom>
          <a:noFill/>
          <a:ln>
            <a:noFill/>
          </a:ln>
        </p:spPr>
        <p:txBody>
          <a:bodyPr anchorCtr="0" anchor="t" bIns="0" lIns="0" spcFirstLastPara="1" rIns="0" wrap="square" tIns="0">
            <a:spAutoFit/>
          </a:bodyPr>
          <a:lstStyle/>
          <a:p>
            <a:pPr indent="0" lvl="1" marL="474981" marR="0" rtl="0" algn="l">
              <a:lnSpc>
                <a:spcPct val="165000"/>
              </a:lnSpc>
              <a:spcBef>
                <a:spcPts val="0"/>
              </a:spcBef>
              <a:spcAft>
                <a:spcPts val="0"/>
              </a:spcAft>
              <a:buNone/>
            </a:pPr>
            <a:r>
              <a:rPr b="1" i="0" lang="en-US" sz="3200" u="none" cap="none" strike="noStrike">
                <a:solidFill>
                  <a:srgbClr val="08377C"/>
                </a:solidFill>
                <a:latin typeface="Montserrat"/>
                <a:ea typeface="Montserrat"/>
                <a:cs typeface="Montserrat"/>
                <a:sym typeface="Montserrat"/>
              </a:rPr>
              <a:t>4. Support Vector Machine (SVM)</a:t>
            </a:r>
            <a:endParaRPr/>
          </a:p>
        </p:txBody>
      </p:sp>
      <p:pic>
        <p:nvPicPr>
          <p:cNvPr descr="10 Must-Know Models for ML Beginners: Random Forest | by Dagang Wei ..." id="300" name="Google Shape;300;p14"/>
          <p:cNvPicPr preferRelativeResize="0"/>
          <p:nvPr/>
        </p:nvPicPr>
        <p:blipFill rotWithShape="1">
          <a:blip r:embed="rId4">
            <a:alphaModFix/>
          </a:blip>
          <a:srcRect b="0" l="0" r="0" t="0"/>
          <a:stretch/>
        </p:blipFill>
        <p:spPr>
          <a:xfrm>
            <a:off x="247206" y="4114318"/>
            <a:ext cx="6753857" cy="4159250"/>
          </a:xfrm>
          <a:prstGeom prst="rect">
            <a:avLst/>
          </a:prstGeom>
          <a:noFill/>
          <a:ln>
            <a:noFill/>
          </a:ln>
        </p:spPr>
      </p:pic>
      <p:pic>
        <p:nvPicPr>
          <p:cNvPr descr="Image result for support vector machine" id="301" name="Google Shape;301;p14"/>
          <p:cNvPicPr preferRelativeResize="0"/>
          <p:nvPr/>
        </p:nvPicPr>
        <p:blipFill rotWithShape="1">
          <a:blip r:embed="rId5">
            <a:alphaModFix/>
          </a:blip>
          <a:srcRect b="0" l="0" r="0" t="0"/>
          <a:stretch/>
        </p:blipFill>
        <p:spPr>
          <a:xfrm>
            <a:off x="8991600" y="4304188"/>
            <a:ext cx="5322972" cy="3779510"/>
          </a:xfrm>
          <a:prstGeom prst="rect">
            <a:avLst/>
          </a:prstGeom>
          <a:noFill/>
          <a:ln>
            <a:noFill/>
          </a:ln>
        </p:spPr>
      </p:pic>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grpSp>
        <p:nvGrpSpPr>
          <p:cNvPr id="306" name="Google Shape;306;p15"/>
          <p:cNvGrpSpPr/>
          <p:nvPr/>
        </p:nvGrpSpPr>
        <p:grpSpPr>
          <a:xfrm>
            <a:off x="17016492" y="-180826"/>
            <a:ext cx="1271508" cy="10467826"/>
            <a:chOff x="0" y="-47625"/>
            <a:chExt cx="334883" cy="2756958"/>
          </a:xfrm>
        </p:grpSpPr>
        <p:sp>
          <p:nvSpPr>
            <p:cNvPr id="307" name="Google Shape;307;p15"/>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15"/>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9" name="Google Shape;309;p15"/>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15"/>
          <p:cNvSpPr txBox="1"/>
          <p:nvPr/>
        </p:nvSpPr>
        <p:spPr>
          <a:xfrm>
            <a:off x="751416" y="1565597"/>
            <a:ext cx="13269384" cy="897682"/>
          </a:xfrm>
          <a:prstGeom prst="rect">
            <a:avLst/>
          </a:prstGeom>
          <a:noFill/>
          <a:ln>
            <a:noFill/>
          </a:ln>
        </p:spPr>
        <p:txBody>
          <a:bodyPr anchorCtr="0" anchor="t" bIns="0" lIns="0" spcFirstLastPara="1" rIns="0" wrap="square" tIns="0">
            <a:spAutoFit/>
          </a:bodyPr>
          <a:lstStyle/>
          <a:p>
            <a:pPr indent="0" lvl="0" marL="0" marR="0" rtl="0" algn="l">
              <a:lnSpc>
                <a:spcPct val="120010"/>
              </a:lnSpc>
              <a:spcBef>
                <a:spcPts val="0"/>
              </a:spcBef>
              <a:spcAft>
                <a:spcPts val="0"/>
              </a:spcAft>
              <a:buNone/>
            </a:pPr>
            <a:r>
              <a:rPr b="1" lang="en-US" sz="5792">
                <a:solidFill>
                  <a:srgbClr val="08377C"/>
                </a:solidFill>
                <a:latin typeface="Montserrat"/>
                <a:ea typeface="Montserrat"/>
                <a:cs typeface="Montserrat"/>
                <a:sym typeface="Montserrat"/>
              </a:rPr>
              <a:t>Algorithm Classification</a:t>
            </a:r>
            <a:endParaRPr/>
          </a:p>
        </p:txBody>
      </p:sp>
      <p:sp>
        <p:nvSpPr>
          <p:cNvPr descr="Depiction of the working of kNN algorithm. | Download Scientific Diagram" id="311" name="Google Shape;311;p1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epiction of the working of kNN algorithm. | Download Scientific Diagram" id="312" name="Google Shape;312;p15"/>
          <p:cNvSpPr/>
          <p:nvPr/>
        </p:nvSpPr>
        <p:spPr>
          <a:xfrm>
            <a:off x="307975" y="7937"/>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15"/>
          <p:cNvSpPr txBox="1"/>
          <p:nvPr/>
        </p:nvSpPr>
        <p:spPr>
          <a:xfrm>
            <a:off x="293190" y="3438626"/>
            <a:ext cx="7022010" cy="589392"/>
          </a:xfrm>
          <a:prstGeom prst="rect">
            <a:avLst/>
          </a:prstGeom>
          <a:noFill/>
          <a:ln>
            <a:noFill/>
          </a:ln>
        </p:spPr>
        <p:txBody>
          <a:bodyPr anchorCtr="0" anchor="t" bIns="0" lIns="0" spcFirstLastPara="1" rIns="0" wrap="square" tIns="0">
            <a:spAutoFit/>
          </a:bodyPr>
          <a:lstStyle/>
          <a:p>
            <a:pPr indent="0" lvl="1" marL="474981" marR="0" rtl="0" algn="l">
              <a:lnSpc>
                <a:spcPct val="165000"/>
              </a:lnSpc>
              <a:spcBef>
                <a:spcPts val="0"/>
              </a:spcBef>
              <a:spcAft>
                <a:spcPts val="0"/>
              </a:spcAft>
              <a:buNone/>
            </a:pPr>
            <a:r>
              <a:rPr b="1" i="0" lang="en-US" sz="3200" u="none" cap="none" strike="noStrike">
                <a:solidFill>
                  <a:srgbClr val="08377C"/>
                </a:solidFill>
                <a:latin typeface="Montserrat"/>
                <a:ea typeface="Montserrat"/>
                <a:cs typeface="Montserrat"/>
                <a:sym typeface="Montserrat"/>
              </a:rPr>
              <a:t>5. Naïve Bayes</a:t>
            </a:r>
            <a:endParaRPr/>
          </a:p>
        </p:txBody>
      </p:sp>
      <p:pic>
        <p:nvPicPr>
          <p:cNvPr descr="What is the Naive Bayes Algorithm? | Data Basecamp" id="314" name="Google Shape;314;p15"/>
          <p:cNvPicPr preferRelativeResize="0"/>
          <p:nvPr/>
        </p:nvPicPr>
        <p:blipFill rotWithShape="1">
          <a:blip r:embed="rId4">
            <a:alphaModFix/>
          </a:blip>
          <a:srcRect b="0" l="0" r="0" t="0"/>
          <a:stretch/>
        </p:blipFill>
        <p:spPr>
          <a:xfrm>
            <a:off x="786229" y="4305300"/>
            <a:ext cx="5352270" cy="3706491"/>
          </a:xfrm>
          <a:prstGeom prst="rect">
            <a:avLst/>
          </a:prstGeom>
          <a:noFill/>
          <a:ln>
            <a:noFill/>
          </a:ln>
        </p:spPr>
      </p:pic>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grpSp>
        <p:nvGrpSpPr>
          <p:cNvPr id="320" name="Google Shape;320;p16"/>
          <p:cNvGrpSpPr/>
          <p:nvPr/>
        </p:nvGrpSpPr>
        <p:grpSpPr>
          <a:xfrm>
            <a:off x="13955786" y="-435680"/>
            <a:ext cx="4632524" cy="10996052"/>
            <a:chOff x="0" y="-47625"/>
            <a:chExt cx="1220089" cy="2896080"/>
          </a:xfrm>
        </p:grpSpPr>
        <p:sp>
          <p:nvSpPr>
            <p:cNvPr id="321" name="Google Shape;321;p16"/>
            <p:cNvSpPr/>
            <p:nvPr/>
          </p:nvSpPr>
          <p:spPr>
            <a:xfrm>
              <a:off x="0" y="0"/>
              <a:ext cx="1220089" cy="2848455"/>
            </a:xfrm>
            <a:custGeom>
              <a:rect b="b" l="l" r="r" t="t"/>
              <a:pathLst>
                <a:path extrusionOk="0" h="2848455" w="1220089">
                  <a:moveTo>
                    <a:pt x="0" y="0"/>
                  </a:moveTo>
                  <a:lnTo>
                    <a:pt x="1220089" y="0"/>
                  </a:lnTo>
                  <a:lnTo>
                    <a:pt x="1220089" y="2848455"/>
                  </a:lnTo>
                  <a:lnTo>
                    <a:pt x="0" y="2848455"/>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16"/>
            <p:cNvSpPr txBox="1"/>
            <p:nvPr/>
          </p:nvSpPr>
          <p:spPr>
            <a:xfrm>
              <a:off x="0" y="-47625"/>
              <a:ext cx="1220089" cy="289608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3" name="Google Shape;323;p16"/>
          <p:cNvSpPr/>
          <p:nvPr/>
        </p:nvSpPr>
        <p:spPr>
          <a:xfrm rot="-5400000">
            <a:off x="11952046" y="3265440"/>
            <a:ext cx="7715094" cy="3707614"/>
          </a:xfrm>
          <a:custGeom>
            <a:rect b="b" l="l" r="r" t="t"/>
            <a:pathLst>
              <a:path extrusionOk="0" h="3707614" w="7715094">
                <a:moveTo>
                  <a:pt x="0" y="0"/>
                </a:moveTo>
                <a:lnTo>
                  <a:pt x="7715094" y="0"/>
                </a:lnTo>
                <a:lnTo>
                  <a:pt x="7715094" y="3707614"/>
                </a:lnTo>
                <a:lnTo>
                  <a:pt x="0" y="3707614"/>
                </a:lnTo>
                <a:lnTo>
                  <a:pt x="0" y="0"/>
                </a:lnTo>
                <a:close/>
              </a:path>
            </a:pathLst>
          </a:custGeom>
          <a:blipFill rotWithShape="1">
            <a:blip r:embed="rId3">
              <a:alphaModFix/>
            </a:blip>
            <a:stretch>
              <a:fillRect b="0" l="0" r="0" t="-593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16"/>
          <p:cNvSpPr txBox="1"/>
          <p:nvPr/>
        </p:nvSpPr>
        <p:spPr>
          <a:xfrm>
            <a:off x="1311647" y="4214179"/>
            <a:ext cx="8822953" cy="769441"/>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5035" u="none" strike="noStrike">
                <a:solidFill>
                  <a:srgbClr val="2A2E3A"/>
                </a:solidFill>
                <a:latin typeface="Montserrat"/>
                <a:ea typeface="Montserrat"/>
                <a:cs typeface="Montserrat"/>
                <a:sym typeface="Montserrat"/>
              </a:rPr>
              <a:t>KNN</a:t>
            </a:r>
            <a:endParaRPr/>
          </a:p>
        </p:txBody>
      </p:sp>
      <p:sp>
        <p:nvSpPr>
          <p:cNvPr id="325" name="Google Shape;325;p16"/>
          <p:cNvSpPr txBox="1"/>
          <p:nvPr/>
        </p:nvSpPr>
        <p:spPr>
          <a:xfrm>
            <a:off x="1259652" y="5143500"/>
            <a:ext cx="10779948" cy="957634"/>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lang="en-US" sz="6792">
                <a:solidFill>
                  <a:srgbClr val="08377C"/>
                </a:solidFill>
                <a:latin typeface="Montserrat"/>
                <a:ea typeface="Montserrat"/>
                <a:cs typeface="Montserrat"/>
                <a:sym typeface="Montserrat"/>
              </a:rPr>
              <a:t>in Classification</a:t>
            </a:r>
            <a:endParaRPr b="1" sz="6792" u="none" strike="noStrike">
              <a:solidFill>
                <a:srgbClr val="08377C"/>
              </a:solidFill>
              <a:latin typeface="Montserrat"/>
              <a:ea typeface="Montserrat"/>
              <a:cs typeface="Montserrat"/>
              <a:sym typeface="Montserrat"/>
            </a:endParaRPr>
          </a:p>
        </p:txBody>
      </p:sp>
      <p:sp>
        <p:nvSpPr>
          <p:cNvPr id="326" name="Google Shape;326;p16"/>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4">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16"/>
          <p:cNvSpPr txBox="1"/>
          <p:nvPr/>
        </p:nvSpPr>
        <p:spPr>
          <a:xfrm>
            <a:off x="14721159" y="4804810"/>
            <a:ext cx="2237609" cy="730456"/>
          </a:xfrm>
          <a:prstGeom prst="rect">
            <a:avLst/>
          </a:prstGeom>
          <a:noFill/>
          <a:ln>
            <a:noFill/>
          </a:ln>
        </p:spPr>
        <p:txBody>
          <a:bodyPr anchorCtr="0" anchor="t" bIns="0" lIns="0" spcFirstLastPara="1" rIns="0" wrap="square" tIns="0">
            <a:spAutoFit/>
          </a:bodyPr>
          <a:lstStyle/>
          <a:p>
            <a:pPr indent="0" lvl="0" marL="0" marR="0" rtl="0" algn="l">
              <a:lnSpc>
                <a:spcPct val="42789"/>
              </a:lnSpc>
              <a:spcBef>
                <a:spcPts val="0"/>
              </a:spcBef>
              <a:spcAft>
                <a:spcPts val="0"/>
              </a:spcAft>
              <a:buNone/>
            </a:pPr>
            <a:r>
              <a:rPr lang="en-US" sz="10000">
                <a:solidFill>
                  <a:schemeClr val="lt1"/>
                </a:solidFill>
                <a:latin typeface="Montserrat"/>
                <a:ea typeface="Montserrat"/>
                <a:cs typeface="Montserrat"/>
                <a:sym typeface="Montserrat"/>
              </a:rPr>
              <a:t>03</a:t>
            </a:r>
            <a:endParaRPr/>
          </a:p>
        </p:txBody>
      </p: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grpSp>
        <p:nvGrpSpPr>
          <p:cNvPr id="333" name="Google Shape;333;p17"/>
          <p:cNvGrpSpPr/>
          <p:nvPr/>
        </p:nvGrpSpPr>
        <p:grpSpPr>
          <a:xfrm>
            <a:off x="17016492" y="-180826"/>
            <a:ext cx="1271508" cy="10467826"/>
            <a:chOff x="0" y="-47625"/>
            <a:chExt cx="334883" cy="2756958"/>
          </a:xfrm>
        </p:grpSpPr>
        <p:sp>
          <p:nvSpPr>
            <p:cNvPr id="334" name="Google Shape;334;p17"/>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17"/>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6" name="Google Shape;336;p17"/>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 name="Google Shape;337;p17"/>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338" name="Google Shape;338;p17"/>
          <p:cNvSpPr txBox="1"/>
          <p:nvPr/>
        </p:nvSpPr>
        <p:spPr>
          <a:xfrm>
            <a:off x="4152286" y="1328699"/>
            <a:ext cx="9983428" cy="81734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What is KNN?</a:t>
            </a:r>
            <a:endParaRPr/>
          </a:p>
        </p:txBody>
      </p:sp>
      <p:pic>
        <p:nvPicPr>
          <p:cNvPr id="339" name="Google Shape;339;p17"/>
          <p:cNvPicPr preferRelativeResize="0"/>
          <p:nvPr/>
        </p:nvPicPr>
        <p:blipFill rotWithShape="1">
          <a:blip r:embed="rId4">
            <a:alphaModFix/>
          </a:blip>
          <a:srcRect b="0" l="0" r="0" t="0"/>
          <a:stretch/>
        </p:blipFill>
        <p:spPr>
          <a:xfrm>
            <a:off x="5029200" y="3086100"/>
            <a:ext cx="7971693" cy="3657600"/>
          </a:xfrm>
          <a:prstGeom prst="rect">
            <a:avLst/>
          </a:prstGeom>
          <a:noFill/>
          <a:ln>
            <a:noFill/>
          </a:ln>
        </p:spPr>
      </p:pic>
      <p:sp>
        <p:nvSpPr>
          <p:cNvPr id="340" name="Google Shape;340;p17"/>
          <p:cNvSpPr/>
          <p:nvPr/>
        </p:nvSpPr>
        <p:spPr>
          <a:xfrm>
            <a:off x="1752599" y="7353300"/>
            <a:ext cx="14961827" cy="1754326"/>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400">
                <a:solidFill>
                  <a:schemeClr val="dk1"/>
                </a:solidFill>
                <a:latin typeface="Montserrat"/>
                <a:ea typeface="Montserrat"/>
                <a:cs typeface="Montserrat"/>
                <a:sym typeface="Montserrat"/>
              </a:rPr>
              <a:t>KNN (K-Nearest Neighbor) adalah salah satu </a:t>
            </a:r>
            <a:r>
              <a:rPr b="1" lang="en-US" sz="2400">
                <a:solidFill>
                  <a:schemeClr val="dk1"/>
                </a:solidFill>
                <a:latin typeface="Montserrat"/>
                <a:ea typeface="Montserrat"/>
                <a:cs typeface="Montserrat"/>
                <a:sym typeface="Montserrat"/>
              </a:rPr>
              <a:t>algoritma machine learning yang digunakan untuk melakukan klasifikasi pada data</a:t>
            </a:r>
            <a:r>
              <a:rPr lang="en-US" sz="2400">
                <a:solidFill>
                  <a:schemeClr val="dk1"/>
                </a:solidFill>
                <a:latin typeface="Montserrat"/>
                <a:ea typeface="Montserrat"/>
                <a:cs typeface="Montserrat"/>
                <a:sym typeface="Montserrat"/>
              </a:rPr>
              <a:t>. Algoritma ini bekerja berdasarkan </a:t>
            </a:r>
            <a:r>
              <a:rPr b="1" lang="en-US" sz="2400">
                <a:solidFill>
                  <a:schemeClr val="dk1"/>
                </a:solidFill>
                <a:latin typeface="Montserrat"/>
                <a:ea typeface="Montserrat"/>
                <a:cs typeface="Montserrat"/>
                <a:sym typeface="Montserrat"/>
              </a:rPr>
              <a:t>prinsip bahwa objek yang mirip cenderung berada dalam jarak yang dekat satu sama lain</a:t>
            </a:r>
            <a:r>
              <a:rPr lang="en-US" sz="2400">
                <a:solidFill>
                  <a:schemeClr val="dk1"/>
                </a:solidFill>
                <a:latin typeface="Montserrat"/>
                <a:ea typeface="Montserrat"/>
                <a:cs typeface="Montserrat"/>
                <a:sym typeface="Montserrat"/>
              </a:rPr>
              <a:t>. </a:t>
            </a:r>
            <a:endParaRPr/>
          </a:p>
        </p:txBody>
      </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grpSp>
        <p:nvGrpSpPr>
          <p:cNvPr id="346" name="Google Shape;346;p18"/>
          <p:cNvGrpSpPr/>
          <p:nvPr/>
        </p:nvGrpSpPr>
        <p:grpSpPr>
          <a:xfrm>
            <a:off x="17016492" y="-180826"/>
            <a:ext cx="1271508" cy="10467826"/>
            <a:chOff x="0" y="-47625"/>
            <a:chExt cx="334883" cy="2756958"/>
          </a:xfrm>
        </p:grpSpPr>
        <p:sp>
          <p:nvSpPr>
            <p:cNvPr id="347" name="Google Shape;347;p18"/>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18"/>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9" name="Google Shape;349;p18"/>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18"/>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grpSp>
        <p:nvGrpSpPr>
          <p:cNvPr id="351" name="Google Shape;351;p18"/>
          <p:cNvGrpSpPr/>
          <p:nvPr/>
        </p:nvGrpSpPr>
        <p:grpSpPr>
          <a:xfrm>
            <a:off x="-4464322" y="-101727"/>
            <a:ext cx="21264897" cy="10934832"/>
            <a:chOff x="-9188722" y="-1403415"/>
            <a:chExt cx="21264897" cy="10934832"/>
          </a:xfrm>
        </p:grpSpPr>
        <p:sp>
          <p:nvSpPr>
            <p:cNvPr id="352" name="Google Shape;352;p18"/>
            <p:cNvSpPr/>
            <p:nvPr/>
          </p:nvSpPr>
          <p:spPr>
            <a:xfrm>
              <a:off x="-9188722" y="-1403415"/>
              <a:ext cx="10934832" cy="10934832"/>
            </a:xfrm>
            <a:prstGeom prst="blockArc">
              <a:avLst>
                <a:gd fmla="val 18900000" name="adj1"/>
                <a:gd fmla="val 2700000" name="adj2"/>
                <a:gd fmla="val 198" name="adj3"/>
              </a:avLst>
            </a:pr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8"/>
            <p:cNvSpPr/>
            <p:nvPr/>
          </p:nvSpPr>
          <p:spPr>
            <a:xfrm>
              <a:off x="650646" y="428020"/>
              <a:ext cx="11425529" cy="8557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8"/>
            <p:cNvSpPr txBox="1"/>
            <p:nvPr/>
          </p:nvSpPr>
          <p:spPr>
            <a:xfrm>
              <a:off x="650646" y="428020"/>
              <a:ext cx="11425529" cy="855715"/>
            </a:xfrm>
            <a:prstGeom prst="rect">
              <a:avLst/>
            </a:prstGeom>
            <a:noFill/>
            <a:ln>
              <a:noFill/>
            </a:ln>
          </p:spPr>
          <p:txBody>
            <a:bodyPr anchorCtr="0" anchor="ctr" bIns="109200" lIns="679200" spcFirstLastPara="1" rIns="109200" wrap="square" tIns="109200">
              <a:noAutofit/>
            </a:bodyPr>
            <a:lstStyle/>
            <a:p>
              <a:pPr indent="0" lvl="0" marL="0" marR="0" rtl="0" algn="l">
                <a:lnSpc>
                  <a:spcPct val="90000"/>
                </a:lnSpc>
                <a:spcBef>
                  <a:spcPts val="0"/>
                </a:spcBef>
                <a:spcAft>
                  <a:spcPts val="0"/>
                </a:spcAft>
                <a:buClr>
                  <a:schemeClr val="lt1"/>
                </a:buClr>
                <a:buSzPts val="4300"/>
                <a:buFont typeface="Calibri"/>
                <a:buNone/>
              </a:pPr>
              <a:r>
                <a:rPr lang="en-US" sz="4300">
                  <a:solidFill>
                    <a:schemeClr val="lt1"/>
                  </a:solidFill>
                  <a:latin typeface="Calibri"/>
                  <a:ea typeface="Calibri"/>
                  <a:cs typeface="Calibri"/>
                  <a:sym typeface="Calibri"/>
                </a:rPr>
                <a:t>Jumlah Tetangga (K)</a:t>
              </a:r>
              <a:endParaRPr/>
            </a:p>
          </p:txBody>
        </p:sp>
        <p:sp>
          <p:nvSpPr>
            <p:cNvPr id="355" name="Google Shape;355;p18"/>
            <p:cNvSpPr/>
            <p:nvPr/>
          </p:nvSpPr>
          <p:spPr>
            <a:xfrm>
              <a:off x="115823" y="321056"/>
              <a:ext cx="1069644" cy="1069644"/>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8"/>
            <p:cNvSpPr/>
            <p:nvPr/>
          </p:nvSpPr>
          <p:spPr>
            <a:xfrm>
              <a:off x="1354531" y="1711431"/>
              <a:ext cx="10721644" cy="8557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8"/>
            <p:cNvSpPr txBox="1"/>
            <p:nvPr/>
          </p:nvSpPr>
          <p:spPr>
            <a:xfrm>
              <a:off x="1354531" y="1711431"/>
              <a:ext cx="10721644" cy="855715"/>
            </a:xfrm>
            <a:prstGeom prst="rect">
              <a:avLst/>
            </a:prstGeom>
            <a:noFill/>
            <a:ln>
              <a:noFill/>
            </a:ln>
          </p:spPr>
          <p:txBody>
            <a:bodyPr anchorCtr="0" anchor="ctr" bIns="109200" lIns="679200" spcFirstLastPara="1" rIns="109200" wrap="square" tIns="109200">
              <a:noAutofit/>
            </a:bodyPr>
            <a:lstStyle/>
            <a:p>
              <a:pPr indent="0" lvl="0" marL="0" marR="0" rtl="0" algn="l">
                <a:lnSpc>
                  <a:spcPct val="90000"/>
                </a:lnSpc>
                <a:spcBef>
                  <a:spcPts val="0"/>
                </a:spcBef>
                <a:spcAft>
                  <a:spcPts val="0"/>
                </a:spcAft>
                <a:buClr>
                  <a:schemeClr val="lt1"/>
                </a:buClr>
                <a:buSzPts val="4300"/>
                <a:buFont typeface="Calibri"/>
                <a:buNone/>
              </a:pPr>
              <a:r>
                <a:rPr lang="en-US" sz="4300">
                  <a:solidFill>
                    <a:schemeClr val="lt1"/>
                  </a:solidFill>
                  <a:latin typeface="Calibri"/>
                  <a:ea typeface="Calibri"/>
                  <a:cs typeface="Calibri"/>
                  <a:sym typeface="Calibri"/>
                </a:rPr>
                <a:t>Metric Jarak</a:t>
              </a:r>
              <a:endParaRPr sz="4300">
                <a:solidFill>
                  <a:schemeClr val="lt1"/>
                </a:solidFill>
                <a:latin typeface="Calibri"/>
                <a:ea typeface="Calibri"/>
                <a:cs typeface="Calibri"/>
                <a:sym typeface="Calibri"/>
              </a:endParaRPr>
            </a:p>
          </p:txBody>
        </p:sp>
        <p:sp>
          <p:nvSpPr>
            <p:cNvPr id="358" name="Google Shape;358;p18"/>
            <p:cNvSpPr/>
            <p:nvPr/>
          </p:nvSpPr>
          <p:spPr>
            <a:xfrm>
              <a:off x="819708" y="1604467"/>
              <a:ext cx="1069644" cy="1069644"/>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8"/>
            <p:cNvSpPr/>
            <p:nvPr/>
          </p:nvSpPr>
          <p:spPr>
            <a:xfrm>
              <a:off x="1676399" y="2994842"/>
              <a:ext cx="10399776" cy="8557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8"/>
            <p:cNvSpPr txBox="1"/>
            <p:nvPr/>
          </p:nvSpPr>
          <p:spPr>
            <a:xfrm>
              <a:off x="1676399" y="2994842"/>
              <a:ext cx="10399776" cy="855715"/>
            </a:xfrm>
            <a:prstGeom prst="rect">
              <a:avLst/>
            </a:prstGeom>
            <a:noFill/>
            <a:ln>
              <a:noFill/>
            </a:ln>
          </p:spPr>
          <p:txBody>
            <a:bodyPr anchorCtr="0" anchor="ctr" bIns="109200" lIns="679200" spcFirstLastPara="1" rIns="109200" wrap="square" tIns="109200">
              <a:noAutofit/>
            </a:bodyPr>
            <a:lstStyle/>
            <a:p>
              <a:pPr indent="0" lvl="0" marL="0" marR="0" rtl="0" algn="l">
                <a:lnSpc>
                  <a:spcPct val="90000"/>
                </a:lnSpc>
                <a:spcBef>
                  <a:spcPts val="0"/>
                </a:spcBef>
                <a:spcAft>
                  <a:spcPts val="0"/>
                </a:spcAft>
                <a:buClr>
                  <a:schemeClr val="lt1"/>
                </a:buClr>
                <a:buSzPts val="4300"/>
                <a:buFont typeface="Calibri"/>
                <a:buNone/>
              </a:pPr>
              <a:r>
                <a:rPr lang="en-US" sz="4300">
                  <a:solidFill>
                    <a:schemeClr val="lt1"/>
                  </a:solidFill>
                  <a:latin typeface="Calibri"/>
                  <a:ea typeface="Calibri"/>
                  <a:cs typeface="Calibri"/>
                  <a:sym typeface="Calibri"/>
                </a:rPr>
                <a:t>Bobot (Weights)</a:t>
              </a:r>
              <a:endParaRPr/>
            </a:p>
          </p:txBody>
        </p:sp>
        <p:sp>
          <p:nvSpPr>
            <p:cNvPr id="361" name="Google Shape;361;p18"/>
            <p:cNvSpPr/>
            <p:nvPr/>
          </p:nvSpPr>
          <p:spPr>
            <a:xfrm>
              <a:off x="1141577" y="2887878"/>
              <a:ext cx="1069644" cy="1069644"/>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8"/>
            <p:cNvSpPr/>
            <p:nvPr/>
          </p:nvSpPr>
          <p:spPr>
            <a:xfrm>
              <a:off x="1676399" y="4277441"/>
              <a:ext cx="10399776" cy="8557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8"/>
            <p:cNvSpPr txBox="1"/>
            <p:nvPr/>
          </p:nvSpPr>
          <p:spPr>
            <a:xfrm>
              <a:off x="1676399" y="4277441"/>
              <a:ext cx="10399776" cy="855715"/>
            </a:xfrm>
            <a:prstGeom prst="rect">
              <a:avLst/>
            </a:prstGeom>
            <a:noFill/>
            <a:ln>
              <a:noFill/>
            </a:ln>
          </p:spPr>
          <p:txBody>
            <a:bodyPr anchorCtr="0" anchor="ctr" bIns="109200" lIns="679200" spcFirstLastPara="1" rIns="109200" wrap="square" tIns="109200">
              <a:noAutofit/>
            </a:bodyPr>
            <a:lstStyle/>
            <a:p>
              <a:pPr indent="0" lvl="0" marL="0" marR="0" rtl="0" algn="l">
                <a:lnSpc>
                  <a:spcPct val="90000"/>
                </a:lnSpc>
                <a:spcBef>
                  <a:spcPts val="0"/>
                </a:spcBef>
                <a:spcAft>
                  <a:spcPts val="0"/>
                </a:spcAft>
                <a:buClr>
                  <a:schemeClr val="lt1"/>
                </a:buClr>
                <a:buSzPts val="4300"/>
                <a:buFont typeface="Calibri"/>
                <a:buNone/>
              </a:pPr>
              <a:r>
                <a:rPr lang="en-US" sz="4300">
                  <a:solidFill>
                    <a:schemeClr val="lt1"/>
                  </a:solidFill>
                  <a:latin typeface="Calibri"/>
                  <a:ea typeface="Calibri"/>
                  <a:cs typeface="Calibri"/>
                  <a:sym typeface="Calibri"/>
                </a:rPr>
                <a:t>Panjang Jarak (Distance Metric Parameters)</a:t>
              </a:r>
              <a:endParaRPr/>
            </a:p>
          </p:txBody>
        </p:sp>
        <p:sp>
          <p:nvSpPr>
            <p:cNvPr id="364" name="Google Shape;364;p18"/>
            <p:cNvSpPr/>
            <p:nvPr/>
          </p:nvSpPr>
          <p:spPr>
            <a:xfrm>
              <a:off x="1141577" y="4170476"/>
              <a:ext cx="1069644" cy="1069644"/>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8"/>
            <p:cNvSpPr/>
            <p:nvPr/>
          </p:nvSpPr>
          <p:spPr>
            <a:xfrm>
              <a:off x="1354531" y="5560852"/>
              <a:ext cx="10721644" cy="8557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8"/>
            <p:cNvSpPr txBox="1"/>
            <p:nvPr/>
          </p:nvSpPr>
          <p:spPr>
            <a:xfrm>
              <a:off x="1354531" y="5560852"/>
              <a:ext cx="10721644" cy="855715"/>
            </a:xfrm>
            <a:prstGeom prst="rect">
              <a:avLst/>
            </a:prstGeom>
            <a:noFill/>
            <a:ln>
              <a:noFill/>
            </a:ln>
          </p:spPr>
          <p:txBody>
            <a:bodyPr anchorCtr="0" anchor="ctr" bIns="109200" lIns="679200" spcFirstLastPara="1" rIns="109200" wrap="square" tIns="109200">
              <a:noAutofit/>
            </a:bodyPr>
            <a:lstStyle/>
            <a:p>
              <a:pPr indent="0" lvl="0" marL="0" marR="0" rtl="0" algn="l">
                <a:lnSpc>
                  <a:spcPct val="90000"/>
                </a:lnSpc>
                <a:spcBef>
                  <a:spcPts val="0"/>
                </a:spcBef>
                <a:spcAft>
                  <a:spcPts val="0"/>
                </a:spcAft>
                <a:buClr>
                  <a:schemeClr val="lt1"/>
                </a:buClr>
                <a:buSzPts val="4300"/>
                <a:buFont typeface="Calibri"/>
                <a:buNone/>
              </a:pPr>
              <a:r>
                <a:rPr lang="en-US" sz="4300">
                  <a:solidFill>
                    <a:schemeClr val="lt1"/>
                  </a:solidFill>
                  <a:latin typeface="Calibri"/>
                  <a:ea typeface="Calibri"/>
                  <a:cs typeface="Calibri"/>
                  <a:sym typeface="Calibri"/>
                </a:rPr>
                <a:t>Normalisasi Data</a:t>
              </a:r>
              <a:endParaRPr/>
            </a:p>
          </p:txBody>
        </p:sp>
        <p:sp>
          <p:nvSpPr>
            <p:cNvPr id="367" name="Google Shape;367;p18"/>
            <p:cNvSpPr/>
            <p:nvPr/>
          </p:nvSpPr>
          <p:spPr>
            <a:xfrm>
              <a:off x="819708" y="5453888"/>
              <a:ext cx="1069644" cy="1069644"/>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8"/>
            <p:cNvSpPr/>
            <p:nvPr/>
          </p:nvSpPr>
          <p:spPr>
            <a:xfrm>
              <a:off x="650646" y="6844263"/>
              <a:ext cx="11425529" cy="8557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8"/>
            <p:cNvSpPr txBox="1"/>
            <p:nvPr/>
          </p:nvSpPr>
          <p:spPr>
            <a:xfrm>
              <a:off x="650646" y="6844263"/>
              <a:ext cx="11425529" cy="855715"/>
            </a:xfrm>
            <a:prstGeom prst="rect">
              <a:avLst/>
            </a:prstGeom>
            <a:noFill/>
            <a:ln>
              <a:noFill/>
            </a:ln>
          </p:spPr>
          <p:txBody>
            <a:bodyPr anchorCtr="0" anchor="ctr" bIns="109200" lIns="679200" spcFirstLastPara="1" rIns="109200" wrap="square" tIns="109200">
              <a:noAutofit/>
            </a:bodyPr>
            <a:lstStyle/>
            <a:p>
              <a:pPr indent="0" lvl="0" marL="0" marR="0" rtl="0" algn="l">
                <a:lnSpc>
                  <a:spcPct val="90000"/>
                </a:lnSpc>
                <a:spcBef>
                  <a:spcPts val="0"/>
                </a:spcBef>
                <a:spcAft>
                  <a:spcPts val="0"/>
                </a:spcAft>
                <a:buClr>
                  <a:schemeClr val="lt1"/>
                </a:buClr>
                <a:buSzPts val="4300"/>
                <a:buFont typeface="Calibri"/>
                <a:buNone/>
              </a:pPr>
              <a:r>
                <a:rPr lang="en-US" sz="4300">
                  <a:solidFill>
                    <a:schemeClr val="lt1"/>
                  </a:solidFill>
                  <a:latin typeface="Calibri"/>
                  <a:ea typeface="Calibri"/>
                  <a:cs typeface="Calibri"/>
                  <a:sym typeface="Calibri"/>
                </a:rPr>
                <a:t>Algoritma Pencarian Tetangga</a:t>
              </a:r>
              <a:endParaRPr sz="4300">
                <a:solidFill>
                  <a:schemeClr val="lt1"/>
                </a:solidFill>
                <a:latin typeface="Calibri"/>
                <a:ea typeface="Calibri"/>
                <a:cs typeface="Calibri"/>
                <a:sym typeface="Calibri"/>
              </a:endParaRPr>
            </a:p>
          </p:txBody>
        </p:sp>
        <p:sp>
          <p:nvSpPr>
            <p:cNvPr id="370" name="Google Shape;370;p18"/>
            <p:cNvSpPr/>
            <p:nvPr/>
          </p:nvSpPr>
          <p:spPr>
            <a:xfrm>
              <a:off x="115823" y="6737299"/>
              <a:ext cx="1069644" cy="1069644"/>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1" name="Google Shape;371;p18"/>
          <p:cNvSpPr txBox="1"/>
          <p:nvPr/>
        </p:nvSpPr>
        <p:spPr>
          <a:xfrm>
            <a:off x="914400" y="3467100"/>
            <a:ext cx="3962400" cy="373948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5400">
                <a:solidFill>
                  <a:srgbClr val="08377C"/>
                </a:solidFill>
                <a:latin typeface="Montserrat"/>
                <a:ea typeface="Montserrat"/>
                <a:cs typeface="Montserrat"/>
                <a:sym typeface="Montserrat"/>
              </a:rPr>
              <a:t>Parameter Utama KNN</a:t>
            </a:r>
            <a:endParaRPr/>
          </a:p>
        </p:txBody>
      </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grpSp>
        <p:nvGrpSpPr>
          <p:cNvPr id="377" name="Google Shape;377;p19"/>
          <p:cNvGrpSpPr/>
          <p:nvPr/>
        </p:nvGrpSpPr>
        <p:grpSpPr>
          <a:xfrm>
            <a:off x="15238003" y="8290589"/>
            <a:ext cx="7523780" cy="7523780"/>
            <a:chOff x="0" y="0"/>
            <a:chExt cx="812800" cy="812800"/>
          </a:xfrm>
        </p:grpSpPr>
        <p:sp>
          <p:nvSpPr>
            <p:cNvPr id="378" name="Google Shape;378;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9" name="Google Shape;379;p1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80" name="Google Shape;380;p19"/>
          <p:cNvGrpSpPr/>
          <p:nvPr/>
        </p:nvGrpSpPr>
        <p:grpSpPr>
          <a:xfrm>
            <a:off x="-3724222" y="-4507687"/>
            <a:ext cx="5924489" cy="5924489"/>
            <a:chOff x="0" y="0"/>
            <a:chExt cx="812800" cy="812800"/>
          </a:xfrm>
        </p:grpSpPr>
        <p:sp>
          <p:nvSpPr>
            <p:cNvPr id="381" name="Google Shape;381;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1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3" name="Google Shape;383;p19"/>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19"/>
          <p:cNvSpPr txBox="1"/>
          <p:nvPr/>
        </p:nvSpPr>
        <p:spPr>
          <a:xfrm>
            <a:off x="751417" y="1326523"/>
            <a:ext cx="17526000" cy="492443"/>
          </a:xfrm>
          <a:prstGeom prst="rect">
            <a:avLst/>
          </a:prstGeom>
          <a:noFill/>
          <a:ln>
            <a:noFill/>
          </a:ln>
        </p:spPr>
        <p:txBody>
          <a:bodyPr anchorCtr="0" anchor="t" bIns="0" lIns="0" spcFirstLastPara="1" rIns="0" wrap="square" tIns="0">
            <a:spAutoFit/>
          </a:bodyPr>
          <a:lstStyle/>
          <a:p>
            <a:pPr indent="-514350" lvl="0" marL="514350" marR="0" rtl="0" algn="l">
              <a:spcBef>
                <a:spcPts val="0"/>
              </a:spcBef>
              <a:spcAft>
                <a:spcPts val="0"/>
              </a:spcAft>
              <a:buClr>
                <a:srgbClr val="08377C"/>
              </a:buClr>
              <a:buSzPts val="3200"/>
              <a:buFont typeface="Calibri"/>
              <a:buAutoNum type="arabicPeriod"/>
            </a:pPr>
            <a:r>
              <a:rPr b="1" lang="en-US" sz="3200">
                <a:solidFill>
                  <a:srgbClr val="08377C"/>
                </a:solidFill>
                <a:latin typeface="Calibri"/>
                <a:ea typeface="Calibri"/>
                <a:cs typeface="Calibri"/>
                <a:sym typeface="Calibri"/>
              </a:rPr>
              <a:t>Jumlah Tetangga (K) atau n_neighbors (default = 5)</a:t>
            </a:r>
            <a:endParaRPr/>
          </a:p>
        </p:txBody>
      </p:sp>
      <p:sp>
        <p:nvSpPr>
          <p:cNvPr id="385" name="Google Shape;385;p19"/>
          <p:cNvSpPr/>
          <p:nvPr/>
        </p:nvSpPr>
        <p:spPr>
          <a:xfrm>
            <a:off x="1143000" y="2045156"/>
            <a:ext cx="14961827" cy="590931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Nilai K Kecil:</a:t>
            </a:r>
            <a:r>
              <a:rPr lang="en-US" sz="2800">
                <a:solidFill>
                  <a:schemeClr val="dk1"/>
                </a:solidFill>
                <a:latin typeface="Montserrat"/>
                <a:ea typeface="Montserrat"/>
                <a:cs typeface="Montserrat"/>
                <a:sym typeface="Montserrat"/>
              </a:rPr>
              <a:t> </a:t>
            </a:r>
            <a:r>
              <a:rPr i="1" lang="en-US" sz="2800">
                <a:solidFill>
                  <a:srgbClr val="FF0000"/>
                </a:solidFill>
                <a:latin typeface="Montserrat"/>
                <a:ea typeface="Montserrat"/>
                <a:cs typeface="Montserrat"/>
                <a:sym typeface="Montserrat"/>
              </a:rPr>
              <a:t>Jika K terlalu kecil (misalnya, K = 1), </a:t>
            </a:r>
            <a:r>
              <a:rPr lang="en-US" sz="2800">
                <a:solidFill>
                  <a:schemeClr val="dk1"/>
                </a:solidFill>
                <a:latin typeface="Montserrat"/>
                <a:ea typeface="Montserrat"/>
                <a:cs typeface="Montserrat"/>
                <a:sym typeface="Montserrat"/>
              </a:rPr>
              <a:t>model akan sangat sensitif terhadap </a:t>
            </a:r>
            <a:r>
              <a:rPr i="1" lang="en-US" sz="2800">
                <a:solidFill>
                  <a:schemeClr val="dk1"/>
                </a:solidFill>
                <a:latin typeface="Montserrat"/>
                <a:ea typeface="Montserrat"/>
                <a:cs typeface="Montserrat"/>
                <a:sym typeface="Montserrat"/>
              </a:rPr>
              <a:t>noise</a:t>
            </a:r>
            <a:r>
              <a:rPr lang="en-US" sz="2800">
                <a:solidFill>
                  <a:schemeClr val="dk1"/>
                </a:solidFill>
                <a:latin typeface="Montserrat"/>
                <a:ea typeface="Montserrat"/>
                <a:cs typeface="Montserrat"/>
                <a:sym typeface="Montserrat"/>
              </a:rPr>
              <a:t> dan </a:t>
            </a:r>
            <a:r>
              <a:rPr i="1" lang="en-US" sz="2800">
                <a:solidFill>
                  <a:schemeClr val="dk1"/>
                </a:solidFill>
                <a:latin typeface="Montserrat"/>
                <a:ea typeface="Montserrat"/>
                <a:cs typeface="Montserrat"/>
                <a:sym typeface="Montserrat"/>
              </a:rPr>
              <a:t>outlier</a:t>
            </a:r>
            <a:r>
              <a:rPr lang="en-US" sz="2800">
                <a:solidFill>
                  <a:schemeClr val="dk1"/>
                </a:solidFill>
                <a:latin typeface="Montserrat"/>
                <a:ea typeface="Montserrat"/>
                <a:cs typeface="Montserrat"/>
                <a:sym typeface="Montserrat"/>
              </a:rPr>
              <a:t> karena hanya mempertimbangkan satu tetangga. Ini sering menyebabkan </a:t>
            </a:r>
            <a:r>
              <a:rPr i="1" lang="en-US" sz="2800">
                <a:solidFill>
                  <a:schemeClr val="dk1"/>
                </a:solidFill>
                <a:latin typeface="Montserrat"/>
                <a:ea typeface="Montserrat"/>
                <a:cs typeface="Montserrat"/>
                <a:sym typeface="Montserrat"/>
              </a:rPr>
              <a:t>overfitting</a:t>
            </a:r>
            <a:r>
              <a:rPr lang="en-US" sz="2800">
                <a:solidFill>
                  <a:schemeClr val="dk1"/>
                </a:solidFill>
                <a:latin typeface="Montserrat"/>
                <a:ea typeface="Montserrat"/>
                <a:cs typeface="Montserrat"/>
                <a:sym typeface="Montserrat"/>
              </a:rPr>
              <a:t> karena model terlalu sesuai dengan data pelatihan dan kurang mampu generalisasi pada data baru.</a:t>
            </a:r>
            <a:endParaRPr/>
          </a:p>
          <a:p>
            <a:pPr indent="0" lvl="0" marL="0" marR="0" rtl="0" algn="just">
              <a:lnSpc>
                <a:spcPct val="150000"/>
              </a:lnSpc>
              <a:spcBef>
                <a:spcPts val="0"/>
              </a:spcBef>
              <a:spcAft>
                <a:spcPts val="0"/>
              </a:spcAft>
              <a:buNone/>
            </a:pPr>
            <a:r>
              <a:t/>
            </a:r>
            <a:endParaRPr sz="2800">
              <a:solidFill>
                <a:schemeClr val="dk1"/>
              </a:solidFill>
              <a:latin typeface="Montserrat"/>
              <a:ea typeface="Montserrat"/>
              <a:cs typeface="Montserrat"/>
              <a:sym typeface="Montserrat"/>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Nilai K Besar:</a:t>
            </a:r>
            <a:r>
              <a:rPr lang="en-US" sz="2800">
                <a:solidFill>
                  <a:schemeClr val="dk1"/>
                </a:solidFill>
                <a:latin typeface="Montserrat"/>
                <a:ea typeface="Montserrat"/>
                <a:cs typeface="Montserrat"/>
                <a:sym typeface="Montserrat"/>
              </a:rPr>
              <a:t> </a:t>
            </a:r>
            <a:r>
              <a:rPr i="1" lang="en-US" sz="2800">
                <a:solidFill>
                  <a:srgbClr val="08377C"/>
                </a:solidFill>
                <a:latin typeface="Montserrat"/>
                <a:ea typeface="Montserrat"/>
                <a:cs typeface="Montserrat"/>
                <a:sym typeface="Montserrat"/>
              </a:rPr>
              <a:t>Jika K terlalu besar (misalnya, K = 20)</a:t>
            </a:r>
            <a:r>
              <a:rPr lang="en-US" sz="2800">
                <a:solidFill>
                  <a:schemeClr val="dk1"/>
                </a:solidFill>
                <a:latin typeface="Montserrat"/>
                <a:ea typeface="Montserrat"/>
                <a:cs typeface="Montserrat"/>
                <a:sym typeface="Montserrat"/>
              </a:rPr>
              <a:t>, model akan lebih stabil dan kurang terpengaruh oleh </a:t>
            </a:r>
            <a:r>
              <a:rPr i="1" lang="en-US" sz="2800">
                <a:solidFill>
                  <a:schemeClr val="dk1"/>
                </a:solidFill>
                <a:latin typeface="Montserrat"/>
                <a:ea typeface="Montserrat"/>
                <a:cs typeface="Montserrat"/>
                <a:sym typeface="Montserrat"/>
              </a:rPr>
              <a:t>noise</a:t>
            </a:r>
            <a:r>
              <a:rPr lang="en-US" sz="2800">
                <a:solidFill>
                  <a:schemeClr val="dk1"/>
                </a:solidFill>
                <a:latin typeface="Montserrat"/>
                <a:ea typeface="Montserrat"/>
                <a:cs typeface="Montserrat"/>
                <a:sym typeface="Montserrat"/>
              </a:rPr>
              <a:t>, tetapi dapat terlalu umum (</a:t>
            </a:r>
            <a:r>
              <a:rPr i="1" lang="en-US" sz="2800">
                <a:solidFill>
                  <a:schemeClr val="dk1"/>
                </a:solidFill>
                <a:latin typeface="Montserrat"/>
                <a:ea typeface="Montserrat"/>
                <a:cs typeface="Montserrat"/>
                <a:sym typeface="Montserrat"/>
              </a:rPr>
              <a:t>underfitting</a:t>
            </a:r>
            <a:r>
              <a:rPr lang="en-US" sz="2800">
                <a:solidFill>
                  <a:schemeClr val="dk1"/>
                </a:solidFill>
                <a:latin typeface="Montserrat"/>
                <a:ea typeface="Montserrat"/>
                <a:cs typeface="Montserrat"/>
                <a:sym typeface="Montserrat"/>
              </a:rPr>
              <a:t>). Ini akan memengaruhi hasil berdasarkan tetangga yang lebih jauh dan mengabaikan detail penting dari data pelatihan.</a:t>
            </a:r>
            <a:endParaRPr/>
          </a:p>
        </p:txBody>
      </p:sp>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pic>
        <p:nvPicPr>
          <p:cNvPr descr="dos-a369fe173701f0d0704d4581736a0b3d20241015142620.jpeg" id="391" name="Google Shape;391;p20"/>
          <p:cNvPicPr preferRelativeResize="0"/>
          <p:nvPr/>
        </p:nvPicPr>
        <p:blipFill rotWithShape="1">
          <a:blip r:embed="rId3">
            <a:alphaModFix/>
          </a:blip>
          <a:srcRect b="0" l="0" r="0" t="0"/>
          <a:stretch/>
        </p:blipFill>
        <p:spPr>
          <a:xfrm>
            <a:off x="10668681" y="4505482"/>
            <a:ext cx="5367710" cy="2532888"/>
          </a:xfrm>
          <a:prstGeom prst="rect">
            <a:avLst/>
          </a:prstGeom>
          <a:noFill/>
          <a:ln>
            <a:noFill/>
          </a:ln>
        </p:spPr>
      </p:pic>
      <p:grpSp>
        <p:nvGrpSpPr>
          <p:cNvPr id="392" name="Google Shape;392;p20"/>
          <p:cNvGrpSpPr/>
          <p:nvPr/>
        </p:nvGrpSpPr>
        <p:grpSpPr>
          <a:xfrm>
            <a:off x="15238003" y="8290589"/>
            <a:ext cx="7523780" cy="7523780"/>
            <a:chOff x="0" y="0"/>
            <a:chExt cx="812800" cy="812800"/>
          </a:xfrm>
        </p:grpSpPr>
        <p:sp>
          <p:nvSpPr>
            <p:cNvPr id="393" name="Google Shape;393;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2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95" name="Google Shape;395;p20"/>
          <p:cNvGrpSpPr/>
          <p:nvPr/>
        </p:nvGrpSpPr>
        <p:grpSpPr>
          <a:xfrm>
            <a:off x="-3724222" y="-4507687"/>
            <a:ext cx="5924489" cy="5924489"/>
            <a:chOff x="0" y="0"/>
            <a:chExt cx="812800" cy="812800"/>
          </a:xfrm>
        </p:grpSpPr>
        <p:sp>
          <p:nvSpPr>
            <p:cNvPr id="396" name="Google Shape;396;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2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98" name="Google Shape;398;p20"/>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4">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20"/>
          <p:cNvSpPr txBox="1"/>
          <p:nvPr/>
        </p:nvSpPr>
        <p:spPr>
          <a:xfrm>
            <a:off x="751417" y="1326523"/>
            <a:ext cx="17526000"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08377C"/>
                </a:solidFill>
                <a:latin typeface="Calibri"/>
                <a:ea typeface="Calibri"/>
                <a:cs typeface="Calibri"/>
                <a:sym typeface="Calibri"/>
              </a:rPr>
              <a:t>2. Metric Jarak (default = minkowski)</a:t>
            </a:r>
            <a:endParaRPr/>
          </a:p>
        </p:txBody>
      </p:sp>
      <p:sp>
        <p:nvSpPr>
          <p:cNvPr id="400" name="Google Shape;400;p20"/>
          <p:cNvSpPr/>
          <p:nvPr/>
        </p:nvSpPr>
        <p:spPr>
          <a:xfrm>
            <a:off x="1143000" y="2045156"/>
            <a:ext cx="14961827" cy="196323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Metrik jarak digunakan untuk mengukur seberapa dekat atau mirip dua titik dalam ruang fitur. Metrik yang berbeda dapat mengukur jarak atau kesamaan dengan cara berbeda. Ini memengaruhi pemilihan tetangga terdekat.</a:t>
            </a:r>
            <a:endParaRPr/>
          </a:p>
        </p:txBody>
      </p:sp>
      <p:pic>
        <p:nvPicPr>
          <p:cNvPr descr="dos-c9863be676998a6770ea50ed285154c920241015141900.jpeg" id="401" name="Google Shape;401;p20"/>
          <p:cNvPicPr preferRelativeResize="0"/>
          <p:nvPr/>
        </p:nvPicPr>
        <p:blipFill rotWithShape="1">
          <a:blip r:embed="rId5">
            <a:alphaModFix/>
          </a:blip>
          <a:srcRect b="0" l="0" r="0" t="0"/>
          <a:stretch/>
        </p:blipFill>
        <p:spPr>
          <a:xfrm>
            <a:off x="765485" y="4447358"/>
            <a:ext cx="5310000" cy="2528888"/>
          </a:xfrm>
          <a:prstGeom prst="rect">
            <a:avLst/>
          </a:prstGeom>
          <a:noFill/>
          <a:ln>
            <a:noFill/>
          </a:ln>
        </p:spPr>
      </p:pic>
      <p:sp>
        <p:nvSpPr>
          <p:cNvPr id="402" name="Google Shape;402;p20"/>
          <p:cNvSpPr/>
          <p:nvPr/>
        </p:nvSpPr>
        <p:spPr>
          <a:xfrm>
            <a:off x="1637812" y="6695591"/>
            <a:ext cx="3467588" cy="50193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000">
                <a:solidFill>
                  <a:schemeClr val="dk1"/>
                </a:solidFill>
                <a:latin typeface="Montserrat"/>
                <a:ea typeface="Montserrat"/>
                <a:cs typeface="Montserrat"/>
                <a:sym typeface="Montserrat"/>
              </a:rPr>
              <a:t>Euclidean Distance</a:t>
            </a:r>
            <a:endParaRPr/>
          </a:p>
        </p:txBody>
      </p:sp>
      <p:pic>
        <p:nvPicPr>
          <p:cNvPr descr="dos-d0faaa6adf7d2a0b981d677a25d1e09820241015142536.jpeg" id="403" name="Google Shape;403;p20"/>
          <p:cNvPicPr preferRelativeResize="0"/>
          <p:nvPr/>
        </p:nvPicPr>
        <p:blipFill rotWithShape="1">
          <a:blip r:embed="rId6">
            <a:alphaModFix/>
          </a:blip>
          <a:srcRect b="0" l="0" r="0" t="0"/>
          <a:stretch/>
        </p:blipFill>
        <p:spPr>
          <a:xfrm>
            <a:off x="5562600" y="4447358"/>
            <a:ext cx="5831108" cy="2532888"/>
          </a:xfrm>
          <a:prstGeom prst="rect">
            <a:avLst/>
          </a:prstGeom>
          <a:noFill/>
          <a:ln>
            <a:noFill/>
          </a:ln>
        </p:spPr>
      </p:pic>
      <p:sp>
        <p:nvSpPr>
          <p:cNvPr id="404" name="Google Shape;404;p20"/>
          <p:cNvSpPr/>
          <p:nvPr/>
        </p:nvSpPr>
        <p:spPr>
          <a:xfrm>
            <a:off x="6744360" y="6739338"/>
            <a:ext cx="346758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000">
                <a:solidFill>
                  <a:schemeClr val="dk1"/>
                </a:solidFill>
                <a:latin typeface="Montserrat"/>
                <a:ea typeface="Montserrat"/>
                <a:cs typeface="Montserrat"/>
                <a:sym typeface="Montserrat"/>
              </a:rPr>
              <a:t>Manhattan Distance</a:t>
            </a:r>
            <a:endParaRPr/>
          </a:p>
        </p:txBody>
      </p:sp>
      <p:sp>
        <p:nvSpPr>
          <p:cNvPr id="405" name="Google Shape;405;p20"/>
          <p:cNvSpPr/>
          <p:nvPr/>
        </p:nvSpPr>
        <p:spPr>
          <a:xfrm>
            <a:off x="11836089" y="6758950"/>
            <a:ext cx="3467588" cy="50193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000">
                <a:solidFill>
                  <a:schemeClr val="dk1"/>
                </a:solidFill>
                <a:latin typeface="Montserrat"/>
                <a:ea typeface="Montserrat"/>
                <a:cs typeface="Montserrat"/>
                <a:sym typeface="Montserrat"/>
              </a:rPr>
              <a:t>Minkowski Distance</a:t>
            </a:r>
            <a:endParaRPr/>
          </a:p>
        </p:txBody>
      </p:sp>
      <p:sp>
        <p:nvSpPr>
          <p:cNvPr id="406" name="Google Shape;406;p20"/>
          <p:cNvSpPr/>
          <p:nvPr/>
        </p:nvSpPr>
        <p:spPr>
          <a:xfrm>
            <a:off x="1256135" y="7365486"/>
            <a:ext cx="4306465" cy="1754326"/>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1800">
                <a:solidFill>
                  <a:schemeClr val="dk1"/>
                </a:solidFill>
                <a:latin typeface="Montserrat"/>
                <a:ea typeface="Montserrat"/>
                <a:cs typeface="Montserrat"/>
                <a:sym typeface="Montserrat"/>
              </a:rPr>
              <a:t>mengukur jarak garis lurus antara dua titik dalam ruang fitur. Ini adalah jenis jarak yang paling umum digunakan</a:t>
            </a:r>
            <a:endParaRPr sz="1800">
              <a:solidFill>
                <a:schemeClr val="dk1"/>
              </a:solidFill>
              <a:latin typeface="Montserrat"/>
              <a:ea typeface="Montserrat"/>
              <a:cs typeface="Montserrat"/>
              <a:sym typeface="Montserrat"/>
            </a:endParaRPr>
          </a:p>
        </p:txBody>
      </p:sp>
      <p:sp>
        <p:nvSpPr>
          <p:cNvPr id="407" name="Google Shape;407;p20"/>
          <p:cNvSpPr/>
          <p:nvPr/>
        </p:nvSpPr>
        <p:spPr>
          <a:xfrm>
            <a:off x="6362216" y="7365486"/>
            <a:ext cx="4306465" cy="133882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1800">
                <a:solidFill>
                  <a:schemeClr val="dk1"/>
                </a:solidFill>
                <a:latin typeface="Montserrat"/>
                <a:ea typeface="Montserrat"/>
                <a:cs typeface="Montserrat"/>
                <a:sym typeface="Montserrat"/>
              </a:rPr>
              <a:t>mengukur jarak berdasarkan jumlah perbedaan sepanjang sumbu koordinat. </a:t>
            </a:r>
            <a:endParaRPr/>
          </a:p>
        </p:txBody>
      </p:sp>
      <p:sp>
        <p:nvSpPr>
          <p:cNvPr id="408" name="Google Shape;408;p20"/>
          <p:cNvSpPr/>
          <p:nvPr/>
        </p:nvSpPr>
        <p:spPr>
          <a:xfrm>
            <a:off x="11468297" y="7365486"/>
            <a:ext cx="4306465" cy="133882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1800">
                <a:solidFill>
                  <a:schemeClr val="dk1"/>
                </a:solidFill>
                <a:latin typeface="Montserrat"/>
                <a:ea typeface="Montserrat"/>
                <a:cs typeface="Montserrat"/>
                <a:sym typeface="Montserrat"/>
              </a:rPr>
              <a:t>Generalisasi dari Euclidean dan Manhattan Distance yang bergantung pada parameter p. </a:t>
            </a:r>
            <a:endParaRPr/>
          </a:p>
        </p:txBody>
      </p:sp>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grpSp>
        <p:nvGrpSpPr>
          <p:cNvPr id="414" name="Google Shape;414;p21"/>
          <p:cNvGrpSpPr/>
          <p:nvPr/>
        </p:nvGrpSpPr>
        <p:grpSpPr>
          <a:xfrm>
            <a:off x="15238003" y="8290589"/>
            <a:ext cx="7523780" cy="7523780"/>
            <a:chOff x="0" y="0"/>
            <a:chExt cx="812800" cy="812800"/>
          </a:xfrm>
        </p:grpSpPr>
        <p:sp>
          <p:nvSpPr>
            <p:cNvPr id="415" name="Google Shape;415;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2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7" name="Google Shape;417;p21"/>
          <p:cNvGrpSpPr/>
          <p:nvPr/>
        </p:nvGrpSpPr>
        <p:grpSpPr>
          <a:xfrm>
            <a:off x="-3724222" y="-4507687"/>
            <a:ext cx="5924489" cy="5924489"/>
            <a:chOff x="0" y="0"/>
            <a:chExt cx="812800" cy="812800"/>
          </a:xfrm>
        </p:grpSpPr>
        <p:sp>
          <p:nvSpPr>
            <p:cNvPr id="418" name="Google Shape;418;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2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0" name="Google Shape;420;p21"/>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21"/>
          <p:cNvSpPr txBox="1"/>
          <p:nvPr/>
        </p:nvSpPr>
        <p:spPr>
          <a:xfrm>
            <a:off x="751417" y="1326523"/>
            <a:ext cx="17526000"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08377C"/>
                </a:solidFill>
                <a:latin typeface="Calibri"/>
                <a:ea typeface="Calibri"/>
                <a:cs typeface="Calibri"/>
                <a:sym typeface="Calibri"/>
              </a:rPr>
              <a:t>3. Bobot (</a:t>
            </a:r>
            <a:r>
              <a:rPr b="1" i="1" lang="en-US" sz="3200">
                <a:solidFill>
                  <a:srgbClr val="08377C"/>
                </a:solidFill>
                <a:latin typeface="Calibri"/>
                <a:ea typeface="Calibri"/>
                <a:cs typeface="Calibri"/>
                <a:sym typeface="Calibri"/>
              </a:rPr>
              <a:t>Weights</a:t>
            </a:r>
            <a:r>
              <a:rPr b="1" lang="en-US" sz="3200">
                <a:solidFill>
                  <a:srgbClr val="08377C"/>
                </a:solidFill>
                <a:latin typeface="Calibri"/>
                <a:ea typeface="Calibri"/>
                <a:cs typeface="Calibri"/>
                <a:sym typeface="Calibri"/>
              </a:rPr>
              <a:t>) (default = uniform)</a:t>
            </a:r>
            <a:endParaRPr/>
          </a:p>
        </p:txBody>
      </p:sp>
      <p:sp>
        <p:nvSpPr>
          <p:cNvPr id="422" name="Google Shape;422;p21"/>
          <p:cNvSpPr/>
          <p:nvPr/>
        </p:nvSpPr>
        <p:spPr>
          <a:xfrm>
            <a:off x="1143000" y="2045156"/>
            <a:ext cx="14961827" cy="784830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Bobot menentukan </a:t>
            </a:r>
            <a:r>
              <a:rPr b="1" lang="en-US" sz="2800" u="sng">
                <a:solidFill>
                  <a:schemeClr val="dk1"/>
                </a:solidFill>
                <a:latin typeface="Montserrat"/>
                <a:ea typeface="Montserrat"/>
                <a:cs typeface="Montserrat"/>
                <a:sym typeface="Montserrat"/>
              </a:rPr>
              <a:t>seberapa besar pengaruh setiap tetangga terdekat terhadap keputusan prediksi</a:t>
            </a:r>
            <a:r>
              <a:rPr lang="en-US" sz="2800">
                <a:solidFill>
                  <a:schemeClr val="dk1"/>
                </a:solidFill>
                <a:latin typeface="Montserrat"/>
                <a:ea typeface="Montserrat"/>
                <a:cs typeface="Montserrat"/>
                <a:sym typeface="Montserrat"/>
              </a:rPr>
              <a:t>. Bobot yang diberikan akan memengaruhi keputusan akhir pada proses pelatihan. Ada dua jenis bobot yang umum digunakan.</a:t>
            </a:r>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Uniform:</a:t>
            </a:r>
            <a:r>
              <a:rPr lang="en-US" sz="2800">
                <a:solidFill>
                  <a:schemeClr val="dk1"/>
                </a:solidFill>
                <a:latin typeface="Montserrat"/>
                <a:ea typeface="Montserrat"/>
                <a:cs typeface="Montserrat"/>
                <a:sym typeface="Montserrat"/>
              </a:rPr>
              <a:t> Setiap tetangga dianggap memiliki pengaruh yang sama dalam menentukan hasil prediksi. Ini berarti semua tetangga, tidak peduli seberapa dekat atau jauhnya, memberikan kontribusi yang sama terhadap keputusan akhir.</a:t>
            </a:r>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Distance:</a:t>
            </a:r>
            <a:r>
              <a:rPr lang="en-US" sz="2800">
                <a:solidFill>
                  <a:schemeClr val="dk1"/>
                </a:solidFill>
                <a:latin typeface="Montserrat"/>
                <a:ea typeface="Montserrat"/>
                <a:cs typeface="Montserrat"/>
                <a:sym typeface="Montserrat"/>
              </a:rPr>
              <a:t> Tetangga yang lebih dekat mendapatkan bobot lebih besar, artinya, tetangga yang lebih dekat akan memberikan kontribusi lebih signifikan terhadap keputusan prediksi. Bobot dihitung terbalik sebanding dengan jarak sehingga semakin dekat tetangga, semakin besar pengaruhnya.</a:t>
            </a:r>
            <a:endParaRPr/>
          </a:p>
        </p:txBody>
      </p:sp>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grpSp>
        <p:nvGrpSpPr>
          <p:cNvPr id="428" name="Google Shape;428;p22"/>
          <p:cNvGrpSpPr/>
          <p:nvPr/>
        </p:nvGrpSpPr>
        <p:grpSpPr>
          <a:xfrm>
            <a:off x="15238003" y="8290589"/>
            <a:ext cx="7523780" cy="7523780"/>
            <a:chOff x="0" y="0"/>
            <a:chExt cx="812800" cy="812800"/>
          </a:xfrm>
        </p:grpSpPr>
        <p:sp>
          <p:nvSpPr>
            <p:cNvPr id="429" name="Google Shape;429;p2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0" name="Google Shape;430;p2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31" name="Google Shape;431;p22"/>
          <p:cNvGrpSpPr/>
          <p:nvPr/>
        </p:nvGrpSpPr>
        <p:grpSpPr>
          <a:xfrm>
            <a:off x="-3724222" y="-4507687"/>
            <a:ext cx="5924489" cy="5924489"/>
            <a:chOff x="0" y="0"/>
            <a:chExt cx="812800" cy="812800"/>
          </a:xfrm>
        </p:grpSpPr>
        <p:sp>
          <p:nvSpPr>
            <p:cNvPr id="432" name="Google Shape;432;p2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2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34" name="Google Shape;434;p22"/>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22"/>
          <p:cNvSpPr txBox="1"/>
          <p:nvPr/>
        </p:nvSpPr>
        <p:spPr>
          <a:xfrm>
            <a:off x="751417" y="1326523"/>
            <a:ext cx="17526000"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08377C"/>
                </a:solidFill>
                <a:latin typeface="Montserrat"/>
                <a:ea typeface="Montserrat"/>
                <a:cs typeface="Montserrat"/>
                <a:sym typeface="Montserrat"/>
              </a:rPr>
              <a:t>4. Panjang Jarak (Distance Metric Parameters)</a:t>
            </a:r>
            <a:endParaRPr/>
          </a:p>
        </p:txBody>
      </p:sp>
      <p:sp>
        <p:nvSpPr>
          <p:cNvPr id="436" name="Google Shape;436;p22"/>
          <p:cNvSpPr/>
          <p:nvPr/>
        </p:nvSpPr>
        <p:spPr>
          <a:xfrm>
            <a:off x="1143000" y="1764330"/>
            <a:ext cx="14961827" cy="2604816"/>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Beberapa metrik jarak menggunakan parameter tambahan untuk mengatur cara perhitungan jarak. Ini memungkinkan penyesuaian metrik jarak dengan karakteristik data. Salah satu parameter yang sering digunakan adalah parameter p (</a:t>
            </a:r>
            <a:r>
              <a:rPr i="1" lang="en-US" sz="2800">
                <a:solidFill>
                  <a:schemeClr val="dk1"/>
                </a:solidFill>
                <a:latin typeface="Montserrat"/>
                <a:ea typeface="Montserrat"/>
                <a:cs typeface="Montserrat"/>
                <a:sym typeface="Montserrat"/>
              </a:rPr>
              <a:t>power parameter</a:t>
            </a:r>
            <a:r>
              <a:rPr lang="en-US" sz="2800">
                <a:solidFill>
                  <a:schemeClr val="dk1"/>
                </a:solidFill>
                <a:latin typeface="Montserrat"/>
                <a:ea typeface="Montserrat"/>
                <a:cs typeface="Montserrat"/>
                <a:sym typeface="Montserrat"/>
              </a:rPr>
              <a:t>) dalam </a:t>
            </a:r>
            <a:r>
              <a:rPr i="1" lang="en-US" sz="2800">
                <a:solidFill>
                  <a:schemeClr val="dk1"/>
                </a:solidFill>
                <a:latin typeface="Montserrat"/>
                <a:ea typeface="Montserrat"/>
                <a:cs typeface="Montserrat"/>
                <a:sym typeface="Montserrat"/>
              </a:rPr>
              <a:t>minkowski distance.</a:t>
            </a:r>
            <a:endParaRPr sz="2800">
              <a:solidFill>
                <a:schemeClr val="dk1"/>
              </a:solidFill>
              <a:latin typeface="Montserrat"/>
              <a:ea typeface="Montserrat"/>
              <a:cs typeface="Montserrat"/>
              <a:sym typeface="Montserrat"/>
            </a:endParaRPr>
          </a:p>
        </p:txBody>
      </p:sp>
      <p:sp>
        <p:nvSpPr>
          <p:cNvPr id="437" name="Google Shape;437;p22"/>
          <p:cNvSpPr txBox="1"/>
          <p:nvPr/>
        </p:nvSpPr>
        <p:spPr>
          <a:xfrm>
            <a:off x="751417" y="4837290"/>
            <a:ext cx="17526000"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08377C"/>
                </a:solidFill>
                <a:latin typeface="Montserrat"/>
                <a:ea typeface="Montserrat"/>
                <a:cs typeface="Montserrat"/>
                <a:sym typeface="Montserrat"/>
              </a:rPr>
              <a:t>5. Normalisasi Data</a:t>
            </a:r>
            <a:endParaRPr/>
          </a:p>
        </p:txBody>
      </p:sp>
      <p:sp>
        <p:nvSpPr>
          <p:cNvPr id="438" name="Google Shape;438;p22"/>
          <p:cNvSpPr/>
          <p:nvPr/>
        </p:nvSpPr>
        <p:spPr>
          <a:xfrm>
            <a:off x="1142999" y="5284578"/>
            <a:ext cx="14961827" cy="397031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Normalisasi adalah proses menyesuaikan skala fitur sehingga fitur berada dalam rentang yang serupa agar perhitungan jarak menjadi adil, yang membantu meningkatkan akurasi model KNN.</a:t>
            </a:r>
            <a:endParaRPr/>
          </a:p>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Ada dua teknik umum normalisasi data pada algoritma KNN sebagai berikut.</a:t>
            </a:r>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Standardisasi</a:t>
            </a:r>
            <a:endParaRPr sz="2800">
              <a:solidFill>
                <a:schemeClr val="dk1"/>
              </a:solidFill>
              <a:latin typeface="Montserrat"/>
              <a:ea typeface="Montserrat"/>
              <a:cs typeface="Montserrat"/>
              <a:sym typeface="Montserrat"/>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Normalisasi Min-Max</a:t>
            </a:r>
            <a:endParaRPr sz="2800">
              <a:solidFill>
                <a:schemeClr val="dk1"/>
              </a:solidFill>
              <a:latin typeface="Montserrat"/>
              <a:ea typeface="Montserrat"/>
              <a:cs typeface="Montserrat"/>
              <a:sym typeface="Montserrat"/>
            </a:endParaRPr>
          </a:p>
        </p:txBody>
      </p:sp>
    </p:spTree>
  </p:cSld>
  <p:clrMapOvr>
    <a:masterClrMapping/>
  </p:clrMapOvr>
  <p:transition spd="slow">
    <p:push/>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grpSp>
        <p:nvGrpSpPr>
          <p:cNvPr id="444" name="Google Shape;444;p23"/>
          <p:cNvGrpSpPr/>
          <p:nvPr/>
        </p:nvGrpSpPr>
        <p:grpSpPr>
          <a:xfrm>
            <a:off x="15238003" y="8290589"/>
            <a:ext cx="7523780" cy="7523780"/>
            <a:chOff x="0" y="0"/>
            <a:chExt cx="812800" cy="812800"/>
          </a:xfrm>
        </p:grpSpPr>
        <p:sp>
          <p:nvSpPr>
            <p:cNvPr id="445" name="Google Shape;445;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2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47" name="Google Shape;447;p23"/>
          <p:cNvGrpSpPr/>
          <p:nvPr/>
        </p:nvGrpSpPr>
        <p:grpSpPr>
          <a:xfrm>
            <a:off x="-3724222" y="-4507687"/>
            <a:ext cx="5924489" cy="5924489"/>
            <a:chOff x="0" y="0"/>
            <a:chExt cx="812800" cy="812800"/>
          </a:xfrm>
        </p:grpSpPr>
        <p:sp>
          <p:nvSpPr>
            <p:cNvPr id="448" name="Google Shape;448;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2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50" name="Google Shape;450;p23"/>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23"/>
          <p:cNvSpPr txBox="1"/>
          <p:nvPr/>
        </p:nvSpPr>
        <p:spPr>
          <a:xfrm>
            <a:off x="751417" y="1326523"/>
            <a:ext cx="17526000"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08377C"/>
                </a:solidFill>
                <a:latin typeface="Montserrat"/>
                <a:ea typeface="Montserrat"/>
                <a:cs typeface="Montserrat"/>
                <a:sym typeface="Montserrat"/>
              </a:rPr>
              <a:t>5. Algoritma Pencarian Tetangga (default = auto)</a:t>
            </a:r>
            <a:endParaRPr/>
          </a:p>
        </p:txBody>
      </p:sp>
      <p:sp>
        <p:nvSpPr>
          <p:cNvPr id="452" name="Google Shape;452;p23"/>
          <p:cNvSpPr/>
          <p:nvPr/>
        </p:nvSpPr>
        <p:spPr>
          <a:xfrm>
            <a:off x="1143000" y="2028601"/>
            <a:ext cx="14961827" cy="590931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Memilih algoritma pencarian yang tepat dapat memengaruhi kecepatan dan efisiensi model KNN, terutama untuk dataset besar atau dengan banyak fitur.</a:t>
            </a:r>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Brute Force:</a:t>
            </a:r>
            <a:r>
              <a:rPr lang="en-US" sz="2800">
                <a:solidFill>
                  <a:schemeClr val="dk1"/>
                </a:solidFill>
                <a:latin typeface="Montserrat"/>
                <a:ea typeface="Montserrat"/>
                <a:cs typeface="Montserrat"/>
                <a:sym typeface="Montserrat"/>
              </a:rPr>
              <a:t> menghitung jarak antara data baru dan setiap titik dalam dataset pelatihan secara langsung. Ini bisa sangat lambat untuk dataset besar karena kompleksitas waktu yang tinggi.</a:t>
            </a:r>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KD-Tree:</a:t>
            </a:r>
            <a:r>
              <a:rPr lang="en-US" sz="2800">
                <a:solidFill>
                  <a:schemeClr val="dk1"/>
                </a:solidFill>
                <a:latin typeface="Montserrat"/>
                <a:ea typeface="Montserrat"/>
                <a:cs typeface="Montserrat"/>
                <a:sym typeface="Montserrat"/>
              </a:rPr>
              <a:t> struktur data untuk mempercepat pencarian tetangga terdekat.</a:t>
            </a:r>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Ball-Tree:</a:t>
            </a:r>
            <a:r>
              <a:rPr lang="en-US" sz="2800">
                <a:solidFill>
                  <a:schemeClr val="dk1"/>
                </a:solidFill>
                <a:latin typeface="Montserrat"/>
                <a:ea typeface="Montserrat"/>
                <a:cs typeface="Montserrat"/>
                <a:sym typeface="Montserrat"/>
              </a:rPr>
              <a:t> Struktur data yang membagi ruang fitur menggunakan volume berbasis partisi, cocok untuk data berdimensi tinggi dengan performa pencarian yang lebih baik dibandingkan KD-Tree.</a:t>
            </a:r>
            <a:endParaRPr/>
          </a:p>
        </p:txBody>
      </p:sp>
    </p:spTree>
  </p:cSld>
  <p:clrMapOvr>
    <a:masterClrMapping/>
  </p:clrMapOvr>
  <p:transition spd="slow">
    <p:push/>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grpSp>
        <p:nvGrpSpPr>
          <p:cNvPr id="458" name="Google Shape;458;p24"/>
          <p:cNvGrpSpPr/>
          <p:nvPr/>
        </p:nvGrpSpPr>
        <p:grpSpPr>
          <a:xfrm>
            <a:off x="17016492" y="-180826"/>
            <a:ext cx="1271508" cy="10467826"/>
            <a:chOff x="0" y="-47625"/>
            <a:chExt cx="334883" cy="2756958"/>
          </a:xfrm>
        </p:grpSpPr>
        <p:sp>
          <p:nvSpPr>
            <p:cNvPr id="459" name="Google Shape;459;p24"/>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24"/>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1" name="Google Shape;461;p24"/>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2" name="Google Shape;462;p24"/>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463" name="Google Shape;463;p24"/>
          <p:cNvSpPr txBox="1"/>
          <p:nvPr/>
        </p:nvSpPr>
        <p:spPr>
          <a:xfrm>
            <a:off x="4152286" y="1328699"/>
            <a:ext cx="9983428" cy="897682"/>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Cara Kerja KNN?</a:t>
            </a:r>
            <a:endParaRPr/>
          </a:p>
        </p:txBody>
      </p:sp>
      <p:pic>
        <p:nvPicPr>
          <p:cNvPr descr="dos-2d4c20e4889463df266e8e32368b1fd320241015141900.jpeg" id="464" name="Google Shape;464;p24"/>
          <p:cNvPicPr preferRelativeResize="0"/>
          <p:nvPr/>
        </p:nvPicPr>
        <p:blipFill rotWithShape="1">
          <a:blip r:embed="rId4">
            <a:alphaModFix/>
          </a:blip>
          <a:srcRect b="0" l="0" r="0" t="19539"/>
          <a:stretch/>
        </p:blipFill>
        <p:spPr>
          <a:xfrm>
            <a:off x="1905000" y="2933700"/>
            <a:ext cx="12945267" cy="5943600"/>
          </a:xfrm>
          <a:prstGeom prst="rect">
            <a:avLst/>
          </a:prstGeom>
          <a:noFill/>
          <a:ln>
            <a:noFill/>
          </a:ln>
        </p:spPr>
      </p:pic>
      <p:sp>
        <p:nvSpPr>
          <p:cNvPr id="465" name="Google Shape;465;p24"/>
          <p:cNvSpPr txBox="1"/>
          <p:nvPr/>
        </p:nvSpPr>
        <p:spPr>
          <a:xfrm>
            <a:off x="1905000" y="8828267"/>
            <a:ext cx="1371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Montserrat"/>
                <a:ea typeface="Montserrat"/>
                <a:cs typeface="Montserrat"/>
                <a:sym typeface="Montserrat"/>
              </a:rPr>
              <a:t>*Cara kerja KNN bisa dilihat di file excel yang sudah dilampirkan</a:t>
            </a:r>
            <a:endParaRPr i="1" sz="1800">
              <a:solidFill>
                <a:schemeClr val="dk1"/>
              </a:solidFill>
              <a:latin typeface="Montserrat"/>
              <a:ea typeface="Montserrat"/>
              <a:cs typeface="Montserrat"/>
              <a:sym typeface="Montserrat"/>
            </a:endParaRPr>
          </a:p>
        </p:txBody>
      </p:sp>
    </p:spTree>
  </p:cSld>
  <p:clrMapOvr>
    <a:masterClrMapping/>
  </p:clrMapOvr>
  <p:transition spd="slow">
    <p:push/>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grpSp>
        <p:nvGrpSpPr>
          <p:cNvPr id="471" name="Google Shape;471;p25"/>
          <p:cNvGrpSpPr/>
          <p:nvPr/>
        </p:nvGrpSpPr>
        <p:grpSpPr>
          <a:xfrm>
            <a:off x="17016492" y="-180826"/>
            <a:ext cx="1271508" cy="10467826"/>
            <a:chOff x="0" y="-47625"/>
            <a:chExt cx="334883" cy="2756958"/>
          </a:xfrm>
        </p:grpSpPr>
        <p:sp>
          <p:nvSpPr>
            <p:cNvPr id="472" name="Google Shape;472;p25"/>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3" name="Google Shape;473;p25"/>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4" name="Google Shape;474;p25"/>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 name="Google Shape;475;p25"/>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476" name="Google Shape;476;p25"/>
          <p:cNvSpPr txBox="1"/>
          <p:nvPr/>
        </p:nvSpPr>
        <p:spPr>
          <a:xfrm>
            <a:off x="4152286" y="1328699"/>
            <a:ext cx="9983428" cy="897682"/>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Cara Kerja KNN?</a:t>
            </a:r>
            <a:endParaRPr/>
          </a:p>
        </p:txBody>
      </p:sp>
      <p:pic>
        <p:nvPicPr>
          <p:cNvPr descr="dos-2d4c20e4889463df266e8e32368b1fd320241015141900.jpeg" id="477" name="Google Shape;477;p25"/>
          <p:cNvPicPr preferRelativeResize="0"/>
          <p:nvPr/>
        </p:nvPicPr>
        <p:blipFill rotWithShape="1">
          <a:blip r:embed="rId4">
            <a:alphaModFix/>
          </a:blip>
          <a:srcRect b="0" l="0" r="0" t="19539"/>
          <a:stretch/>
        </p:blipFill>
        <p:spPr>
          <a:xfrm>
            <a:off x="1908879" y="3156488"/>
            <a:ext cx="5867400" cy="2693917"/>
          </a:xfrm>
          <a:prstGeom prst="rect">
            <a:avLst/>
          </a:prstGeom>
          <a:noFill/>
          <a:ln>
            <a:noFill/>
          </a:ln>
        </p:spPr>
      </p:pic>
      <p:pic>
        <p:nvPicPr>
          <p:cNvPr descr="dos-08b36051633c21ba24c38e8001b3c73d20241015141900.jpeg" id="478" name="Google Shape;478;p25"/>
          <p:cNvPicPr preferRelativeResize="0"/>
          <p:nvPr/>
        </p:nvPicPr>
        <p:blipFill rotWithShape="1">
          <a:blip r:embed="rId5">
            <a:alphaModFix/>
          </a:blip>
          <a:srcRect b="0" l="15979" r="17021" t="0"/>
          <a:stretch/>
        </p:blipFill>
        <p:spPr>
          <a:xfrm>
            <a:off x="8458200" y="3476033"/>
            <a:ext cx="5122593" cy="6761632"/>
          </a:xfrm>
          <a:prstGeom prst="rect">
            <a:avLst/>
          </a:prstGeom>
          <a:noFill/>
          <a:ln>
            <a:noFill/>
          </a:ln>
        </p:spPr>
      </p:pic>
      <p:cxnSp>
        <p:nvCxnSpPr>
          <p:cNvPr id="479" name="Google Shape;479;p25"/>
          <p:cNvCxnSpPr>
            <a:endCxn id="478" idx="1"/>
          </p:cNvCxnSpPr>
          <p:nvPr/>
        </p:nvCxnSpPr>
        <p:spPr>
          <a:xfrm>
            <a:off x="5261700" y="5382049"/>
            <a:ext cx="3196500" cy="1474800"/>
          </a:xfrm>
          <a:prstGeom prst="curvedConnector3">
            <a:avLst>
              <a:gd fmla="val 50000" name="adj1"/>
            </a:avLst>
          </a:prstGeom>
          <a:noFill/>
          <a:ln cap="flat" cmpd="sng" w="38100">
            <a:solidFill>
              <a:schemeClr val="accent1"/>
            </a:solidFill>
            <a:prstDash val="solid"/>
            <a:round/>
            <a:headEnd len="sm" w="sm" type="none"/>
            <a:tailEnd len="med" w="med" type="triangle"/>
          </a:ln>
          <a:effectLst>
            <a:outerShdw blurRad="40000" rotWithShape="0" dir="5400000" dist="23000">
              <a:srgbClr val="000000">
                <a:alpha val="34901"/>
              </a:srgbClr>
            </a:outerShdw>
          </a:effectLst>
        </p:spPr>
      </p:cxnSp>
      <p:sp>
        <p:nvSpPr>
          <p:cNvPr id="480" name="Google Shape;480;p25"/>
          <p:cNvSpPr/>
          <p:nvPr/>
        </p:nvSpPr>
        <p:spPr>
          <a:xfrm>
            <a:off x="7119982" y="2512436"/>
            <a:ext cx="7799027" cy="963597"/>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en-US" sz="2000">
                <a:solidFill>
                  <a:schemeClr val="dk1"/>
                </a:solidFill>
                <a:latin typeface="Montserrat"/>
                <a:ea typeface="Montserrat"/>
                <a:cs typeface="Montserrat"/>
                <a:sym typeface="Montserrat"/>
              </a:rPr>
              <a:t>Contohnya,</a:t>
            </a:r>
            <a:r>
              <a:rPr b="1" lang="en-US" sz="2000">
                <a:solidFill>
                  <a:schemeClr val="dk1"/>
                </a:solidFill>
                <a:latin typeface="Montserrat"/>
                <a:ea typeface="Montserrat"/>
                <a:cs typeface="Montserrat"/>
                <a:sym typeface="Montserrat"/>
              </a:rPr>
              <a:t> </a:t>
            </a:r>
            <a:r>
              <a:rPr lang="en-US" sz="2000">
                <a:solidFill>
                  <a:schemeClr val="dk1"/>
                </a:solidFill>
                <a:latin typeface="Montserrat"/>
                <a:ea typeface="Montserrat"/>
                <a:cs typeface="Montserrat"/>
                <a:sym typeface="Montserrat"/>
              </a:rPr>
              <a:t>jika K = 3, KNN akan memilih tiga data yang paling dekat dengan data baru.</a:t>
            </a:r>
            <a:endParaRPr/>
          </a:p>
        </p:txBody>
      </p:sp>
    </p:spTree>
  </p:cSld>
  <p:clrMapOvr>
    <a:masterClrMapping/>
  </p:clrMapOvr>
  <p:transition spd="slow">
    <p:push/>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grpSp>
        <p:nvGrpSpPr>
          <p:cNvPr id="486" name="Google Shape;486;p26"/>
          <p:cNvGrpSpPr/>
          <p:nvPr/>
        </p:nvGrpSpPr>
        <p:grpSpPr>
          <a:xfrm>
            <a:off x="17016492" y="-180826"/>
            <a:ext cx="1271508" cy="10467826"/>
            <a:chOff x="0" y="-47625"/>
            <a:chExt cx="334883" cy="2756958"/>
          </a:xfrm>
        </p:grpSpPr>
        <p:sp>
          <p:nvSpPr>
            <p:cNvPr id="487" name="Google Shape;487;p26"/>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26"/>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9" name="Google Shape;489;p26"/>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0" name="Google Shape;490;p26"/>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491" name="Google Shape;491;p26"/>
          <p:cNvSpPr txBox="1"/>
          <p:nvPr/>
        </p:nvSpPr>
        <p:spPr>
          <a:xfrm>
            <a:off x="2819400" y="1333500"/>
            <a:ext cx="11468714" cy="1795363"/>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Kelebihan dan Kekurangan KNN?</a:t>
            </a:r>
            <a:endParaRPr/>
          </a:p>
        </p:txBody>
      </p:sp>
      <p:graphicFrame>
        <p:nvGraphicFramePr>
          <p:cNvPr id="492" name="Google Shape;492;p26"/>
          <p:cNvGraphicFramePr/>
          <p:nvPr/>
        </p:nvGraphicFramePr>
        <p:xfrm>
          <a:off x="2362200" y="3390900"/>
          <a:ext cx="3000000" cy="3000000"/>
        </p:xfrm>
        <a:graphic>
          <a:graphicData uri="http://schemas.openxmlformats.org/drawingml/2006/table">
            <a:tbl>
              <a:tblPr bandRow="1" firstRow="1">
                <a:noFill/>
                <a:tableStyleId>{2C90F9C7-CA72-463E-B247-5019459E9078}</a:tableStyleId>
              </a:tblPr>
              <a:tblGrid>
                <a:gridCol w="6096000"/>
                <a:gridCol w="6096000"/>
              </a:tblGrid>
              <a:tr h="370850">
                <a:tc>
                  <a:txBody>
                    <a:bodyPr/>
                    <a:lstStyle/>
                    <a:p>
                      <a:pPr indent="0" lvl="0" marL="0" marR="0" rtl="0" algn="ctr">
                        <a:lnSpc>
                          <a:spcPct val="150000"/>
                        </a:lnSpc>
                        <a:spcBef>
                          <a:spcPts val="0"/>
                        </a:spcBef>
                        <a:spcAft>
                          <a:spcPts val="0"/>
                        </a:spcAft>
                        <a:buNone/>
                      </a:pPr>
                      <a:r>
                        <a:rPr b="1" lang="en-US" sz="2000" u="none" cap="none" strike="noStrike">
                          <a:latin typeface="Montserrat"/>
                          <a:ea typeface="Montserrat"/>
                          <a:cs typeface="Montserrat"/>
                          <a:sym typeface="Montserrat"/>
                        </a:rPr>
                        <a:t>Kelebihan </a:t>
                      </a:r>
                      <a:endParaRPr/>
                    </a:p>
                  </a:txBody>
                  <a:tcPr marT="45725" marB="45725" marR="91450" marL="91450"/>
                </a:tc>
                <a:tc>
                  <a:txBody>
                    <a:bodyPr/>
                    <a:lstStyle/>
                    <a:p>
                      <a:pPr indent="0" lvl="0" marL="0" marR="0" rtl="0" algn="ctr">
                        <a:lnSpc>
                          <a:spcPct val="150000"/>
                        </a:lnSpc>
                        <a:spcBef>
                          <a:spcPts val="0"/>
                        </a:spcBef>
                        <a:spcAft>
                          <a:spcPts val="0"/>
                        </a:spcAft>
                        <a:buNone/>
                      </a:pPr>
                      <a:r>
                        <a:rPr b="1" lang="en-US" sz="2000" u="none" cap="none" strike="noStrike">
                          <a:latin typeface="Montserrat"/>
                          <a:ea typeface="Montserrat"/>
                          <a:cs typeface="Montserrat"/>
                          <a:sym typeface="Montserrat"/>
                        </a:rPr>
                        <a:t>Kekurangan </a:t>
                      </a:r>
                      <a:endParaRPr/>
                    </a:p>
                  </a:txBody>
                  <a:tcPr marT="45725" marB="45725" marR="91450" marL="91450"/>
                </a:tc>
              </a:tr>
              <a:tr h="370850">
                <a:tc>
                  <a:txBody>
                    <a:bodyPr/>
                    <a:lstStyle/>
                    <a:p>
                      <a:pPr indent="-285750" lvl="0" marL="285750" marR="0" rtl="0" algn="l">
                        <a:lnSpc>
                          <a:spcPct val="150000"/>
                        </a:lnSpc>
                        <a:spcBef>
                          <a:spcPts val="0"/>
                        </a:spcBef>
                        <a:spcAft>
                          <a:spcPts val="0"/>
                        </a:spcAft>
                        <a:buClr>
                          <a:schemeClr val="dk1"/>
                        </a:buClr>
                        <a:buSzPts val="1800"/>
                        <a:buFont typeface="Arial"/>
                        <a:buChar char="•"/>
                      </a:pPr>
                      <a:r>
                        <a:rPr b="0" lang="en-US" sz="1800" u="none" cap="none" strike="noStrike">
                          <a:latin typeface="Montserrat"/>
                          <a:ea typeface="Montserrat"/>
                          <a:cs typeface="Montserrat"/>
                          <a:sym typeface="Montserrat"/>
                        </a:rPr>
                        <a:t>Simpel dan Intuitif: mudah dipahami dan diimplementasikan tanpa banyak asumsi.</a:t>
                      </a:r>
                      <a:endParaRPr/>
                    </a:p>
                  </a:txBody>
                  <a:tcPr marT="45725" marB="45725" marR="91450" marL="91450"/>
                </a:tc>
                <a:tc>
                  <a:txBody>
                    <a:bodyPr/>
                    <a:lstStyle/>
                    <a:p>
                      <a:pPr indent="-285750" lvl="0" marL="285750" marR="0" rtl="0" algn="l">
                        <a:lnSpc>
                          <a:spcPct val="150000"/>
                        </a:lnSpc>
                        <a:spcBef>
                          <a:spcPts val="0"/>
                        </a:spcBef>
                        <a:spcAft>
                          <a:spcPts val="0"/>
                        </a:spcAft>
                        <a:buClr>
                          <a:schemeClr val="dk1"/>
                        </a:buClr>
                        <a:buSzPts val="1800"/>
                        <a:buFont typeface="Arial"/>
                        <a:buChar char="•"/>
                      </a:pPr>
                      <a:r>
                        <a:rPr b="0" lang="en-US" sz="1800" u="none" cap="none" strike="noStrike">
                          <a:latin typeface="Montserrat"/>
                          <a:ea typeface="Montserrat"/>
                          <a:cs typeface="Montserrat"/>
                          <a:sym typeface="Montserrat"/>
                        </a:rPr>
                        <a:t>Komputasi Berat untuk Dataset Besar: perhitungan jarak untuk setiap prediksi membuat KNN lambat pada dataset besar.</a:t>
                      </a:r>
                      <a:endParaRPr/>
                    </a:p>
                  </a:txBody>
                  <a:tcPr marT="45725" marB="45725" marR="91450" marL="91450"/>
                </a:tc>
              </a:tr>
              <a:tr h="370850">
                <a:tc>
                  <a:txBody>
                    <a:bodyPr/>
                    <a:lstStyle/>
                    <a:p>
                      <a:pPr indent="-285750" lvl="0" marL="285750" marR="0" rtl="0" algn="l">
                        <a:lnSpc>
                          <a:spcPct val="150000"/>
                        </a:lnSpc>
                        <a:spcBef>
                          <a:spcPts val="0"/>
                        </a:spcBef>
                        <a:spcAft>
                          <a:spcPts val="0"/>
                        </a:spcAft>
                        <a:buClr>
                          <a:schemeClr val="dk1"/>
                        </a:buClr>
                        <a:buSzPts val="1800"/>
                        <a:buFont typeface="Arial"/>
                        <a:buChar char="•"/>
                      </a:pPr>
                      <a:r>
                        <a:rPr b="0" lang="en-US" sz="1800" u="none" cap="none" strike="noStrike">
                          <a:latin typeface="Montserrat"/>
                          <a:ea typeface="Montserrat"/>
                          <a:cs typeface="Montserrat"/>
                          <a:sym typeface="Montserrat"/>
                        </a:rPr>
                        <a:t>Non-parametrik: tidak mengasumsikan distribusi data tertentu, cocok untuk berbagai jenis data.</a:t>
                      </a:r>
                      <a:endParaRPr/>
                    </a:p>
                  </a:txBody>
                  <a:tcPr marT="45725" marB="45725" marR="91450" marL="91450"/>
                </a:tc>
                <a:tc>
                  <a:txBody>
                    <a:bodyPr/>
                    <a:lstStyle/>
                    <a:p>
                      <a:pPr indent="-285750" lvl="0" marL="285750" marR="0" rtl="0" algn="l">
                        <a:lnSpc>
                          <a:spcPct val="150000"/>
                        </a:lnSpc>
                        <a:spcBef>
                          <a:spcPts val="0"/>
                        </a:spcBef>
                        <a:spcAft>
                          <a:spcPts val="0"/>
                        </a:spcAft>
                        <a:buClr>
                          <a:schemeClr val="dk1"/>
                        </a:buClr>
                        <a:buSzPts val="1800"/>
                        <a:buFont typeface="Arial"/>
                        <a:buChar char="•"/>
                      </a:pPr>
                      <a:r>
                        <a:rPr b="0" lang="en-US" sz="1800" u="none" cap="none" strike="noStrike">
                          <a:latin typeface="Montserrat"/>
                          <a:ea typeface="Montserrat"/>
                          <a:cs typeface="Montserrat"/>
                          <a:sym typeface="Montserrat"/>
                        </a:rPr>
                        <a:t>Sensitif terhadap Noise: data yang tidak sesuai atau fitur yang tidak relevan dapat menurunkan akurasi prediksi.</a:t>
                      </a:r>
                      <a:endParaRPr/>
                    </a:p>
                  </a:txBody>
                  <a:tcPr marT="45725" marB="45725" marR="91450" marL="91450"/>
                </a:tc>
              </a:tr>
              <a:tr h="370850">
                <a:tc>
                  <a:txBody>
                    <a:bodyPr/>
                    <a:lstStyle/>
                    <a:p>
                      <a:pPr indent="-285750" lvl="0" marL="285750" marR="0" rtl="0" algn="l">
                        <a:lnSpc>
                          <a:spcPct val="150000"/>
                        </a:lnSpc>
                        <a:spcBef>
                          <a:spcPts val="0"/>
                        </a:spcBef>
                        <a:spcAft>
                          <a:spcPts val="0"/>
                        </a:spcAft>
                        <a:buClr>
                          <a:schemeClr val="dk1"/>
                        </a:buClr>
                        <a:buSzPts val="1800"/>
                        <a:buFont typeface="Arial"/>
                        <a:buChar char="•"/>
                      </a:pPr>
                      <a:r>
                        <a:rPr b="0" lang="en-US" sz="1800" u="none" cap="none" strike="noStrike">
                          <a:latin typeface="Montserrat"/>
                          <a:ea typeface="Montserrat"/>
                          <a:cs typeface="Montserrat"/>
                          <a:sym typeface="Montserrat"/>
                        </a:rPr>
                        <a:t>Efektif untuk Dataset Kecil: ideal untuk dataset kecil dengan interpretasi langsung dan hasil cepat.</a:t>
                      </a:r>
                      <a:endParaRPr/>
                    </a:p>
                  </a:txBody>
                  <a:tcPr marT="45725" marB="45725" marR="91450" marL="91450"/>
                </a:tc>
                <a:tc>
                  <a:txBody>
                    <a:bodyPr/>
                    <a:lstStyle/>
                    <a:p>
                      <a:pPr indent="-285750" lvl="0" marL="285750" marR="0" rtl="0" algn="l">
                        <a:lnSpc>
                          <a:spcPct val="150000"/>
                        </a:lnSpc>
                        <a:spcBef>
                          <a:spcPts val="0"/>
                        </a:spcBef>
                        <a:spcAft>
                          <a:spcPts val="0"/>
                        </a:spcAft>
                        <a:buClr>
                          <a:schemeClr val="dk1"/>
                        </a:buClr>
                        <a:buSzPts val="1800"/>
                        <a:buFont typeface="Arial"/>
                        <a:buChar char="•"/>
                      </a:pPr>
                      <a:r>
                        <a:rPr b="0" lang="en-US" sz="1800" u="none" cap="none" strike="noStrike">
                          <a:latin typeface="Montserrat"/>
                          <a:ea typeface="Montserrat"/>
                          <a:cs typeface="Montserrat"/>
                          <a:sym typeface="Montserrat"/>
                        </a:rPr>
                        <a:t>Memori Intensif: membutuhkan penyimpanan seluruh dataset pelatihan dalam memori, meningkatkan kebutuhan memori pada dataset besar.</a:t>
                      </a:r>
                      <a:endParaRPr/>
                    </a:p>
                  </a:txBody>
                  <a:tcPr marT="45725" marB="45725" marR="91450" marL="91450"/>
                </a:tc>
              </a:tr>
            </a:tbl>
          </a:graphicData>
        </a:graphic>
      </p:graphicFrame>
    </p:spTree>
  </p:cSld>
  <p:clrMapOvr>
    <a:masterClrMapping/>
  </p:clrMapOvr>
  <p:transition spd="slow">
    <p:push/>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grpSp>
        <p:nvGrpSpPr>
          <p:cNvPr id="498" name="Google Shape;498;p27"/>
          <p:cNvGrpSpPr/>
          <p:nvPr/>
        </p:nvGrpSpPr>
        <p:grpSpPr>
          <a:xfrm>
            <a:off x="13955786" y="-435680"/>
            <a:ext cx="4632524" cy="10996052"/>
            <a:chOff x="0" y="-47625"/>
            <a:chExt cx="1220089" cy="2896080"/>
          </a:xfrm>
        </p:grpSpPr>
        <p:sp>
          <p:nvSpPr>
            <p:cNvPr id="499" name="Google Shape;499;p27"/>
            <p:cNvSpPr/>
            <p:nvPr/>
          </p:nvSpPr>
          <p:spPr>
            <a:xfrm>
              <a:off x="0" y="0"/>
              <a:ext cx="1220089" cy="2848455"/>
            </a:xfrm>
            <a:custGeom>
              <a:rect b="b" l="l" r="r" t="t"/>
              <a:pathLst>
                <a:path extrusionOk="0" h="2848455" w="1220089">
                  <a:moveTo>
                    <a:pt x="0" y="0"/>
                  </a:moveTo>
                  <a:lnTo>
                    <a:pt x="1220089" y="0"/>
                  </a:lnTo>
                  <a:lnTo>
                    <a:pt x="1220089" y="2848455"/>
                  </a:lnTo>
                  <a:lnTo>
                    <a:pt x="0" y="2848455"/>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p27"/>
            <p:cNvSpPr txBox="1"/>
            <p:nvPr/>
          </p:nvSpPr>
          <p:spPr>
            <a:xfrm>
              <a:off x="0" y="-47625"/>
              <a:ext cx="1220089" cy="289608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1" name="Google Shape;501;p27"/>
          <p:cNvSpPr/>
          <p:nvPr/>
        </p:nvSpPr>
        <p:spPr>
          <a:xfrm rot="-5400000">
            <a:off x="11952046" y="3265440"/>
            <a:ext cx="7715094" cy="3707614"/>
          </a:xfrm>
          <a:custGeom>
            <a:rect b="b" l="l" r="r" t="t"/>
            <a:pathLst>
              <a:path extrusionOk="0" h="3707614" w="7715094">
                <a:moveTo>
                  <a:pt x="0" y="0"/>
                </a:moveTo>
                <a:lnTo>
                  <a:pt x="7715094" y="0"/>
                </a:lnTo>
                <a:lnTo>
                  <a:pt x="7715094" y="3707614"/>
                </a:lnTo>
                <a:lnTo>
                  <a:pt x="0" y="3707614"/>
                </a:lnTo>
                <a:lnTo>
                  <a:pt x="0" y="0"/>
                </a:lnTo>
                <a:close/>
              </a:path>
            </a:pathLst>
          </a:custGeom>
          <a:blipFill rotWithShape="1">
            <a:blip r:embed="rId3">
              <a:alphaModFix/>
            </a:blip>
            <a:stretch>
              <a:fillRect b="0" l="0" r="0" t="-593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2" name="Google Shape;502;p27"/>
          <p:cNvSpPr txBox="1"/>
          <p:nvPr/>
        </p:nvSpPr>
        <p:spPr>
          <a:xfrm>
            <a:off x="1311647" y="4214179"/>
            <a:ext cx="8822953" cy="769441"/>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5035" u="none" strike="noStrike">
                <a:solidFill>
                  <a:srgbClr val="2A2E3A"/>
                </a:solidFill>
                <a:latin typeface="Montserrat"/>
                <a:ea typeface="Montserrat"/>
                <a:cs typeface="Montserrat"/>
                <a:sym typeface="Montserrat"/>
              </a:rPr>
              <a:t>Naïve Bayes</a:t>
            </a:r>
            <a:endParaRPr/>
          </a:p>
        </p:txBody>
      </p:sp>
      <p:sp>
        <p:nvSpPr>
          <p:cNvPr id="503" name="Google Shape;503;p27"/>
          <p:cNvSpPr txBox="1"/>
          <p:nvPr/>
        </p:nvSpPr>
        <p:spPr>
          <a:xfrm>
            <a:off x="1259652" y="5143500"/>
            <a:ext cx="10779948" cy="957634"/>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lang="en-US" sz="6792">
                <a:solidFill>
                  <a:srgbClr val="08377C"/>
                </a:solidFill>
                <a:latin typeface="Montserrat"/>
                <a:ea typeface="Montserrat"/>
                <a:cs typeface="Montserrat"/>
                <a:sym typeface="Montserrat"/>
              </a:rPr>
              <a:t>in Classification</a:t>
            </a:r>
            <a:endParaRPr b="1" sz="6792" u="none" strike="noStrike">
              <a:solidFill>
                <a:srgbClr val="08377C"/>
              </a:solidFill>
              <a:latin typeface="Montserrat"/>
              <a:ea typeface="Montserrat"/>
              <a:cs typeface="Montserrat"/>
              <a:sym typeface="Montserrat"/>
            </a:endParaRPr>
          </a:p>
        </p:txBody>
      </p:sp>
      <p:sp>
        <p:nvSpPr>
          <p:cNvPr id="504" name="Google Shape;504;p27"/>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4">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p27"/>
          <p:cNvSpPr txBox="1"/>
          <p:nvPr/>
        </p:nvSpPr>
        <p:spPr>
          <a:xfrm>
            <a:off x="14721159" y="4804810"/>
            <a:ext cx="2237609" cy="730456"/>
          </a:xfrm>
          <a:prstGeom prst="rect">
            <a:avLst/>
          </a:prstGeom>
          <a:noFill/>
          <a:ln>
            <a:noFill/>
          </a:ln>
        </p:spPr>
        <p:txBody>
          <a:bodyPr anchorCtr="0" anchor="t" bIns="0" lIns="0" spcFirstLastPara="1" rIns="0" wrap="square" tIns="0">
            <a:spAutoFit/>
          </a:bodyPr>
          <a:lstStyle/>
          <a:p>
            <a:pPr indent="0" lvl="0" marL="0" marR="0" rtl="0" algn="l">
              <a:lnSpc>
                <a:spcPct val="42789"/>
              </a:lnSpc>
              <a:spcBef>
                <a:spcPts val="0"/>
              </a:spcBef>
              <a:spcAft>
                <a:spcPts val="0"/>
              </a:spcAft>
              <a:buNone/>
            </a:pPr>
            <a:r>
              <a:rPr lang="en-US" sz="10000">
                <a:solidFill>
                  <a:schemeClr val="lt1"/>
                </a:solidFill>
                <a:latin typeface="Montserrat"/>
                <a:ea typeface="Montserrat"/>
                <a:cs typeface="Montserrat"/>
                <a:sym typeface="Montserrat"/>
              </a:rPr>
              <a:t>04</a:t>
            </a:r>
            <a:endParaRPr/>
          </a:p>
        </p:txBody>
      </p:sp>
    </p:spTree>
  </p:cSld>
  <p:clrMapOvr>
    <a:masterClrMapping/>
  </p:clrMapOvr>
  <p:transition spd="slow">
    <p:push/>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grpSp>
        <p:nvGrpSpPr>
          <p:cNvPr id="511" name="Google Shape;511;p28"/>
          <p:cNvGrpSpPr/>
          <p:nvPr/>
        </p:nvGrpSpPr>
        <p:grpSpPr>
          <a:xfrm>
            <a:off x="17016492" y="-180826"/>
            <a:ext cx="1271508" cy="10467826"/>
            <a:chOff x="0" y="-47625"/>
            <a:chExt cx="334883" cy="2756958"/>
          </a:xfrm>
        </p:grpSpPr>
        <p:sp>
          <p:nvSpPr>
            <p:cNvPr id="512" name="Google Shape;512;p28"/>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28"/>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4" name="Google Shape;514;p28"/>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5" name="Google Shape;515;p28"/>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516" name="Google Shape;516;p28"/>
          <p:cNvSpPr txBox="1"/>
          <p:nvPr/>
        </p:nvSpPr>
        <p:spPr>
          <a:xfrm>
            <a:off x="3874277" y="956467"/>
            <a:ext cx="9983428" cy="81734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What is Naïve Bayes</a:t>
            </a:r>
            <a:endParaRPr/>
          </a:p>
        </p:txBody>
      </p:sp>
      <p:pic>
        <p:nvPicPr>
          <p:cNvPr id="517" name="Google Shape;517;p28"/>
          <p:cNvPicPr preferRelativeResize="0"/>
          <p:nvPr/>
        </p:nvPicPr>
        <p:blipFill rotWithShape="1">
          <a:blip r:embed="rId4">
            <a:alphaModFix/>
          </a:blip>
          <a:srcRect b="13114" l="0" r="0" t="12628"/>
          <a:stretch/>
        </p:blipFill>
        <p:spPr>
          <a:xfrm>
            <a:off x="3657600" y="2491944"/>
            <a:ext cx="9983427" cy="3317522"/>
          </a:xfrm>
          <a:prstGeom prst="rect">
            <a:avLst/>
          </a:prstGeom>
          <a:noFill/>
          <a:ln>
            <a:noFill/>
          </a:ln>
        </p:spPr>
      </p:pic>
      <p:pic>
        <p:nvPicPr>
          <p:cNvPr id="518" name="Google Shape;518;p28"/>
          <p:cNvPicPr preferRelativeResize="0"/>
          <p:nvPr/>
        </p:nvPicPr>
        <p:blipFill rotWithShape="1">
          <a:blip r:embed="rId5">
            <a:alphaModFix/>
          </a:blip>
          <a:srcRect b="0" l="0" r="0" t="0"/>
          <a:stretch/>
        </p:blipFill>
        <p:spPr>
          <a:xfrm>
            <a:off x="7467600" y="5372100"/>
            <a:ext cx="2796782" cy="243861"/>
          </a:xfrm>
          <a:prstGeom prst="rect">
            <a:avLst/>
          </a:prstGeom>
          <a:noFill/>
          <a:ln>
            <a:noFill/>
          </a:ln>
        </p:spPr>
      </p:pic>
      <p:sp>
        <p:nvSpPr>
          <p:cNvPr id="519" name="Google Shape;519;p28"/>
          <p:cNvSpPr/>
          <p:nvPr/>
        </p:nvSpPr>
        <p:spPr>
          <a:xfrm>
            <a:off x="1447800" y="6527603"/>
            <a:ext cx="15029563" cy="20664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200"/>
              <a:buFont typeface="Montserrat"/>
              <a:buNone/>
            </a:pPr>
            <a:r>
              <a:rPr b="1" i="0" lang="en-US" sz="2200" u="sng" strike="noStrike">
                <a:solidFill>
                  <a:schemeClr val="dk1"/>
                </a:solidFill>
                <a:latin typeface="Montserrat"/>
                <a:ea typeface="Montserrat"/>
                <a:cs typeface="Montserrat"/>
                <a:sym typeface="Montserrat"/>
                <a:hlinkClick r:id="rId6">
                  <a:extLst>
                    <a:ext uri="{A12FA001-AC4F-418D-AE19-62706E023703}">
                      <ahyp:hlinkClr val="tx"/>
                    </a:ext>
                  </a:extLst>
                </a:hlinkClick>
              </a:rPr>
              <a:t>Naive Bayes</a:t>
            </a:r>
            <a:r>
              <a:rPr b="0" i="0" lang="en-US" sz="2200">
                <a:solidFill>
                  <a:schemeClr val="dk1"/>
                </a:solidFill>
                <a:latin typeface="Montserrat"/>
                <a:ea typeface="Montserrat"/>
                <a:cs typeface="Montserrat"/>
                <a:sym typeface="Montserrat"/>
              </a:rPr>
              <a:t> adalah algoritma klasifikasi berbasis probabilitas yang berdasarkan pada Teorema Bayes, </a:t>
            </a:r>
            <a:r>
              <a:rPr b="1" i="0" lang="en-US" sz="2200">
                <a:solidFill>
                  <a:schemeClr val="dk1"/>
                </a:solidFill>
                <a:latin typeface="Montserrat"/>
                <a:ea typeface="Montserrat"/>
                <a:cs typeface="Montserrat"/>
                <a:sym typeface="Montserrat"/>
              </a:rPr>
              <a:t>dengan asumsi bahwa fitur-fitur dalam data bersifat independen satu sama lain</a:t>
            </a:r>
            <a:r>
              <a:rPr b="0" i="0" lang="en-US" sz="2200">
                <a:solidFill>
                  <a:schemeClr val="dk1"/>
                </a:solidFill>
                <a:latin typeface="Montserrat"/>
                <a:ea typeface="Montserrat"/>
                <a:cs typeface="Montserrat"/>
                <a:sym typeface="Montserrat"/>
              </a:rPr>
              <a:t>. Namun, dalam praktiknya dapat menghasilkan model yang efektif. Naive Bayes menggunakan </a:t>
            </a:r>
            <a:r>
              <a:rPr b="1" i="0" lang="en-US" sz="2200">
                <a:solidFill>
                  <a:schemeClr val="dk1"/>
                </a:solidFill>
                <a:latin typeface="Montserrat"/>
                <a:ea typeface="Montserrat"/>
                <a:cs typeface="Montserrat"/>
                <a:sym typeface="Montserrat"/>
              </a:rPr>
              <a:t>prinsip probabilitas </a:t>
            </a:r>
            <a:r>
              <a:rPr b="0" i="0" lang="en-US" sz="2200">
                <a:solidFill>
                  <a:schemeClr val="dk1"/>
                </a:solidFill>
                <a:latin typeface="Montserrat"/>
                <a:ea typeface="Montserrat"/>
                <a:cs typeface="Montserrat"/>
                <a:sym typeface="Montserrat"/>
              </a:rPr>
              <a:t>untuk memprediksi kelas dari data baru berdasarkan pengamatan fitur yang ada.</a:t>
            </a:r>
            <a:endParaRPr sz="2200">
              <a:solidFill>
                <a:schemeClr val="dk1"/>
              </a:solidFill>
              <a:latin typeface="Montserrat"/>
              <a:ea typeface="Montserrat"/>
              <a:cs typeface="Montserrat"/>
              <a:sym typeface="Montserrat"/>
            </a:endParaRPr>
          </a:p>
        </p:txBody>
      </p:sp>
    </p:spTree>
  </p:cSld>
  <p:clrMapOvr>
    <a:masterClrMapping/>
  </p:clrMapOvr>
  <p:transition spd="slow">
    <p:push/>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grpSp>
        <p:nvGrpSpPr>
          <p:cNvPr id="525" name="Google Shape;525;p29"/>
          <p:cNvGrpSpPr/>
          <p:nvPr/>
        </p:nvGrpSpPr>
        <p:grpSpPr>
          <a:xfrm>
            <a:off x="17016492" y="-180826"/>
            <a:ext cx="1271508" cy="10467826"/>
            <a:chOff x="0" y="-47625"/>
            <a:chExt cx="334883" cy="2756958"/>
          </a:xfrm>
        </p:grpSpPr>
        <p:sp>
          <p:nvSpPr>
            <p:cNvPr id="526" name="Google Shape;526;p29"/>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7" name="Google Shape;527;p29"/>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28" name="Google Shape;528;p29"/>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9" name="Google Shape;529;p29"/>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530" name="Google Shape;530;p29"/>
          <p:cNvSpPr/>
          <p:nvPr/>
        </p:nvSpPr>
        <p:spPr>
          <a:xfrm>
            <a:off x="1257580" y="2171718"/>
            <a:ext cx="15452365" cy="155856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200"/>
              <a:buFont typeface="Montserrat"/>
              <a:buNone/>
            </a:pPr>
            <a:r>
              <a:rPr b="0" i="1" lang="en-US" sz="2200">
                <a:solidFill>
                  <a:schemeClr val="dk1"/>
                </a:solidFill>
                <a:latin typeface="Montserrat"/>
                <a:ea typeface="Montserrat"/>
                <a:cs typeface="Montserrat"/>
                <a:sym typeface="Montserrat"/>
              </a:rPr>
              <a:t>Naive Bayes bekerja dengan menghitung kemungkinan suatu data termasuk dalam kelas tertentu berdasarkan dua faktor: </a:t>
            </a:r>
            <a:r>
              <a:rPr b="1" i="1" lang="en-US" sz="2200">
                <a:solidFill>
                  <a:schemeClr val="dk1"/>
                </a:solidFill>
                <a:latin typeface="Montserrat"/>
                <a:ea typeface="Montserrat"/>
                <a:cs typeface="Montserrat"/>
                <a:sym typeface="Montserrat"/>
              </a:rPr>
              <a:t>kemungkinan awal dari setiap kelas (probabilitas prior) </a:t>
            </a:r>
            <a:r>
              <a:rPr b="0" i="1" lang="en-US" sz="2200">
                <a:solidFill>
                  <a:schemeClr val="dk1"/>
                </a:solidFill>
                <a:latin typeface="Montserrat"/>
                <a:ea typeface="Montserrat"/>
                <a:cs typeface="Montserrat"/>
                <a:sym typeface="Montserrat"/>
              </a:rPr>
              <a:t>dan </a:t>
            </a:r>
            <a:r>
              <a:rPr b="1" i="1" lang="en-US" sz="2200">
                <a:solidFill>
                  <a:schemeClr val="dk1"/>
                </a:solidFill>
                <a:latin typeface="Montserrat"/>
                <a:ea typeface="Montserrat"/>
                <a:cs typeface="Montserrat"/>
                <a:sym typeface="Montserrat"/>
              </a:rPr>
              <a:t>kemungkinan fitur dalam data jika kelas tersebut benar (probabilitas likelihood). </a:t>
            </a:r>
            <a:endParaRPr b="1" i="1" sz="2200">
              <a:solidFill>
                <a:schemeClr val="dk1"/>
              </a:solidFill>
              <a:latin typeface="Montserrat"/>
              <a:ea typeface="Montserrat"/>
              <a:cs typeface="Montserrat"/>
              <a:sym typeface="Montserrat"/>
            </a:endParaRPr>
          </a:p>
        </p:txBody>
      </p:sp>
      <p:pic>
        <p:nvPicPr>
          <p:cNvPr id="531" name="Google Shape;531;p29"/>
          <p:cNvPicPr preferRelativeResize="0"/>
          <p:nvPr/>
        </p:nvPicPr>
        <p:blipFill rotWithShape="1">
          <a:blip r:embed="rId4">
            <a:alphaModFix/>
          </a:blip>
          <a:srcRect b="7318" l="0" r="0" t="8037"/>
          <a:stretch/>
        </p:blipFill>
        <p:spPr>
          <a:xfrm>
            <a:off x="1305655" y="4642129"/>
            <a:ext cx="8103456" cy="4724400"/>
          </a:xfrm>
          <a:prstGeom prst="rect">
            <a:avLst/>
          </a:prstGeom>
          <a:noFill/>
          <a:ln>
            <a:noFill/>
          </a:ln>
        </p:spPr>
      </p:pic>
      <p:pic>
        <p:nvPicPr>
          <p:cNvPr id="532" name="Google Shape;532;p29"/>
          <p:cNvPicPr preferRelativeResize="0"/>
          <p:nvPr/>
        </p:nvPicPr>
        <p:blipFill rotWithShape="1">
          <a:blip r:embed="rId5">
            <a:alphaModFix/>
          </a:blip>
          <a:srcRect b="0" l="0" r="0" t="0"/>
          <a:stretch/>
        </p:blipFill>
        <p:spPr>
          <a:xfrm>
            <a:off x="5105400" y="6210300"/>
            <a:ext cx="2796782" cy="243861"/>
          </a:xfrm>
          <a:prstGeom prst="rect">
            <a:avLst/>
          </a:prstGeom>
          <a:noFill/>
          <a:ln>
            <a:noFill/>
          </a:ln>
        </p:spPr>
      </p:pic>
      <p:sp>
        <p:nvSpPr>
          <p:cNvPr id="533" name="Google Shape;533;p29"/>
          <p:cNvSpPr txBox="1"/>
          <p:nvPr/>
        </p:nvSpPr>
        <p:spPr>
          <a:xfrm>
            <a:off x="3874277" y="956467"/>
            <a:ext cx="9983428" cy="81734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What is Naïve Bayes</a:t>
            </a:r>
            <a:endParaRPr/>
          </a:p>
        </p:txBody>
      </p:sp>
      <p:sp>
        <p:nvSpPr>
          <p:cNvPr id="534" name="Google Shape;534;p29"/>
          <p:cNvSpPr/>
          <p:nvPr/>
        </p:nvSpPr>
        <p:spPr>
          <a:xfrm>
            <a:off x="1305655" y="3915300"/>
            <a:ext cx="13781945" cy="541815"/>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200"/>
              <a:buFont typeface="Montserrat"/>
              <a:buNone/>
            </a:pPr>
            <a:r>
              <a:rPr b="0" i="0" lang="en-US" sz="2200">
                <a:solidFill>
                  <a:schemeClr val="dk1"/>
                </a:solidFill>
                <a:latin typeface="Montserrat"/>
                <a:ea typeface="Montserrat"/>
                <a:cs typeface="Montserrat"/>
                <a:sym typeface="Montserrat"/>
              </a:rPr>
              <a:t>Rumus untuk menghitung probabilitas posterior P(A∣B) dalam konteks Teorema Bayes:</a:t>
            </a:r>
            <a:endParaRPr b="1" i="1" sz="2200">
              <a:solidFill>
                <a:schemeClr val="dk1"/>
              </a:solidFill>
              <a:latin typeface="Montserrat"/>
              <a:ea typeface="Montserrat"/>
              <a:cs typeface="Montserrat"/>
              <a:sym typeface="Montserrat"/>
            </a:endParaRPr>
          </a:p>
        </p:txBody>
      </p:sp>
      <p:sp>
        <p:nvSpPr>
          <p:cNvPr id="535" name="Google Shape;535;p29"/>
          <p:cNvSpPr txBox="1"/>
          <p:nvPr/>
        </p:nvSpPr>
        <p:spPr>
          <a:xfrm>
            <a:off x="10210800" y="4642129"/>
            <a:ext cx="5715000" cy="1707519"/>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i="0" lang="en-US" sz="1800">
                <a:solidFill>
                  <a:schemeClr val="dk1"/>
                </a:solidFill>
                <a:latin typeface="Montserrat"/>
                <a:ea typeface="Montserrat"/>
                <a:cs typeface="Montserrat"/>
                <a:sym typeface="Montserrat"/>
              </a:rPr>
              <a:t>Setelah menghitung kemungkinan untuk setiap kelas, </a:t>
            </a:r>
            <a:r>
              <a:rPr b="1" i="0" lang="en-US" sz="1800">
                <a:solidFill>
                  <a:schemeClr val="dk1"/>
                </a:solidFill>
                <a:latin typeface="Montserrat"/>
                <a:ea typeface="Montserrat"/>
                <a:cs typeface="Montserrat"/>
                <a:sym typeface="Montserrat"/>
              </a:rPr>
              <a:t>model ini memilih kelas dengan kemungkinan tertinggi </a:t>
            </a:r>
            <a:r>
              <a:rPr i="0" lang="en-US" sz="1800">
                <a:solidFill>
                  <a:schemeClr val="dk1"/>
                </a:solidFill>
                <a:latin typeface="Montserrat"/>
                <a:ea typeface="Montserrat"/>
                <a:cs typeface="Montserrat"/>
                <a:sym typeface="Montserrat"/>
              </a:rPr>
              <a:t>sebagai hasil klasifikasi.</a:t>
            </a:r>
            <a:endParaRPr sz="1800">
              <a:solidFill>
                <a:schemeClr val="dk1"/>
              </a:solidFill>
              <a:latin typeface="Montserrat"/>
              <a:ea typeface="Montserrat"/>
              <a:cs typeface="Montserrat"/>
              <a:sym typeface="Montserrat"/>
            </a:endParaRPr>
          </a:p>
        </p:txBody>
      </p:sp>
      <p:sp>
        <p:nvSpPr>
          <p:cNvPr id="536" name="Google Shape;536;p29"/>
          <p:cNvSpPr/>
          <p:nvPr/>
        </p:nvSpPr>
        <p:spPr>
          <a:xfrm>
            <a:off x="8820944" y="5159188"/>
            <a:ext cx="646111" cy="533400"/>
          </a:xfrm>
          <a:prstGeom prst="rightArrow">
            <a:avLst>
              <a:gd fmla="val 50000" name="adj1"/>
              <a:gd fmla="val 50000" name="adj2"/>
            </a:avLst>
          </a:prstGeom>
          <a:solidFill>
            <a:schemeClr val="accent1">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537" name="Google Shape;537;p29"/>
          <p:cNvCxnSpPr/>
          <p:nvPr/>
        </p:nvCxnSpPr>
        <p:spPr>
          <a:xfrm>
            <a:off x="8820944" y="6819900"/>
            <a:ext cx="588167" cy="0"/>
          </a:xfrm>
          <a:prstGeom prst="straightConnector1">
            <a:avLst/>
          </a:prstGeom>
          <a:noFill/>
          <a:ln cap="flat" cmpd="sng" w="9525">
            <a:solidFill>
              <a:srgbClr val="4A7DBA"/>
            </a:solidFill>
            <a:prstDash val="solid"/>
            <a:round/>
            <a:headEnd len="sm" w="sm" type="none"/>
            <a:tailEnd len="med" w="med" type="triangle"/>
          </a:ln>
        </p:spPr>
      </p:cxnSp>
      <p:sp>
        <p:nvSpPr>
          <p:cNvPr id="538" name="Google Shape;538;p29"/>
          <p:cNvSpPr txBox="1"/>
          <p:nvPr/>
        </p:nvSpPr>
        <p:spPr>
          <a:xfrm>
            <a:off x="9715658" y="6597023"/>
            <a:ext cx="6172200" cy="37907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i="1" lang="en-US" sz="1400">
                <a:solidFill>
                  <a:schemeClr val="dk1"/>
                </a:solidFill>
                <a:latin typeface="Montserrat"/>
                <a:ea typeface="Montserrat"/>
                <a:cs typeface="Montserrat"/>
                <a:sym typeface="Montserrat"/>
              </a:rPr>
              <a:t>Probabilitas kelas A diberikan fitur B (posterior), hasil akhir</a:t>
            </a:r>
            <a:endParaRPr i="1" sz="1400">
              <a:solidFill>
                <a:schemeClr val="dk1"/>
              </a:solidFill>
              <a:latin typeface="Montserrat"/>
              <a:ea typeface="Montserrat"/>
              <a:cs typeface="Montserrat"/>
              <a:sym typeface="Montserrat"/>
            </a:endParaRPr>
          </a:p>
        </p:txBody>
      </p:sp>
      <p:cxnSp>
        <p:nvCxnSpPr>
          <p:cNvPr id="539" name="Google Shape;539;p29"/>
          <p:cNvCxnSpPr/>
          <p:nvPr/>
        </p:nvCxnSpPr>
        <p:spPr>
          <a:xfrm>
            <a:off x="8820944" y="7480506"/>
            <a:ext cx="588167" cy="0"/>
          </a:xfrm>
          <a:prstGeom prst="straightConnector1">
            <a:avLst/>
          </a:prstGeom>
          <a:noFill/>
          <a:ln cap="flat" cmpd="sng" w="9525">
            <a:solidFill>
              <a:srgbClr val="4A7DBA"/>
            </a:solidFill>
            <a:prstDash val="solid"/>
            <a:round/>
            <a:headEnd len="sm" w="sm" type="none"/>
            <a:tailEnd len="med" w="med" type="triangle"/>
          </a:ln>
        </p:spPr>
      </p:cxnSp>
      <p:sp>
        <p:nvSpPr>
          <p:cNvPr id="540" name="Google Shape;540;p29"/>
          <p:cNvSpPr txBox="1"/>
          <p:nvPr/>
        </p:nvSpPr>
        <p:spPr>
          <a:xfrm>
            <a:off x="9715658" y="7103961"/>
            <a:ext cx="6619114" cy="702244"/>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i="1" lang="en-US" sz="1400">
                <a:solidFill>
                  <a:schemeClr val="dk1"/>
                </a:solidFill>
                <a:latin typeface="Montserrat"/>
                <a:ea typeface="Montserrat"/>
                <a:cs typeface="Montserrat"/>
                <a:sym typeface="Montserrat"/>
              </a:rPr>
              <a:t>Probabilitas fitur B diberikan kelas A (likelihood) atau Seberapa sering fitur muncul dalam kelas tertentu</a:t>
            </a:r>
            <a:endParaRPr i="1" sz="1400">
              <a:solidFill>
                <a:schemeClr val="dk1"/>
              </a:solidFill>
              <a:latin typeface="Montserrat"/>
              <a:ea typeface="Montserrat"/>
              <a:cs typeface="Montserrat"/>
              <a:sym typeface="Montserrat"/>
            </a:endParaRPr>
          </a:p>
        </p:txBody>
      </p:sp>
      <p:cxnSp>
        <p:nvCxnSpPr>
          <p:cNvPr id="541" name="Google Shape;541;p29"/>
          <p:cNvCxnSpPr/>
          <p:nvPr/>
        </p:nvCxnSpPr>
        <p:spPr>
          <a:xfrm>
            <a:off x="8820944" y="8207335"/>
            <a:ext cx="588167" cy="0"/>
          </a:xfrm>
          <a:prstGeom prst="straightConnector1">
            <a:avLst/>
          </a:prstGeom>
          <a:noFill/>
          <a:ln cap="flat" cmpd="sng" w="9525">
            <a:solidFill>
              <a:srgbClr val="4A7DBA"/>
            </a:solidFill>
            <a:prstDash val="solid"/>
            <a:round/>
            <a:headEnd len="sm" w="sm" type="none"/>
            <a:tailEnd len="med" w="med" type="triangle"/>
          </a:ln>
        </p:spPr>
      </p:cxnSp>
      <p:sp>
        <p:nvSpPr>
          <p:cNvPr id="542" name="Google Shape;542;p29"/>
          <p:cNvSpPr txBox="1"/>
          <p:nvPr/>
        </p:nvSpPr>
        <p:spPr>
          <a:xfrm>
            <a:off x="9687686" y="7950388"/>
            <a:ext cx="6619114" cy="37907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i="1" lang="en-US" sz="1400">
                <a:solidFill>
                  <a:schemeClr val="dk1"/>
                </a:solidFill>
                <a:latin typeface="Montserrat"/>
                <a:ea typeface="Montserrat"/>
                <a:cs typeface="Montserrat"/>
                <a:sym typeface="Montserrat"/>
              </a:rPr>
              <a:t>Probabilitas kelas A (prior) atau seberapa sering kelas itu muncul</a:t>
            </a:r>
            <a:endParaRPr/>
          </a:p>
        </p:txBody>
      </p:sp>
      <p:cxnSp>
        <p:nvCxnSpPr>
          <p:cNvPr id="543" name="Google Shape;543;p29"/>
          <p:cNvCxnSpPr/>
          <p:nvPr/>
        </p:nvCxnSpPr>
        <p:spPr>
          <a:xfrm>
            <a:off x="8820944" y="8874780"/>
            <a:ext cx="588167" cy="0"/>
          </a:xfrm>
          <a:prstGeom prst="straightConnector1">
            <a:avLst/>
          </a:prstGeom>
          <a:noFill/>
          <a:ln cap="flat" cmpd="sng" w="9525">
            <a:solidFill>
              <a:srgbClr val="4A7DBA"/>
            </a:solidFill>
            <a:prstDash val="solid"/>
            <a:round/>
            <a:headEnd len="sm" w="sm" type="none"/>
            <a:tailEnd len="med" w="med" type="triangle"/>
          </a:ln>
        </p:spPr>
      </p:cxnSp>
      <p:sp>
        <p:nvSpPr>
          <p:cNvPr id="544" name="Google Shape;544;p29"/>
          <p:cNvSpPr txBox="1"/>
          <p:nvPr/>
        </p:nvSpPr>
        <p:spPr>
          <a:xfrm>
            <a:off x="9687686" y="8617833"/>
            <a:ext cx="6619114" cy="37907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i="1" lang="en-US" sz="1400">
                <a:solidFill>
                  <a:schemeClr val="dk1"/>
                </a:solidFill>
                <a:latin typeface="Montserrat"/>
                <a:ea typeface="Montserrat"/>
                <a:cs typeface="Montserrat"/>
                <a:sym typeface="Montserrat"/>
              </a:rPr>
              <a:t>Probabilitas fitur (evidence) </a:t>
            </a:r>
            <a:endParaRPr/>
          </a:p>
        </p:txBody>
      </p:sp>
    </p:spTree>
  </p:cSld>
  <p:clrMapOvr>
    <a:masterClrMapping/>
  </p:clrMapOvr>
  <p:transition spd="slow">
    <p:push/>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grpSp>
        <p:nvGrpSpPr>
          <p:cNvPr id="550" name="Google Shape;550;p30"/>
          <p:cNvGrpSpPr/>
          <p:nvPr/>
        </p:nvGrpSpPr>
        <p:grpSpPr>
          <a:xfrm>
            <a:off x="17016492" y="-180826"/>
            <a:ext cx="1271508" cy="10467826"/>
            <a:chOff x="0" y="-47625"/>
            <a:chExt cx="334883" cy="2756958"/>
          </a:xfrm>
        </p:grpSpPr>
        <p:sp>
          <p:nvSpPr>
            <p:cNvPr id="551" name="Google Shape;551;p30"/>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2" name="Google Shape;552;p30"/>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53" name="Google Shape;553;p30"/>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30"/>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grpSp>
        <p:nvGrpSpPr>
          <p:cNvPr id="555" name="Google Shape;555;p30"/>
          <p:cNvGrpSpPr/>
          <p:nvPr/>
        </p:nvGrpSpPr>
        <p:grpSpPr>
          <a:xfrm>
            <a:off x="-4460664" y="-101727"/>
            <a:ext cx="21264897" cy="10934832"/>
            <a:chOff x="-9185064" y="-1403415"/>
            <a:chExt cx="21264897" cy="10934832"/>
          </a:xfrm>
        </p:grpSpPr>
        <p:sp>
          <p:nvSpPr>
            <p:cNvPr id="556" name="Google Shape;556;p30"/>
            <p:cNvSpPr/>
            <p:nvPr/>
          </p:nvSpPr>
          <p:spPr>
            <a:xfrm>
              <a:off x="-9185064" y="-1403415"/>
              <a:ext cx="10934832" cy="10934832"/>
            </a:xfrm>
            <a:prstGeom prst="blockArc">
              <a:avLst>
                <a:gd fmla="val 18900000" name="adj1"/>
                <a:gd fmla="val 2700000" name="adj2"/>
                <a:gd fmla="val 198" name="adj3"/>
              </a:avLst>
            </a:pr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0"/>
            <p:cNvSpPr/>
            <p:nvPr/>
          </p:nvSpPr>
          <p:spPr>
            <a:xfrm>
              <a:off x="1128166" y="812800"/>
              <a:ext cx="10951667" cy="1625600"/>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0"/>
            <p:cNvSpPr txBox="1"/>
            <p:nvPr/>
          </p:nvSpPr>
          <p:spPr>
            <a:xfrm>
              <a:off x="1128166" y="812800"/>
              <a:ext cx="10951667" cy="1625600"/>
            </a:xfrm>
            <a:prstGeom prst="rect">
              <a:avLst/>
            </a:prstGeom>
            <a:noFill/>
            <a:ln>
              <a:noFill/>
            </a:ln>
          </p:spPr>
          <p:txBody>
            <a:bodyPr anchorCtr="0" anchor="ctr" bIns="152400" lIns="1290300" spcFirstLastPara="1" rIns="152400" wrap="square" tIns="152400">
              <a:noAutofit/>
            </a:bodyPr>
            <a:lstStyle/>
            <a:p>
              <a:pPr indent="0" lvl="0" marL="0" marR="0" rtl="0" algn="l">
                <a:lnSpc>
                  <a:spcPct val="90000"/>
                </a:lnSpc>
                <a:spcBef>
                  <a:spcPts val="0"/>
                </a:spcBef>
                <a:spcAft>
                  <a:spcPts val="0"/>
                </a:spcAft>
                <a:buClr>
                  <a:schemeClr val="lt1"/>
                </a:buClr>
                <a:buSzPts val="6000"/>
                <a:buFont typeface="Calibri"/>
                <a:buNone/>
              </a:pPr>
              <a:r>
                <a:rPr b="0" i="0" lang="en-US" sz="6000">
                  <a:solidFill>
                    <a:schemeClr val="lt1"/>
                  </a:solidFill>
                  <a:latin typeface="Calibri"/>
                  <a:ea typeface="Calibri"/>
                  <a:cs typeface="Calibri"/>
                  <a:sym typeface="Calibri"/>
                </a:rPr>
                <a:t>Probabilitas Prior</a:t>
              </a:r>
              <a:endParaRPr sz="6000">
                <a:solidFill>
                  <a:schemeClr val="lt1"/>
                </a:solidFill>
                <a:latin typeface="Calibri"/>
                <a:ea typeface="Calibri"/>
                <a:cs typeface="Calibri"/>
                <a:sym typeface="Calibri"/>
              </a:endParaRPr>
            </a:p>
          </p:txBody>
        </p:sp>
        <p:sp>
          <p:nvSpPr>
            <p:cNvPr id="559" name="Google Shape;559;p30"/>
            <p:cNvSpPr/>
            <p:nvPr/>
          </p:nvSpPr>
          <p:spPr>
            <a:xfrm>
              <a:off x="112166" y="609600"/>
              <a:ext cx="2032000" cy="203200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30"/>
            <p:cNvSpPr/>
            <p:nvPr/>
          </p:nvSpPr>
          <p:spPr>
            <a:xfrm>
              <a:off x="1719072" y="3251199"/>
              <a:ext cx="10360761" cy="1625600"/>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30"/>
            <p:cNvSpPr txBox="1"/>
            <p:nvPr/>
          </p:nvSpPr>
          <p:spPr>
            <a:xfrm>
              <a:off x="1719072" y="3251199"/>
              <a:ext cx="10360761" cy="1625600"/>
            </a:xfrm>
            <a:prstGeom prst="rect">
              <a:avLst/>
            </a:prstGeom>
            <a:noFill/>
            <a:ln>
              <a:noFill/>
            </a:ln>
          </p:spPr>
          <p:txBody>
            <a:bodyPr anchorCtr="0" anchor="ctr" bIns="152400" lIns="1290300" spcFirstLastPara="1" rIns="152400" wrap="square" tIns="152400">
              <a:noAutofit/>
            </a:bodyPr>
            <a:lstStyle/>
            <a:p>
              <a:pPr indent="0" lvl="0" marL="0" marR="0" rtl="0" algn="l">
                <a:lnSpc>
                  <a:spcPct val="90000"/>
                </a:lnSpc>
                <a:spcBef>
                  <a:spcPts val="0"/>
                </a:spcBef>
                <a:spcAft>
                  <a:spcPts val="0"/>
                </a:spcAft>
                <a:buClr>
                  <a:schemeClr val="lt1"/>
                </a:buClr>
                <a:buSzPts val="6000"/>
                <a:buFont typeface="Calibri"/>
                <a:buNone/>
              </a:pPr>
              <a:r>
                <a:rPr b="0" i="0" lang="en-US" sz="6000">
                  <a:solidFill>
                    <a:schemeClr val="lt1"/>
                  </a:solidFill>
                  <a:latin typeface="Calibri"/>
                  <a:ea typeface="Calibri"/>
                  <a:cs typeface="Calibri"/>
                  <a:sym typeface="Calibri"/>
                </a:rPr>
                <a:t>Probabilitas Likelihood</a:t>
              </a:r>
              <a:endParaRPr sz="6000">
                <a:solidFill>
                  <a:schemeClr val="lt1"/>
                </a:solidFill>
                <a:latin typeface="Calibri"/>
                <a:ea typeface="Calibri"/>
                <a:cs typeface="Calibri"/>
                <a:sym typeface="Calibri"/>
              </a:endParaRPr>
            </a:p>
          </p:txBody>
        </p:sp>
        <p:sp>
          <p:nvSpPr>
            <p:cNvPr id="562" name="Google Shape;562;p30"/>
            <p:cNvSpPr/>
            <p:nvPr/>
          </p:nvSpPr>
          <p:spPr>
            <a:xfrm>
              <a:off x="703072" y="3047999"/>
              <a:ext cx="2032000" cy="203200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30"/>
            <p:cNvSpPr/>
            <p:nvPr/>
          </p:nvSpPr>
          <p:spPr>
            <a:xfrm>
              <a:off x="1128166" y="5689600"/>
              <a:ext cx="10951667" cy="1625600"/>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0"/>
            <p:cNvSpPr txBox="1"/>
            <p:nvPr/>
          </p:nvSpPr>
          <p:spPr>
            <a:xfrm>
              <a:off x="1128166" y="5689600"/>
              <a:ext cx="10951667" cy="1625600"/>
            </a:xfrm>
            <a:prstGeom prst="rect">
              <a:avLst/>
            </a:prstGeom>
            <a:noFill/>
            <a:ln>
              <a:noFill/>
            </a:ln>
          </p:spPr>
          <p:txBody>
            <a:bodyPr anchorCtr="0" anchor="ctr" bIns="165100" lIns="1290300" spcFirstLastPara="1" rIns="165100" wrap="square" tIns="165100">
              <a:noAutofit/>
            </a:bodyPr>
            <a:lstStyle/>
            <a:p>
              <a:pPr indent="0" lvl="0" marL="0" marR="0" rtl="0" algn="l">
                <a:lnSpc>
                  <a:spcPct val="90000"/>
                </a:lnSpc>
                <a:spcBef>
                  <a:spcPts val="0"/>
                </a:spcBef>
                <a:spcAft>
                  <a:spcPts val="0"/>
                </a:spcAft>
                <a:buClr>
                  <a:schemeClr val="lt1"/>
                </a:buClr>
                <a:buSzPts val="6500"/>
                <a:buFont typeface="Calibri"/>
                <a:buNone/>
              </a:pPr>
              <a:r>
                <a:rPr b="0" i="0" lang="en-US" sz="6500">
                  <a:solidFill>
                    <a:schemeClr val="lt1"/>
                  </a:solidFill>
                  <a:latin typeface="Calibri"/>
                  <a:ea typeface="Calibri"/>
                  <a:cs typeface="Calibri"/>
                  <a:sym typeface="Calibri"/>
                </a:rPr>
                <a:t>Laplace Smoothing</a:t>
              </a:r>
              <a:endParaRPr sz="6500">
                <a:solidFill>
                  <a:schemeClr val="lt1"/>
                </a:solidFill>
                <a:latin typeface="Calibri"/>
                <a:ea typeface="Calibri"/>
                <a:cs typeface="Calibri"/>
                <a:sym typeface="Calibri"/>
              </a:endParaRPr>
            </a:p>
          </p:txBody>
        </p:sp>
        <p:sp>
          <p:nvSpPr>
            <p:cNvPr id="565" name="Google Shape;565;p30"/>
            <p:cNvSpPr/>
            <p:nvPr/>
          </p:nvSpPr>
          <p:spPr>
            <a:xfrm>
              <a:off x="112166" y="5486400"/>
              <a:ext cx="2032000" cy="203200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6" name="Google Shape;566;p30"/>
          <p:cNvSpPr txBox="1"/>
          <p:nvPr/>
        </p:nvSpPr>
        <p:spPr>
          <a:xfrm>
            <a:off x="609600" y="2933700"/>
            <a:ext cx="4495800" cy="5343001"/>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6000">
                <a:solidFill>
                  <a:srgbClr val="08377C"/>
                </a:solidFill>
                <a:latin typeface="Montserrat"/>
                <a:ea typeface="Montserrat"/>
                <a:cs typeface="Montserrat"/>
                <a:sym typeface="Montserrat"/>
              </a:rPr>
              <a:t>Parameter Utama Naïve Bayes</a:t>
            </a:r>
            <a:endParaRPr/>
          </a:p>
        </p:txBody>
      </p:sp>
    </p:spTree>
  </p:cSld>
  <p:clrMapOvr>
    <a:masterClrMapping/>
  </p:clrMapOvr>
  <p:transition spd="slow">
    <p:push/>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grpSp>
        <p:nvGrpSpPr>
          <p:cNvPr id="572" name="Google Shape;572;p31"/>
          <p:cNvGrpSpPr/>
          <p:nvPr/>
        </p:nvGrpSpPr>
        <p:grpSpPr>
          <a:xfrm>
            <a:off x="15238003" y="8290589"/>
            <a:ext cx="7523780" cy="7523780"/>
            <a:chOff x="0" y="0"/>
            <a:chExt cx="812800" cy="812800"/>
          </a:xfrm>
        </p:grpSpPr>
        <p:sp>
          <p:nvSpPr>
            <p:cNvPr id="573" name="Google Shape;573;p3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4" name="Google Shape;574;p3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75" name="Google Shape;575;p31"/>
          <p:cNvGrpSpPr/>
          <p:nvPr/>
        </p:nvGrpSpPr>
        <p:grpSpPr>
          <a:xfrm>
            <a:off x="-3724222" y="-4507687"/>
            <a:ext cx="5924489" cy="5924489"/>
            <a:chOff x="0" y="0"/>
            <a:chExt cx="812800" cy="812800"/>
          </a:xfrm>
        </p:grpSpPr>
        <p:sp>
          <p:nvSpPr>
            <p:cNvPr id="576" name="Google Shape;576;p3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7" name="Google Shape;577;p3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78" name="Google Shape;578;p31"/>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579" name="Google Shape;579;p31"/>
          <p:cNvPicPr preferRelativeResize="0"/>
          <p:nvPr/>
        </p:nvPicPr>
        <p:blipFill rotWithShape="1">
          <a:blip r:embed="rId4">
            <a:alphaModFix/>
          </a:blip>
          <a:srcRect b="0" l="0" r="0" t="0"/>
          <a:stretch/>
        </p:blipFill>
        <p:spPr>
          <a:xfrm>
            <a:off x="1322329" y="1424722"/>
            <a:ext cx="11918754" cy="3985275"/>
          </a:xfrm>
          <a:prstGeom prst="rect">
            <a:avLst/>
          </a:prstGeom>
          <a:noFill/>
          <a:ln>
            <a:noFill/>
          </a:ln>
        </p:spPr>
      </p:pic>
      <p:sp>
        <p:nvSpPr>
          <p:cNvPr id="580" name="Google Shape;580;p31"/>
          <p:cNvSpPr/>
          <p:nvPr/>
        </p:nvSpPr>
        <p:spPr>
          <a:xfrm>
            <a:off x="1322329" y="758899"/>
            <a:ext cx="15925800" cy="665823"/>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n-US" sz="2800">
                <a:solidFill>
                  <a:srgbClr val="002060"/>
                </a:solidFill>
                <a:latin typeface="Montserrat"/>
                <a:ea typeface="Montserrat"/>
                <a:cs typeface="Montserrat"/>
                <a:sym typeface="Montserrat"/>
              </a:rPr>
              <a:t>Contoh Data:</a:t>
            </a:r>
            <a:endParaRPr sz="2800">
              <a:solidFill>
                <a:srgbClr val="002060"/>
              </a:solidFill>
              <a:latin typeface="Montserrat"/>
              <a:ea typeface="Montserrat"/>
              <a:cs typeface="Montserrat"/>
              <a:sym typeface="Montserrat"/>
            </a:endParaRPr>
          </a:p>
        </p:txBody>
      </p:sp>
      <p:sp>
        <p:nvSpPr>
          <p:cNvPr id="581" name="Google Shape;581;p31"/>
          <p:cNvSpPr txBox="1"/>
          <p:nvPr/>
        </p:nvSpPr>
        <p:spPr>
          <a:xfrm>
            <a:off x="951218" y="5630771"/>
            <a:ext cx="17526000"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08377C"/>
                </a:solidFill>
                <a:latin typeface="Calibri"/>
                <a:ea typeface="Calibri"/>
                <a:cs typeface="Calibri"/>
                <a:sym typeface="Calibri"/>
              </a:rPr>
              <a:t>1. Probabilitas Prior</a:t>
            </a:r>
            <a:endParaRPr/>
          </a:p>
        </p:txBody>
      </p:sp>
      <p:sp>
        <p:nvSpPr>
          <p:cNvPr id="582" name="Google Shape;582;p31"/>
          <p:cNvSpPr/>
          <p:nvPr/>
        </p:nvSpPr>
        <p:spPr>
          <a:xfrm>
            <a:off x="1322329" y="6206856"/>
            <a:ext cx="15925800" cy="1137876"/>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n-US" sz="2400">
                <a:solidFill>
                  <a:schemeClr val="dk1"/>
                </a:solidFill>
                <a:latin typeface="Montserrat"/>
                <a:ea typeface="Montserrat"/>
                <a:cs typeface="Montserrat"/>
                <a:sym typeface="Montserrat"/>
              </a:rPr>
              <a:t>Probabilitas prior</a:t>
            </a:r>
            <a:r>
              <a:rPr b="0" i="0" lang="en-US" sz="2400">
                <a:solidFill>
                  <a:schemeClr val="dk1"/>
                </a:solidFill>
                <a:latin typeface="Montserrat"/>
                <a:ea typeface="Montserrat"/>
                <a:cs typeface="Montserrat"/>
                <a:sym typeface="Montserrat"/>
              </a:rPr>
              <a:t> adalah probabilitas awal dari setiap kelas sebelum mempertimbangkan fitur yang ada. Ini menggambarkan seberapa umum atau sering suatu kelas muncul dalam data pelatihan. </a:t>
            </a:r>
            <a:endParaRPr sz="2400">
              <a:solidFill>
                <a:schemeClr val="dk1"/>
              </a:solidFill>
              <a:latin typeface="Montserrat"/>
              <a:ea typeface="Montserrat"/>
              <a:cs typeface="Montserrat"/>
              <a:sym typeface="Montserrat"/>
            </a:endParaRPr>
          </a:p>
        </p:txBody>
      </p:sp>
      <p:pic>
        <p:nvPicPr>
          <p:cNvPr id="583" name="Google Shape;583;p31"/>
          <p:cNvPicPr preferRelativeResize="0"/>
          <p:nvPr/>
        </p:nvPicPr>
        <p:blipFill rotWithShape="1">
          <a:blip r:embed="rId5">
            <a:alphaModFix/>
          </a:blip>
          <a:srcRect b="0" l="0" r="0" t="0"/>
          <a:stretch/>
        </p:blipFill>
        <p:spPr>
          <a:xfrm>
            <a:off x="1332839" y="7507801"/>
            <a:ext cx="6698611" cy="1565575"/>
          </a:xfrm>
          <a:prstGeom prst="rect">
            <a:avLst/>
          </a:prstGeom>
          <a:noFill/>
          <a:ln>
            <a:noFill/>
          </a:ln>
        </p:spPr>
      </p:pic>
    </p:spTree>
  </p:cSld>
  <p:clrMapOvr>
    <a:masterClrMapping/>
  </p:clrMapOvr>
  <p:transition spd="slow">
    <p:push/>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grpSp>
        <p:nvGrpSpPr>
          <p:cNvPr id="589" name="Google Shape;589;p32"/>
          <p:cNvGrpSpPr/>
          <p:nvPr/>
        </p:nvGrpSpPr>
        <p:grpSpPr>
          <a:xfrm>
            <a:off x="15238003" y="8290589"/>
            <a:ext cx="7523780" cy="7523780"/>
            <a:chOff x="0" y="0"/>
            <a:chExt cx="812800" cy="812800"/>
          </a:xfrm>
        </p:grpSpPr>
        <p:sp>
          <p:nvSpPr>
            <p:cNvPr id="590" name="Google Shape;590;p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1" name="Google Shape;591;p3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92" name="Google Shape;592;p32"/>
          <p:cNvGrpSpPr/>
          <p:nvPr/>
        </p:nvGrpSpPr>
        <p:grpSpPr>
          <a:xfrm>
            <a:off x="-3724222" y="-4507687"/>
            <a:ext cx="5924489" cy="5924489"/>
            <a:chOff x="0" y="0"/>
            <a:chExt cx="812800" cy="812800"/>
          </a:xfrm>
        </p:grpSpPr>
        <p:sp>
          <p:nvSpPr>
            <p:cNvPr id="593" name="Google Shape;593;p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p3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95" name="Google Shape;595;p32"/>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p32"/>
          <p:cNvSpPr txBox="1"/>
          <p:nvPr/>
        </p:nvSpPr>
        <p:spPr>
          <a:xfrm>
            <a:off x="1277237" y="1132145"/>
            <a:ext cx="17526000"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08377C"/>
                </a:solidFill>
                <a:latin typeface="Calibri"/>
                <a:ea typeface="Calibri"/>
                <a:cs typeface="Calibri"/>
                <a:sym typeface="Calibri"/>
              </a:rPr>
              <a:t>2. Probabilitas Likelihood</a:t>
            </a:r>
            <a:endParaRPr/>
          </a:p>
        </p:txBody>
      </p:sp>
      <p:sp>
        <p:nvSpPr>
          <p:cNvPr id="597" name="Google Shape;597;p32"/>
          <p:cNvSpPr/>
          <p:nvPr/>
        </p:nvSpPr>
        <p:spPr>
          <a:xfrm>
            <a:off x="1648348" y="1708230"/>
            <a:ext cx="15925800" cy="1691873"/>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0" lang="en-US" sz="2400">
                <a:solidFill>
                  <a:schemeClr val="dk1"/>
                </a:solidFill>
                <a:latin typeface="Montserrat"/>
                <a:ea typeface="Montserrat"/>
                <a:cs typeface="Montserrat"/>
                <a:sym typeface="Montserrat"/>
              </a:rPr>
              <a:t>Probabilitas likelihood</a:t>
            </a:r>
            <a:r>
              <a:rPr b="0" i="0" lang="en-US" sz="2400">
                <a:solidFill>
                  <a:schemeClr val="dk1"/>
                </a:solidFill>
                <a:latin typeface="Montserrat"/>
                <a:ea typeface="Montserrat"/>
                <a:cs typeface="Montserrat"/>
                <a:sym typeface="Montserrat"/>
              </a:rPr>
              <a:t> adalah probabilitas kemunculan fitur tertentu dalam data pelatihan untuk setiap kelas. Ini menunjukkan seberapa sering fitur muncul dalam data yang sudah diberi label dengan kelas tertentu.</a:t>
            </a:r>
            <a:endParaRPr sz="2400">
              <a:solidFill>
                <a:schemeClr val="dk1"/>
              </a:solidFill>
              <a:latin typeface="Montserrat"/>
              <a:ea typeface="Montserrat"/>
              <a:cs typeface="Montserrat"/>
              <a:sym typeface="Montserrat"/>
            </a:endParaRPr>
          </a:p>
        </p:txBody>
      </p:sp>
      <p:sp>
        <p:nvSpPr>
          <p:cNvPr id="598" name="Google Shape;598;p32"/>
          <p:cNvSpPr txBox="1"/>
          <p:nvPr/>
        </p:nvSpPr>
        <p:spPr>
          <a:xfrm>
            <a:off x="1271982" y="3563443"/>
            <a:ext cx="17526000"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08377C"/>
                </a:solidFill>
                <a:latin typeface="Calibri"/>
                <a:ea typeface="Calibri"/>
                <a:cs typeface="Calibri"/>
                <a:sym typeface="Calibri"/>
              </a:rPr>
              <a:t>3. Laplace Smoothing</a:t>
            </a:r>
            <a:endParaRPr/>
          </a:p>
        </p:txBody>
      </p:sp>
      <p:sp>
        <p:nvSpPr>
          <p:cNvPr id="599" name="Google Shape;599;p32"/>
          <p:cNvSpPr/>
          <p:nvPr/>
        </p:nvSpPr>
        <p:spPr>
          <a:xfrm>
            <a:off x="1663565" y="3996254"/>
            <a:ext cx="15925800" cy="1137876"/>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US" sz="2400">
                <a:solidFill>
                  <a:schemeClr val="dk1"/>
                </a:solidFill>
                <a:latin typeface="Montserrat"/>
                <a:ea typeface="Montserrat"/>
                <a:cs typeface="Montserrat"/>
                <a:sym typeface="Montserrat"/>
              </a:rPr>
              <a:t>Laplace smoothing </a:t>
            </a:r>
            <a:r>
              <a:rPr lang="en-US" sz="2400">
                <a:solidFill>
                  <a:schemeClr val="dk1"/>
                </a:solidFill>
                <a:latin typeface="Montserrat"/>
                <a:ea typeface="Montserrat"/>
                <a:cs typeface="Montserrat"/>
                <a:sym typeface="Montserrat"/>
              </a:rPr>
              <a:t>adalah teknik untuk mencegah probabilitas nol dengan menambahkan nilai kecil (biasanya 1) saat fitur tidak muncul dalam data pelatihan.</a:t>
            </a:r>
            <a:endParaRPr/>
          </a:p>
        </p:txBody>
      </p:sp>
      <p:pic>
        <p:nvPicPr>
          <p:cNvPr id="600" name="Google Shape;600;p32"/>
          <p:cNvPicPr preferRelativeResize="0"/>
          <p:nvPr/>
        </p:nvPicPr>
        <p:blipFill rotWithShape="1">
          <a:blip r:embed="rId4">
            <a:alphaModFix/>
          </a:blip>
          <a:srcRect b="0" l="0" r="0" t="0"/>
          <a:stretch/>
        </p:blipFill>
        <p:spPr>
          <a:xfrm>
            <a:off x="1663565" y="5382654"/>
            <a:ext cx="12428878" cy="4332846"/>
          </a:xfrm>
          <a:prstGeom prst="rect">
            <a:avLst/>
          </a:prstGeom>
          <a:noFill/>
          <a:ln>
            <a:noFill/>
          </a:ln>
        </p:spPr>
      </p:pic>
    </p:spTree>
  </p:cSld>
  <p:clrMapOvr>
    <a:masterClrMapping/>
  </p:clrMapOvr>
  <p:transition spd="slow">
    <p:push/>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grpSp>
        <p:nvGrpSpPr>
          <p:cNvPr id="606" name="Google Shape;606;p33"/>
          <p:cNvGrpSpPr/>
          <p:nvPr/>
        </p:nvGrpSpPr>
        <p:grpSpPr>
          <a:xfrm>
            <a:off x="17016492" y="-180826"/>
            <a:ext cx="1271508" cy="10467826"/>
            <a:chOff x="0" y="-47625"/>
            <a:chExt cx="334883" cy="2756958"/>
          </a:xfrm>
        </p:grpSpPr>
        <p:sp>
          <p:nvSpPr>
            <p:cNvPr id="607" name="Google Shape;607;p33"/>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8" name="Google Shape;608;p33"/>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09" name="Google Shape;609;p33"/>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0" name="Google Shape;610;p33"/>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611" name="Google Shape;611;p33"/>
          <p:cNvSpPr txBox="1"/>
          <p:nvPr/>
        </p:nvSpPr>
        <p:spPr>
          <a:xfrm>
            <a:off x="3385919" y="1257300"/>
            <a:ext cx="9983428" cy="81734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Cara Kerja Naïve Bayes?</a:t>
            </a:r>
            <a:endParaRPr/>
          </a:p>
        </p:txBody>
      </p:sp>
      <p:pic>
        <p:nvPicPr>
          <p:cNvPr id="612" name="Google Shape;612;p33"/>
          <p:cNvPicPr preferRelativeResize="0"/>
          <p:nvPr/>
        </p:nvPicPr>
        <p:blipFill rotWithShape="1">
          <a:blip r:embed="rId4">
            <a:alphaModFix/>
          </a:blip>
          <a:srcRect b="7940" l="0" r="0" t="21960"/>
          <a:stretch/>
        </p:blipFill>
        <p:spPr>
          <a:xfrm>
            <a:off x="1524000" y="2628900"/>
            <a:ext cx="15240000" cy="6096000"/>
          </a:xfrm>
          <a:prstGeom prst="rect">
            <a:avLst/>
          </a:prstGeom>
          <a:noFill/>
          <a:ln>
            <a:noFill/>
          </a:ln>
        </p:spPr>
      </p:pic>
      <p:sp>
        <p:nvSpPr>
          <p:cNvPr id="613" name="Google Shape;613;p33"/>
          <p:cNvSpPr txBox="1"/>
          <p:nvPr/>
        </p:nvSpPr>
        <p:spPr>
          <a:xfrm>
            <a:off x="1905000" y="8828267"/>
            <a:ext cx="1371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Montserrat"/>
                <a:ea typeface="Montserrat"/>
                <a:cs typeface="Montserrat"/>
                <a:sym typeface="Montserrat"/>
              </a:rPr>
              <a:t>*Cara kerja Naïve Bayes bisa dilihat di file excel yang sudah dilampirkan</a:t>
            </a:r>
            <a:endParaRPr i="1" sz="1800">
              <a:solidFill>
                <a:schemeClr val="dk1"/>
              </a:solidFill>
              <a:latin typeface="Montserrat"/>
              <a:ea typeface="Montserrat"/>
              <a:cs typeface="Montserrat"/>
              <a:sym typeface="Montserrat"/>
            </a:endParaRPr>
          </a:p>
        </p:txBody>
      </p:sp>
    </p:spTree>
  </p:cSld>
  <p:clrMapOvr>
    <a:masterClrMapping/>
  </p:clrMapOvr>
  <p:transition spd="slow">
    <p:push/>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grpSp>
        <p:nvGrpSpPr>
          <p:cNvPr id="619" name="Google Shape;619;p34"/>
          <p:cNvGrpSpPr/>
          <p:nvPr/>
        </p:nvGrpSpPr>
        <p:grpSpPr>
          <a:xfrm>
            <a:off x="13955786" y="-435680"/>
            <a:ext cx="4632524" cy="10996052"/>
            <a:chOff x="0" y="-47625"/>
            <a:chExt cx="1220089" cy="2896080"/>
          </a:xfrm>
        </p:grpSpPr>
        <p:sp>
          <p:nvSpPr>
            <p:cNvPr id="620" name="Google Shape;620;p34"/>
            <p:cNvSpPr/>
            <p:nvPr/>
          </p:nvSpPr>
          <p:spPr>
            <a:xfrm>
              <a:off x="0" y="0"/>
              <a:ext cx="1220089" cy="2848455"/>
            </a:xfrm>
            <a:custGeom>
              <a:rect b="b" l="l" r="r" t="t"/>
              <a:pathLst>
                <a:path extrusionOk="0" h="2848455" w="1220089">
                  <a:moveTo>
                    <a:pt x="0" y="0"/>
                  </a:moveTo>
                  <a:lnTo>
                    <a:pt x="1220089" y="0"/>
                  </a:lnTo>
                  <a:lnTo>
                    <a:pt x="1220089" y="2848455"/>
                  </a:lnTo>
                  <a:lnTo>
                    <a:pt x="0" y="2848455"/>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1" name="Google Shape;621;p34"/>
            <p:cNvSpPr txBox="1"/>
            <p:nvPr/>
          </p:nvSpPr>
          <p:spPr>
            <a:xfrm>
              <a:off x="0" y="-47625"/>
              <a:ext cx="1220089" cy="289608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22" name="Google Shape;622;p34"/>
          <p:cNvSpPr/>
          <p:nvPr/>
        </p:nvSpPr>
        <p:spPr>
          <a:xfrm rot="-5400000">
            <a:off x="11952046" y="3265440"/>
            <a:ext cx="7715094" cy="3707614"/>
          </a:xfrm>
          <a:custGeom>
            <a:rect b="b" l="l" r="r" t="t"/>
            <a:pathLst>
              <a:path extrusionOk="0" h="3707614" w="7715094">
                <a:moveTo>
                  <a:pt x="0" y="0"/>
                </a:moveTo>
                <a:lnTo>
                  <a:pt x="7715094" y="0"/>
                </a:lnTo>
                <a:lnTo>
                  <a:pt x="7715094" y="3707614"/>
                </a:lnTo>
                <a:lnTo>
                  <a:pt x="0" y="3707614"/>
                </a:lnTo>
                <a:lnTo>
                  <a:pt x="0" y="0"/>
                </a:lnTo>
                <a:close/>
              </a:path>
            </a:pathLst>
          </a:custGeom>
          <a:blipFill rotWithShape="1">
            <a:blip r:embed="rId3">
              <a:alphaModFix/>
            </a:blip>
            <a:stretch>
              <a:fillRect b="0" l="0" r="0" t="-593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3" name="Google Shape;623;p34"/>
          <p:cNvSpPr txBox="1"/>
          <p:nvPr/>
        </p:nvSpPr>
        <p:spPr>
          <a:xfrm>
            <a:off x="1311647" y="4214179"/>
            <a:ext cx="8822953" cy="769441"/>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5035" u="none" strike="noStrike">
                <a:solidFill>
                  <a:srgbClr val="2A2E3A"/>
                </a:solidFill>
                <a:latin typeface="Montserrat"/>
                <a:ea typeface="Montserrat"/>
                <a:cs typeface="Montserrat"/>
                <a:sym typeface="Montserrat"/>
              </a:rPr>
              <a:t>Decision Tree</a:t>
            </a:r>
            <a:endParaRPr/>
          </a:p>
        </p:txBody>
      </p:sp>
      <p:sp>
        <p:nvSpPr>
          <p:cNvPr id="624" name="Google Shape;624;p34"/>
          <p:cNvSpPr txBox="1"/>
          <p:nvPr/>
        </p:nvSpPr>
        <p:spPr>
          <a:xfrm>
            <a:off x="1259652" y="5143500"/>
            <a:ext cx="10779948" cy="957634"/>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lang="en-US" sz="6792">
                <a:solidFill>
                  <a:srgbClr val="08377C"/>
                </a:solidFill>
                <a:latin typeface="Montserrat"/>
                <a:ea typeface="Montserrat"/>
                <a:cs typeface="Montserrat"/>
                <a:sym typeface="Montserrat"/>
              </a:rPr>
              <a:t>in Classification</a:t>
            </a:r>
            <a:endParaRPr b="1" sz="6792" u="none" strike="noStrike">
              <a:solidFill>
                <a:srgbClr val="08377C"/>
              </a:solidFill>
              <a:latin typeface="Montserrat"/>
              <a:ea typeface="Montserrat"/>
              <a:cs typeface="Montserrat"/>
              <a:sym typeface="Montserrat"/>
            </a:endParaRPr>
          </a:p>
        </p:txBody>
      </p:sp>
      <p:sp>
        <p:nvSpPr>
          <p:cNvPr id="625" name="Google Shape;625;p34"/>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4">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34"/>
          <p:cNvSpPr txBox="1"/>
          <p:nvPr/>
        </p:nvSpPr>
        <p:spPr>
          <a:xfrm>
            <a:off x="14721159" y="4804810"/>
            <a:ext cx="2237609" cy="730456"/>
          </a:xfrm>
          <a:prstGeom prst="rect">
            <a:avLst/>
          </a:prstGeom>
          <a:noFill/>
          <a:ln>
            <a:noFill/>
          </a:ln>
        </p:spPr>
        <p:txBody>
          <a:bodyPr anchorCtr="0" anchor="t" bIns="0" lIns="0" spcFirstLastPara="1" rIns="0" wrap="square" tIns="0">
            <a:spAutoFit/>
          </a:bodyPr>
          <a:lstStyle/>
          <a:p>
            <a:pPr indent="0" lvl="0" marL="0" marR="0" rtl="0" algn="l">
              <a:lnSpc>
                <a:spcPct val="42789"/>
              </a:lnSpc>
              <a:spcBef>
                <a:spcPts val="0"/>
              </a:spcBef>
              <a:spcAft>
                <a:spcPts val="0"/>
              </a:spcAft>
              <a:buNone/>
            </a:pPr>
            <a:r>
              <a:rPr lang="en-US" sz="10000">
                <a:solidFill>
                  <a:schemeClr val="lt1"/>
                </a:solidFill>
                <a:latin typeface="Montserrat"/>
                <a:ea typeface="Montserrat"/>
                <a:cs typeface="Montserrat"/>
                <a:sym typeface="Montserrat"/>
              </a:rPr>
              <a:t>05</a:t>
            </a:r>
            <a:endParaRPr/>
          </a:p>
        </p:txBody>
      </p:sp>
    </p:spTree>
  </p:cSld>
  <p:clrMapOvr>
    <a:masterClrMapping/>
  </p:clrMapOvr>
  <p:transition spd="slow">
    <p:push/>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pic>
        <p:nvPicPr>
          <p:cNvPr id="632" name="Google Shape;632;p35"/>
          <p:cNvPicPr preferRelativeResize="0"/>
          <p:nvPr/>
        </p:nvPicPr>
        <p:blipFill rotWithShape="1">
          <a:blip r:embed="rId3">
            <a:alphaModFix/>
          </a:blip>
          <a:srcRect b="0" l="0" r="0" t="12555"/>
          <a:stretch/>
        </p:blipFill>
        <p:spPr>
          <a:xfrm>
            <a:off x="406165" y="2987040"/>
            <a:ext cx="8814035" cy="5948401"/>
          </a:xfrm>
          <a:prstGeom prst="rect">
            <a:avLst/>
          </a:prstGeom>
          <a:noFill/>
          <a:ln>
            <a:noFill/>
          </a:ln>
        </p:spPr>
      </p:pic>
      <p:grpSp>
        <p:nvGrpSpPr>
          <p:cNvPr id="633" name="Google Shape;633;p35"/>
          <p:cNvGrpSpPr/>
          <p:nvPr/>
        </p:nvGrpSpPr>
        <p:grpSpPr>
          <a:xfrm>
            <a:off x="17016492" y="-180826"/>
            <a:ext cx="1271508" cy="10467826"/>
            <a:chOff x="0" y="-47625"/>
            <a:chExt cx="334883" cy="2756958"/>
          </a:xfrm>
        </p:grpSpPr>
        <p:sp>
          <p:nvSpPr>
            <p:cNvPr id="634" name="Google Shape;634;p35"/>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5" name="Google Shape;635;p35"/>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36" name="Google Shape;636;p35"/>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4">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7" name="Google Shape;637;p35"/>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638" name="Google Shape;638;p35"/>
          <p:cNvSpPr txBox="1"/>
          <p:nvPr/>
        </p:nvSpPr>
        <p:spPr>
          <a:xfrm>
            <a:off x="4152286" y="1328699"/>
            <a:ext cx="9983428" cy="81734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What is Decision Tree?</a:t>
            </a:r>
            <a:endParaRPr/>
          </a:p>
        </p:txBody>
      </p:sp>
      <p:sp>
        <p:nvSpPr>
          <p:cNvPr id="639" name="Google Shape;639;p35"/>
          <p:cNvSpPr/>
          <p:nvPr/>
        </p:nvSpPr>
        <p:spPr>
          <a:xfrm>
            <a:off x="9138037" y="2971800"/>
            <a:ext cx="7168763" cy="6677854"/>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400"/>
              <a:buFont typeface="Montserrat"/>
              <a:buNone/>
            </a:pPr>
            <a:r>
              <a:rPr lang="en-US" sz="2400">
                <a:solidFill>
                  <a:schemeClr val="dk1"/>
                </a:solidFill>
                <a:latin typeface="Montserrat"/>
                <a:ea typeface="Montserrat"/>
                <a:cs typeface="Montserrat"/>
                <a:sym typeface="Montserrat"/>
              </a:rPr>
              <a:t>Decision Tree adalah model prediksi berbentuk struktur pohon yang digunakan dalam machine learning dan data mining untuk tugas klasifikasi maupun regresi.</a:t>
            </a:r>
            <a:endParaRPr/>
          </a:p>
          <a:p>
            <a:pPr indent="0" lvl="0" marL="0" marR="0" rtl="0" algn="just">
              <a:lnSpc>
                <a:spcPct val="150000"/>
              </a:lnSpc>
              <a:spcBef>
                <a:spcPts val="0"/>
              </a:spcBef>
              <a:spcAft>
                <a:spcPts val="0"/>
              </a:spcAft>
              <a:buClr>
                <a:schemeClr val="dk1"/>
              </a:buClr>
              <a:buSzPts val="2400"/>
              <a:buFont typeface="Calibri"/>
              <a:buNone/>
            </a:pPr>
            <a:r>
              <a:t/>
            </a:r>
            <a:endParaRPr sz="2400">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2400"/>
              <a:buFont typeface="Montserrat"/>
              <a:buNone/>
            </a:pPr>
            <a:r>
              <a:rPr lang="en-US" sz="2400">
                <a:solidFill>
                  <a:schemeClr val="dk1"/>
                </a:solidFill>
                <a:latin typeface="Montserrat"/>
                <a:ea typeface="Montserrat"/>
                <a:cs typeface="Montserrat"/>
                <a:sym typeface="Montserrat"/>
              </a:rPr>
              <a:t> 	Struktur Umum:</a:t>
            </a:r>
            <a:endParaRPr/>
          </a:p>
          <a:p>
            <a:pPr indent="-342900" lvl="0" marL="342900" marR="0" rtl="0" algn="l">
              <a:lnSpc>
                <a:spcPct val="150000"/>
              </a:lnSpc>
              <a:spcBef>
                <a:spcPts val="0"/>
              </a:spcBef>
              <a:spcAft>
                <a:spcPts val="0"/>
              </a:spcAft>
              <a:buClr>
                <a:schemeClr val="dk1"/>
              </a:buClr>
              <a:buSzPts val="2400"/>
              <a:buFont typeface="Arial"/>
              <a:buChar char="•"/>
            </a:pPr>
            <a:r>
              <a:rPr b="1" lang="en-US" sz="2400">
                <a:solidFill>
                  <a:schemeClr val="dk1"/>
                </a:solidFill>
                <a:latin typeface="Montserrat"/>
                <a:ea typeface="Montserrat"/>
                <a:cs typeface="Montserrat"/>
                <a:sym typeface="Montserrat"/>
              </a:rPr>
              <a:t>Root Node</a:t>
            </a:r>
            <a:r>
              <a:rPr lang="en-US" sz="2400">
                <a:solidFill>
                  <a:schemeClr val="dk1"/>
                </a:solidFill>
                <a:latin typeface="Montserrat"/>
                <a:ea typeface="Montserrat"/>
                <a:cs typeface="Montserrat"/>
                <a:sym typeface="Montserrat"/>
              </a:rPr>
              <a:t>: Atribut awal yang paling informatif.</a:t>
            </a:r>
            <a:endParaRPr/>
          </a:p>
          <a:p>
            <a:pPr indent="-342900" lvl="0" marL="342900" marR="0" rtl="0" algn="l">
              <a:lnSpc>
                <a:spcPct val="150000"/>
              </a:lnSpc>
              <a:spcBef>
                <a:spcPts val="0"/>
              </a:spcBef>
              <a:spcAft>
                <a:spcPts val="0"/>
              </a:spcAft>
              <a:buClr>
                <a:schemeClr val="dk1"/>
              </a:buClr>
              <a:buSzPts val="2400"/>
              <a:buFont typeface="Arial"/>
              <a:buChar char="•"/>
            </a:pPr>
            <a:r>
              <a:rPr b="1" lang="en-US" sz="2400">
                <a:solidFill>
                  <a:schemeClr val="dk1"/>
                </a:solidFill>
                <a:latin typeface="Montserrat"/>
                <a:ea typeface="Montserrat"/>
                <a:cs typeface="Montserrat"/>
                <a:sym typeface="Montserrat"/>
              </a:rPr>
              <a:t>Internal Node</a:t>
            </a:r>
            <a:r>
              <a:rPr lang="en-US" sz="2400">
                <a:solidFill>
                  <a:schemeClr val="dk1"/>
                </a:solidFill>
                <a:latin typeface="Montserrat"/>
                <a:ea typeface="Montserrat"/>
                <a:cs typeface="Montserrat"/>
                <a:sym typeface="Montserrat"/>
              </a:rPr>
              <a:t>: Atribut-atribut yang memecah data lebih lanjut.</a:t>
            </a:r>
            <a:endParaRPr/>
          </a:p>
          <a:p>
            <a:pPr indent="-342900" lvl="0" marL="342900" marR="0" rtl="0" algn="l">
              <a:lnSpc>
                <a:spcPct val="150000"/>
              </a:lnSpc>
              <a:spcBef>
                <a:spcPts val="0"/>
              </a:spcBef>
              <a:spcAft>
                <a:spcPts val="0"/>
              </a:spcAft>
              <a:buClr>
                <a:schemeClr val="dk1"/>
              </a:buClr>
              <a:buSzPts val="2400"/>
              <a:buFont typeface="Arial"/>
              <a:buChar char="•"/>
            </a:pPr>
            <a:r>
              <a:rPr b="1" lang="en-US" sz="2400">
                <a:solidFill>
                  <a:schemeClr val="dk1"/>
                </a:solidFill>
                <a:latin typeface="Montserrat"/>
                <a:ea typeface="Montserrat"/>
                <a:cs typeface="Montserrat"/>
                <a:sym typeface="Montserrat"/>
              </a:rPr>
              <a:t>Leaf Node</a:t>
            </a:r>
            <a:r>
              <a:rPr lang="en-US" sz="2400">
                <a:solidFill>
                  <a:schemeClr val="dk1"/>
                </a:solidFill>
                <a:latin typeface="Montserrat"/>
                <a:ea typeface="Montserrat"/>
                <a:cs typeface="Montserrat"/>
                <a:sym typeface="Montserrat"/>
              </a:rPr>
              <a:t>: Hasil/keputusan akhir (kelas).</a:t>
            </a:r>
            <a:endParaRPr/>
          </a:p>
          <a:p>
            <a:pPr indent="0" lvl="0" marL="0" marR="0" rtl="0" algn="just">
              <a:lnSpc>
                <a:spcPct val="150000"/>
              </a:lnSpc>
              <a:spcBef>
                <a:spcPts val="0"/>
              </a:spcBef>
              <a:spcAft>
                <a:spcPts val="0"/>
              </a:spcAft>
              <a:buClr>
                <a:schemeClr val="dk1"/>
              </a:buClr>
              <a:buSzPts val="2400"/>
              <a:buFont typeface="Calibri"/>
              <a:buNone/>
            </a:pPr>
            <a:r>
              <a:t/>
            </a:r>
            <a:endParaRPr sz="2400">
              <a:solidFill>
                <a:schemeClr val="dk1"/>
              </a:solidFill>
              <a:latin typeface="Montserrat"/>
              <a:ea typeface="Montserrat"/>
              <a:cs typeface="Montserrat"/>
              <a:sym typeface="Montserrat"/>
            </a:endParaRPr>
          </a:p>
        </p:txBody>
      </p:sp>
      <p:pic>
        <p:nvPicPr>
          <p:cNvPr id="640" name="Google Shape;640;p35"/>
          <p:cNvPicPr preferRelativeResize="0"/>
          <p:nvPr/>
        </p:nvPicPr>
        <p:blipFill rotWithShape="1">
          <a:blip r:embed="rId5">
            <a:alphaModFix/>
          </a:blip>
          <a:srcRect b="0" l="0" r="0" t="0"/>
          <a:stretch/>
        </p:blipFill>
        <p:spPr>
          <a:xfrm>
            <a:off x="1066800" y="8691580"/>
            <a:ext cx="2796782" cy="243861"/>
          </a:xfrm>
          <a:prstGeom prst="rect">
            <a:avLst/>
          </a:prstGeom>
          <a:noFill/>
          <a:ln>
            <a:noFill/>
          </a:ln>
        </p:spPr>
      </p:pic>
      <p:pic>
        <p:nvPicPr>
          <p:cNvPr descr="Deciduous tree outline" id="641" name="Google Shape;641;p35"/>
          <p:cNvPicPr preferRelativeResize="0"/>
          <p:nvPr/>
        </p:nvPicPr>
        <p:blipFill rotWithShape="1">
          <a:blip r:embed="rId6">
            <a:alphaModFix/>
          </a:blip>
          <a:srcRect b="0" l="0" r="0" t="0"/>
          <a:stretch/>
        </p:blipFill>
        <p:spPr>
          <a:xfrm>
            <a:off x="9138037" y="5276247"/>
            <a:ext cx="914400" cy="914400"/>
          </a:xfrm>
          <a:prstGeom prst="rect">
            <a:avLst/>
          </a:prstGeom>
          <a:noFill/>
          <a:ln>
            <a:noFill/>
          </a:ln>
        </p:spPr>
      </p:pic>
    </p:spTree>
  </p:cSld>
  <p:clrMapOvr>
    <a:masterClrMapping/>
  </p:clrMapOvr>
  <p:transition spd="slow">
    <p:push/>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pic>
        <p:nvPicPr>
          <p:cNvPr id="647" name="Google Shape;647;p36"/>
          <p:cNvPicPr preferRelativeResize="0"/>
          <p:nvPr/>
        </p:nvPicPr>
        <p:blipFill rotWithShape="1">
          <a:blip r:embed="rId3">
            <a:alphaModFix/>
          </a:blip>
          <a:srcRect b="0" l="0" r="0" t="12555"/>
          <a:stretch/>
        </p:blipFill>
        <p:spPr>
          <a:xfrm>
            <a:off x="543325" y="2987040"/>
            <a:ext cx="8814035" cy="5948401"/>
          </a:xfrm>
          <a:prstGeom prst="rect">
            <a:avLst/>
          </a:prstGeom>
          <a:noFill/>
          <a:ln>
            <a:noFill/>
          </a:ln>
        </p:spPr>
      </p:pic>
      <p:grpSp>
        <p:nvGrpSpPr>
          <p:cNvPr id="648" name="Google Shape;648;p36"/>
          <p:cNvGrpSpPr/>
          <p:nvPr/>
        </p:nvGrpSpPr>
        <p:grpSpPr>
          <a:xfrm>
            <a:off x="17016492" y="-180826"/>
            <a:ext cx="1271508" cy="10467826"/>
            <a:chOff x="0" y="-47625"/>
            <a:chExt cx="334883" cy="2756958"/>
          </a:xfrm>
        </p:grpSpPr>
        <p:sp>
          <p:nvSpPr>
            <p:cNvPr id="649" name="Google Shape;649;p36"/>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36"/>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51" name="Google Shape;651;p36"/>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4">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2" name="Google Shape;652;p36"/>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653" name="Google Shape;653;p36"/>
          <p:cNvSpPr txBox="1"/>
          <p:nvPr/>
        </p:nvSpPr>
        <p:spPr>
          <a:xfrm>
            <a:off x="4152286" y="1328699"/>
            <a:ext cx="9983428" cy="81734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What is Decision Tree?</a:t>
            </a:r>
            <a:endParaRPr/>
          </a:p>
        </p:txBody>
      </p:sp>
      <p:sp>
        <p:nvSpPr>
          <p:cNvPr id="654" name="Google Shape;654;p36"/>
          <p:cNvSpPr/>
          <p:nvPr/>
        </p:nvSpPr>
        <p:spPr>
          <a:xfrm>
            <a:off x="9144000" y="3086100"/>
            <a:ext cx="7168763" cy="501586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400"/>
              <a:buFont typeface="Montserrat"/>
              <a:buNone/>
            </a:pPr>
            <a:r>
              <a:rPr lang="en-US" sz="2400">
                <a:solidFill>
                  <a:schemeClr val="dk1"/>
                </a:solidFill>
                <a:latin typeface="Montserrat"/>
                <a:ea typeface="Montserrat"/>
                <a:cs typeface="Montserrat"/>
                <a:sym typeface="Montserrat"/>
              </a:rPr>
              <a:t>Model ini bekerja dengan cara:</a:t>
            </a:r>
            <a:endParaRPr/>
          </a:p>
          <a:p>
            <a:pPr indent="-457200" lvl="0" marL="457200" marR="0" rtl="0" algn="just">
              <a:lnSpc>
                <a:spcPct val="150000"/>
              </a:lnSpc>
              <a:spcBef>
                <a:spcPts val="0"/>
              </a:spcBef>
              <a:spcAft>
                <a:spcPts val="0"/>
              </a:spcAft>
              <a:buClr>
                <a:schemeClr val="dk1"/>
              </a:buClr>
              <a:buSzPts val="2400"/>
              <a:buFont typeface="Calibri"/>
              <a:buAutoNum type="arabicPeriod"/>
            </a:pPr>
            <a:r>
              <a:rPr lang="en-US" sz="2400">
                <a:solidFill>
                  <a:schemeClr val="dk1"/>
                </a:solidFill>
                <a:latin typeface="Montserrat"/>
                <a:ea typeface="Montserrat"/>
                <a:cs typeface="Montserrat"/>
                <a:sym typeface="Montserrat"/>
              </a:rPr>
              <a:t>Memecah dataset menjadi subset berdasarkan atribut (fitur).</a:t>
            </a:r>
            <a:endParaRPr/>
          </a:p>
          <a:p>
            <a:pPr indent="-457200" lvl="0" marL="457200" marR="0" rtl="0" algn="just">
              <a:lnSpc>
                <a:spcPct val="150000"/>
              </a:lnSpc>
              <a:spcBef>
                <a:spcPts val="0"/>
              </a:spcBef>
              <a:spcAft>
                <a:spcPts val="0"/>
              </a:spcAft>
              <a:buClr>
                <a:schemeClr val="dk1"/>
              </a:buClr>
              <a:buSzPts val="2400"/>
              <a:buFont typeface="Calibri"/>
              <a:buAutoNum type="arabicPeriod"/>
            </a:pPr>
            <a:r>
              <a:rPr lang="en-US" sz="2400">
                <a:solidFill>
                  <a:schemeClr val="dk1"/>
                </a:solidFill>
                <a:latin typeface="Montserrat"/>
                <a:ea typeface="Montserrat"/>
                <a:cs typeface="Montserrat"/>
                <a:sym typeface="Montserrat"/>
              </a:rPr>
              <a:t>Setiap node dalam pohon mewakili atribut, dan cabang mewakili kondisi terhadap atribut tersebut.</a:t>
            </a:r>
            <a:endParaRPr/>
          </a:p>
          <a:p>
            <a:pPr indent="-457200" lvl="0" marL="457200" marR="0" rtl="0" algn="just">
              <a:lnSpc>
                <a:spcPct val="150000"/>
              </a:lnSpc>
              <a:spcBef>
                <a:spcPts val="0"/>
              </a:spcBef>
              <a:spcAft>
                <a:spcPts val="0"/>
              </a:spcAft>
              <a:buClr>
                <a:schemeClr val="dk1"/>
              </a:buClr>
              <a:buSzPts val="2400"/>
              <a:buFont typeface="Calibri"/>
              <a:buAutoNum type="arabicPeriod"/>
            </a:pPr>
            <a:r>
              <a:rPr lang="en-US" sz="2400">
                <a:solidFill>
                  <a:schemeClr val="dk1"/>
                </a:solidFill>
                <a:latin typeface="Montserrat"/>
                <a:ea typeface="Montserrat"/>
                <a:cs typeface="Montserrat"/>
                <a:sym typeface="Montserrat"/>
              </a:rPr>
              <a:t>Proses pemisahan terus berlanjut sampai mencapai leaf node, yaitu keputusan akhir (misalnya: "Yes" atau "No").</a:t>
            </a:r>
            <a:endParaRPr/>
          </a:p>
        </p:txBody>
      </p:sp>
      <p:pic>
        <p:nvPicPr>
          <p:cNvPr id="655" name="Google Shape;655;p36"/>
          <p:cNvPicPr preferRelativeResize="0"/>
          <p:nvPr/>
        </p:nvPicPr>
        <p:blipFill rotWithShape="1">
          <a:blip r:embed="rId5">
            <a:alphaModFix/>
          </a:blip>
          <a:srcRect b="0" l="0" r="0" t="0"/>
          <a:stretch/>
        </p:blipFill>
        <p:spPr>
          <a:xfrm>
            <a:off x="1066800" y="8691580"/>
            <a:ext cx="2796782" cy="243861"/>
          </a:xfrm>
          <a:prstGeom prst="rect">
            <a:avLst/>
          </a:prstGeom>
          <a:noFill/>
          <a:ln>
            <a:noFill/>
          </a:ln>
        </p:spPr>
      </p:pic>
    </p:spTree>
  </p:cSld>
  <p:clrMapOvr>
    <a:masterClrMapping/>
  </p:clrMapOvr>
  <p:transition spd="slow">
    <p:push/>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grpSp>
        <p:nvGrpSpPr>
          <p:cNvPr id="661" name="Google Shape;661;p37"/>
          <p:cNvGrpSpPr/>
          <p:nvPr/>
        </p:nvGrpSpPr>
        <p:grpSpPr>
          <a:xfrm>
            <a:off x="17016492" y="-180826"/>
            <a:ext cx="1271508" cy="10467826"/>
            <a:chOff x="0" y="-47625"/>
            <a:chExt cx="334883" cy="2756958"/>
          </a:xfrm>
        </p:grpSpPr>
        <p:sp>
          <p:nvSpPr>
            <p:cNvPr id="662" name="Google Shape;662;p37"/>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3" name="Google Shape;663;p37"/>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64" name="Google Shape;664;p37"/>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5" name="Google Shape;665;p37"/>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grpSp>
        <p:nvGrpSpPr>
          <p:cNvPr id="666" name="Google Shape;666;p37"/>
          <p:cNvGrpSpPr/>
          <p:nvPr/>
        </p:nvGrpSpPr>
        <p:grpSpPr>
          <a:xfrm>
            <a:off x="-4464322" y="-101727"/>
            <a:ext cx="21264897" cy="10934832"/>
            <a:chOff x="-9188722" y="-1403415"/>
            <a:chExt cx="21264897" cy="10934832"/>
          </a:xfrm>
        </p:grpSpPr>
        <p:sp>
          <p:nvSpPr>
            <p:cNvPr id="667" name="Google Shape;667;p37"/>
            <p:cNvSpPr/>
            <p:nvPr/>
          </p:nvSpPr>
          <p:spPr>
            <a:xfrm>
              <a:off x="-9188722" y="-1403415"/>
              <a:ext cx="10934832" cy="10934832"/>
            </a:xfrm>
            <a:prstGeom prst="blockArc">
              <a:avLst>
                <a:gd fmla="val 18900000" name="adj1"/>
                <a:gd fmla="val 2700000" name="adj2"/>
                <a:gd fmla="val 198" name="adj3"/>
              </a:avLst>
            </a:pr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7"/>
            <p:cNvSpPr/>
            <p:nvPr/>
          </p:nvSpPr>
          <p:spPr>
            <a:xfrm>
              <a:off x="650646" y="428020"/>
              <a:ext cx="11425529" cy="8557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7"/>
            <p:cNvSpPr txBox="1"/>
            <p:nvPr/>
          </p:nvSpPr>
          <p:spPr>
            <a:xfrm>
              <a:off x="650646" y="428020"/>
              <a:ext cx="11425529" cy="855715"/>
            </a:xfrm>
            <a:prstGeom prst="rect">
              <a:avLst/>
            </a:prstGeom>
            <a:noFill/>
            <a:ln>
              <a:noFill/>
            </a:ln>
          </p:spPr>
          <p:txBody>
            <a:bodyPr anchorCtr="0" anchor="ctr" bIns="111750" lIns="679200" spcFirstLastPara="1" rIns="111750" wrap="square" tIns="111750">
              <a:noAutofit/>
            </a:bodyPr>
            <a:lstStyle/>
            <a:p>
              <a:pPr indent="0" lvl="0" marL="0" marR="0" rtl="0" algn="l">
                <a:lnSpc>
                  <a:spcPct val="90000"/>
                </a:lnSpc>
                <a:spcBef>
                  <a:spcPts val="0"/>
                </a:spcBef>
                <a:spcAft>
                  <a:spcPts val="0"/>
                </a:spcAft>
                <a:buClr>
                  <a:schemeClr val="lt1"/>
                </a:buClr>
                <a:buSzPts val="4400"/>
                <a:buFont typeface="Calibri"/>
                <a:buNone/>
              </a:pPr>
              <a:r>
                <a:rPr lang="en-US" sz="4400">
                  <a:solidFill>
                    <a:schemeClr val="lt1"/>
                  </a:solidFill>
                  <a:latin typeface="Calibri"/>
                  <a:ea typeface="Calibri"/>
                  <a:cs typeface="Calibri"/>
                  <a:sym typeface="Calibri"/>
                </a:rPr>
                <a:t>Kriteria (Criterion)</a:t>
              </a:r>
              <a:endParaRPr/>
            </a:p>
          </p:txBody>
        </p:sp>
        <p:sp>
          <p:nvSpPr>
            <p:cNvPr id="670" name="Google Shape;670;p37"/>
            <p:cNvSpPr/>
            <p:nvPr/>
          </p:nvSpPr>
          <p:spPr>
            <a:xfrm>
              <a:off x="115823" y="321056"/>
              <a:ext cx="1069644" cy="1069644"/>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7"/>
            <p:cNvSpPr/>
            <p:nvPr/>
          </p:nvSpPr>
          <p:spPr>
            <a:xfrm>
              <a:off x="1354531" y="1711431"/>
              <a:ext cx="10721644" cy="8557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37"/>
            <p:cNvSpPr txBox="1"/>
            <p:nvPr/>
          </p:nvSpPr>
          <p:spPr>
            <a:xfrm>
              <a:off x="1354531" y="1711431"/>
              <a:ext cx="10721644" cy="855715"/>
            </a:xfrm>
            <a:prstGeom prst="rect">
              <a:avLst/>
            </a:prstGeom>
            <a:noFill/>
            <a:ln>
              <a:noFill/>
            </a:ln>
          </p:spPr>
          <p:txBody>
            <a:bodyPr anchorCtr="0" anchor="ctr" bIns="111750" lIns="679200" spcFirstLastPara="1" rIns="111750" wrap="square" tIns="111750">
              <a:noAutofit/>
            </a:bodyPr>
            <a:lstStyle/>
            <a:p>
              <a:pPr indent="0" lvl="0" marL="0" marR="0" rtl="0" algn="l">
                <a:lnSpc>
                  <a:spcPct val="90000"/>
                </a:lnSpc>
                <a:spcBef>
                  <a:spcPts val="0"/>
                </a:spcBef>
                <a:spcAft>
                  <a:spcPts val="0"/>
                </a:spcAft>
                <a:buClr>
                  <a:schemeClr val="lt1"/>
                </a:buClr>
                <a:buSzPts val="4400"/>
                <a:buFont typeface="Calibri"/>
                <a:buNone/>
              </a:pPr>
              <a:r>
                <a:rPr lang="en-US" sz="4400">
                  <a:solidFill>
                    <a:schemeClr val="lt1"/>
                  </a:solidFill>
                  <a:latin typeface="Calibri"/>
                  <a:ea typeface="Calibri"/>
                  <a:cs typeface="Calibri"/>
                  <a:sym typeface="Calibri"/>
                </a:rPr>
                <a:t>Maksimal Kedalaman (max_depth)</a:t>
              </a:r>
              <a:endParaRPr/>
            </a:p>
          </p:txBody>
        </p:sp>
        <p:sp>
          <p:nvSpPr>
            <p:cNvPr id="673" name="Google Shape;673;p37"/>
            <p:cNvSpPr/>
            <p:nvPr/>
          </p:nvSpPr>
          <p:spPr>
            <a:xfrm>
              <a:off x="819708" y="1604467"/>
              <a:ext cx="1069644" cy="1069644"/>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37"/>
            <p:cNvSpPr/>
            <p:nvPr/>
          </p:nvSpPr>
          <p:spPr>
            <a:xfrm>
              <a:off x="1676399" y="2994842"/>
              <a:ext cx="10399776" cy="8557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37"/>
            <p:cNvSpPr txBox="1"/>
            <p:nvPr/>
          </p:nvSpPr>
          <p:spPr>
            <a:xfrm>
              <a:off x="1676399" y="2994842"/>
              <a:ext cx="10399776" cy="855715"/>
            </a:xfrm>
            <a:prstGeom prst="rect">
              <a:avLst/>
            </a:prstGeom>
            <a:noFill/>
            <a:ln>
              <a:noFill/>
            </a:ln>
          </p:spPr>
          <p:txBody>
            <a:bodyPr anchorCtr="0" anchor="ctr" bIns="111750" lIns="679200" spcFirstLastPara="1" rIns="111750" wrap="square" tIns="111750">
              <a:noAutofit/>
            </a:bodyPr>
            <a:lstStyle/>
            <a:p>
              <a:pPr indent="0" lvl="0" marL="0" marR="0" rtl="0" algn="l">
                <a:lnSpc>
                  <a:spcPct val="90000"/>
                </a:lnSpc>
                <a:spcBef>
                  <a:spcPts val="0"/>
                </a:spcBef>
                <a:spcAft>
                  <a:spcPts val="0"/>
                </a:spcAft>
                <a:buClr>
                  <a:schemeClr val="lt1"/>
                </a:buClr>
                <a:buSzPts val="4400"/>
                <a:buFont typeface="Calibri"/>
                <a:buNone/>
              </a:pPr>
              <a:r>
                <a:rPr lang="en-US" sz="4400">
                  <a:solidFill>
                    <a:schemeClr val="lt1"/>
                  </a:solidFill>
                  <a:latin typeface="Calibri"/>
                  <a:ea typeface="Calibri"/>
                  <a:cs typeface="Calibri"/>
                  <a:sym typeface="Calibri"/>
                </a:rPr>
                <a:t>Min_samples_split</a:t>
              </a:r>
              <a:endParaRPr sz="4400">
                <a:solidFill>
                  <a:schemeClr val="lt1"/>
                </a:solidFill>
                <a:latin typeface="Calibri"/>
                <a:ea typeface="Calibri"/>
                <a:cs typeface="Calibri"/>
                <a:sym typeface="Calibri"/>
              </a:endParaRPr>
            </a:p>
          </p:txBody>
        </p:sp>
        <p:sp>
          <p:nvSpPr>
            <p:cNvPr id="676" name="Google Shape;676;p37"/>
            <p:cNvSpPr/>
            <p:nvPr/>
          </p:nvSpPr>
          <p:spPr>
            <a:xfrm>
              <a:off x="1141577" y="2887878"/>
              <a:ext cx="1069644" cy="1069644"/>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37"/>
            <p:cNvSpPr/>
            <p:nvPr/>
          </p:nvSpPr>
          <p:spPr>
            <a:xfrm>
              <a:off x="1676399" y="4277441"/>
              <a:ext cx="10399776" cy="8557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7"/>
            <p:cNvSpPr txBox="1"/>
            <p:nvPr/>
          </p:nvSpPr>
          <p:spPr>
            <a:xfrm>
              <a:off x="1676399" y="4277441"/>
              <a:ext cx="10399776" cy="855715"/>
            </a:xfrm>
            <a:prstGeom prst="rect">
              <a:avLst/>
            </a:prstGeom>
            <a:noFill/>
            <a:ln>
              <a:noFill/>
            </a:ln>
          </p:spPr>
          <p:txBody>
            <a:bodyPr anchorCtr="0" anchor="ctr" bIns="111750" lIns="679200" spcFirstLastPara="1" rIns="111750" wrap="square" tIns="111750">
              <a:noAutofit/>
            </a:bodyPr>
            <a:lstStyle/>
            <a:p>
              <a:pPr indent="0" lvl="0" marL="0" marR="0" rtl="0" algn="l">
                <a:lnSpc>
                  <a:spcPct val="90000"/>
                </a:lnSpc>
                <a:spcBef>
                  <a:spcPts val="0"/>
                </a:spcBef>
                <a:spcAft>
                  <a:spcPts val="0"/>
                </a:spcAft>
                <a:buClr>
                  <a:schemeClr val="lt1"/>
                </a:buClr>
                <a:buSzPts val="4400"/>
                <a:buFont typeface="Calibri"/>
                <a:buNone/>
              </a:pPr>
              <a:r>
                <a:rPr lang="en-US" sz="4400">
                  <a:solidFill>
                    <a:schemeClr val="lt1"/>
                  </a:solidFill>
                  <a:latin typeface="Calibri"/>
                  <a:ea typeface="Calibri"/>
                  <a:cs typeface="Calibri"/>
                  <a:sym typeface="Calibri"/>
                </a:rPr>
                <a:t>Min_samples_leaf</a:t>
              </a:r>
              <a:endParaRPr sz="4400">
                <a:solidFill>
                  <a:schemeClr val="lt1"/>
                </a:solidFill>
                <a:latin typeface="Calibri"/>
                <a:ea typeface="Calibri"/>
                <a:cs typeface="Calibri"/>
                <a:sym typeface="Calibri"/>
              </a:endParaRPr>
            </a:p>
          </p:txBody>
        </p:sp>
        <p:sp>
          <p:nvSpPr>
            <p:cNvPr id="679" name="Google Shape;679;p37"/>
            <p:cNvSpPr/>
            <p:nvPr/>
          </p:nvSpPr>
          <p:spPr>
            <a:xfrm>
              <a:off x="1141577" y="4170476"/>
              <a:ext cx="1069644" cy="1069644"/>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37"/>
            <p:cNvSpPr/>
            <p:nvPr/>
          </p:nvSpPr>
          <p:spPr>
            <a:xfrm>
              <a:off x="1354531" y="5560852"/>
              <a:ext cx="10721644" cy="8557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7"/>
            <p:cNvSpPr txBox="1"/>
            <p:nvPr/>
          </p:nvSpPr>
          <p:spPr>
            <a:xfrm>
              <a:off x="1354531" y="5560852"/>
              <a:ext cx="10721644" cy="855715"/>
            </a:xfrm>
            <a:prstGeom prst="rect">
              <a:avLst/>
            </a:prstGeom>
            <a:noFill/>
            <a:ln>
              <a:noFill/>
            </a:ln>
          </p:spPr>
          <p:txBody>
            <a:bodyPr anchorCtr="0" anchor="ctr" bIns="111750" lIns="679200" spcFirstLastPara="1" rIns="111750" wrap="square" tIns="111750">
              <a:noAutofit/>
            </a:bodyPr>
            <a:lstStyle/>
            <a:p>
              <a:pPr indent="0" lvl="0" marL="0" marR="0" rtl="0" algn="l">
                <a:lnSpc>
                  <a:spcPct val="90000"/>
                </a:lnSpc>
                <a:spcBef>
                  <a:spcPts val="0"/>
                </a:spcBef>
                <a:spcAft>
                  <a:spcPts val="0"/>
                </a:spcAft>
                <a:buClr>
                  <a:schemeClr val="lt1"/>
                </a:buClr>
                <a:buSzPts val="4400"/>
                <a:buFont typeface="Calibri"/>
                <a:buNone/>
              </a:pPr>
              <a:r>
                <a:rPr lang="en-US" sz="4400">
                  <a:solidFill>
                    <a:schemeClr val="lt1"/>
                  </a:solidFill>
                  <a:latin typeface="Calibri"/>
                  <a:ea typeface="Calibri"/>
                  <a:cs typeface="Calibri"/>
                  <a:sym typeface="Calibri"/>
                </a:rPr>
                <a:t>Max_features</a:t>
              </a:r>
              <a:endParaRPr sz="4400">
                <a:solidFill>
                  <a:schemeClr val="lt1"/>
                </a:solidFill>
                <a:latin typeface="Calibri"/>
                <a:ea typeface="Calibri"/>
                <a:cs typeface="Calibri"/>
                <a:sym typeface="Calibri"/>
              </a:endParaRPr>
            </a:p>
          </p:txBody>
        </p:sp>
        <p:sp>
          <p:nvSpPr>
            <p:cNvPr id="682" name="Google Shape;682;p37"/>
            <p:cNvSpPr/>
            <p:nvPr/>
          </p:nvSpPr>
          <p:spPr>
            <a:xfrm>
              <a:off x="819708" y="5453888"/>
              <a:ext cx="1069644" cy="1069644"/>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7"/>
            <p:cNvSpPr/>
            <p:nvPr/>
          </p:nvSpPr>
          <p:spPr>
            <a:xfrm>
              <a:off x="650646" y="6844263"/>
              <a:ext cx="11425529" cy="855715"/>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7"/>
            <p:cNvSpPr txBox="1"/>
            <p:nvPr/>
          </p:nvSpPr>
          <p:spPr>
            <a:xfrm>
              <a:off x="650646" y="6844263"/>
              <a:ext cx="11425529" cy="855715"/>
            </a:xfrm>
            <a:prstGeom prst="rect">
              <a:avLst/>
            </a:prstGeom>
            <a:noFill/>
            <a:ln>
              <a:noFill/>
            </a:ln>
          </p:spPr>
          <p:txBody>
            <a:bodyPr anchorCtr="0" anchor="ctr" bIns="111750" lIns="679200" spcFirstLastPara="1" rIns="111750" wrap="square" tIns="111750">
              <a:noAutofit/>
            </a:bodyPr>
            <a:lstStyle/>
            <a:p>
              <a:pPr indent="0" lvl="0" marL="0" marR="0" rtl="0" algn="l">
                <a:lnSpc>
                  <a:spcPct val="90000"/>
                </a:lnSpc>
                <a:spcBef>
                  <a:spcPts val="0"/>
                </a:spcBef>
                <a:spcAft>
                  <a:spcPts val="0"/>
                </a:spcAft>
                <a:buClr>
                  <a:schemeClr val="lt1"/>
                </a:buClr>
                <a:buSzPts val="4400"/>
                <a:buFont typeface="Calibri"/>
                <a:buNone/>
              </a:pPr>
              <a:r>
                <a:rPr lang="en-US" sz="4400">
                  <a:solidFill>
                    <a:schemeClr val="lt1"/>
                  </a:solidFill>
                  <a:latin typeface="Calibri"/>
                  <a:ea typeface="Calibri"/>
                  <a:cs typeface="Calibri"/>
                  <a:sym typeface="Calibri"/>
                </a:rPr>
                <a:t>Splitter</a:t>
              </a:r>
              <a:endParaRPr/>
            </a:p>
          </p:txBody>
        </p:sp>
        <p:sp>
          <p:nvSpPr>
            <p:cNvPr id="685" name="Google Shape;685;p37"/>
            <p:cNvSpPr/>
            <p:nvPr/>
          </p:nvSpPr>
          <p:spPr>
            <a:xfrm>
              <a:off x="115823" y="6737299"/>
              <a:ext cx="1069644" cy="1069644"/>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6" name="Google Shape;686;p37"/>
          <p:cNvSpPr txBox="1"/>
          <p:nvPr/>
        </p:nvSpPr>
        <p:spPr>
          <a:xfrm>
            <a:off x="914400" y="2961343"/>
            <a:ext cx="3962400" cy="4808689"/>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5400">
                <a:solidFill>
                  <a:srgbClr val="08377C"/>
                </a:solidFill>
                <a:latin typeface="Montserrat"/>
                <a:ea typeface="Montserrat"/>
                <a:cs typeface="Montserrat"/>
                <a:sym typeface="Montserrat"/>
              </a:rPr>
              <a:t>Parameter Utama Decision Tree</a:t>
            </a:r>
            <a:endParaRPr/>
          </a:p>
        </p:txBody>
      </p:sp>
    </p:spTree>
  </p:cSld>
  <p:clrMapOvr>
    <a:masterClrMapping/>
  </p:clrMapOvr>
  <p:transition spd="slow">
    <p:push/>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grpSp>
        <p:nvGrpSpPr>
          <p:cNvPr id="692" name="Google Shape;692;p38"/>
          <p:cNvGrpSpPr/>
          <p:nvPr/>
        </p:nvGrpSpPr>
        <p:grpSpPr>
          <a:xfrm>
            <a:off x="15238003" y="8290589"/>
            <a:ext cx="7523780" cy="7523780"/>
            <a:chOff x="0" y="0"/>
            <a:chExt cx="812800" cy="812800"/>
          </a:xfrm>
        </p:grpSpPr>
        <p:sp>
          <p:nvSpPr>
            <p:cNvPr id="693" name="Google Shape;693;p3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4" name="Google Shape;694;p3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95" name="Google Shape;695;p38"/>
          <p:cNvGrpSpPr/>
          <p:nvPr/>
        </p:nvGrpSpPr>
        <p:grpSpPr>
          <a:xfrm>
            <a:off x="-3724222" y="-4507687"/>
            <a:ext cx="5924489" cy="5924489"/>
            <a:chOff x="0" y="0"/>
            <a:chExt cx="812800" cy="812800"/>
          </a:xfrm>
        </p:grpSpPr>
        <p:sp>
          <p:nvSpPr>
            <p:cNvPr id="696" name="Google Shape;696;p3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7" name="Google Shape;697;p3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98" name="Google Shape;698;p38"/>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9" name="Google Shape;699;p38"/>
          <p:cNvSpPr txBox="1"/>
          <p:nvPr/>
        </p:nvSpPr>
        <p:spPr>
          <a:xfrm>
            <a:off x="751417" y="1326523"/>
            <a:ext cx="17526000" cy="492443"/>
          </a:xfrm>
          <a:prstGeom prst="rect">
            <a:avLst/>
          </a:prstGeom>
          <a:noFill/>
          <a:ln>
            <a:noFill/>
          </a:ln>
        </p:spPr>
        <p:txBody>
          <a:bodyPr anchorCtr="0" anchor="t" bIns="0" lIns="0" spcFirstLastPara="1" rIns="0" wrap="square" tIns="0">
            <a:spAutoFit/>
          </a:bodyPr>
          <a:lstStyle/>
          <a:p>
            <a:pPr indent="-514350" lvl="0" marL="514350" marR="0" rtl="0" algn="l">
              <a:spcBef>
                <a:spcPts val="0"/>
              </a:spcBef>
              <a:spcAft>
                <a:spcPts val="0"/>
              </a:spcAft>
              <a:buClr>
                <a:srgbClr val="08377C"/>
              </a:buClr>
              <a:buSzPts val="3200"/>
              <a:buFont typeface="Calibri"/>
              <a:buAutoNum type="arabicPeriod"/>
            </a:pPr>
            <a:r>
              <a:rPr b="1" lang="en-US" sz="3200">
                <a:solidFill>
                  <a:srgbClr val="08377C"/>
                </a:solidFill>
                <a:latin typeface="Calibri"/>
                <a:ea typeface="Calibri"/>
                <a:cs typeface="Calibri"/>
                <a:sym typeface="Calibri"/>
              </a:rPr>
              <a:t>Kriteria (criterion), default = gini </a:t>
            </a:r>
            <a:r>
              <a:rPr lang="en-US" sz="3200">
                <a:solidFill>
                  <a:schemeClr val="dk1"/>
                </a:solidFill>
                <a:latin typeface="Calibri"/>
                <a:ea typeface="Calibri"/>
                <a:cs typeface="Calibri"/>
                <a:sym typeface="Calibri"/>
              </a:rPr>
              <a:t>🌳</a:t>
            </a:r>
            <a:endParaRPr b="1" sz="3200">
              <a:solidFill>
                <a:srgbClr val="08377C"/>
              </a:solidFill>
              <a:latin typeface="Calibri"/>
              <a:ea typeface="Calibri"/>
              <a:cs typeface="Calibri"/>
              <a:sym typeface="Calibri"/>
            </a:endParaRPr>
          </a:p>
        </p:txBody>
      </p:sp>
      <p:sp>
        <p:nvSpPr>
          <p:cNvPr id="700" name="Google Shape;700;p38"/>
          <p:cNvSpPr/>
          <p:nvPr/>
        </p:nvSpPr>
        <p:spPr>
          <a:xfrm>
            <a:off x="1143001" y="2045156"/>
            <a:ext cx="11582400" cy="9068123"/>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Metode untuk mengukur kualitas split di setiap node.</a:t>
            </a:r>
            <a:endParaRPr/>
          </a:p>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Ada dua jenis “kriteria” yang umum digunakan :</a:t>
            </a:r>
            <a:endParaRPr/>
          </a:p>
          <a:p>
            <a:pPr indent="-457200" lvl="0" marL="457200" marR="0" rtl="0" algn="just">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Gini</a:t>
            </a:r>
            <a:r>
              <a:rPr lang="en-US" sz="2800">
                <a:solidFill>
                  <a:schemeClr val="dk1"/>
                </a:solidFill>
                <a:latin typeface="Calibri"/>
                <a:ea typeface="Calibri"/>
                <a:cs typeface="Calibri"/>
                <a:sym typeface="Calibri"/>
              </a:rPr>
              <a:t> </a:t>
            </a:r>
            <a:endParaRPr/>
          </a:p>
          <a:p>
            <a:pPr indent="0" lvl="0" marL="517525"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meminimalkan kemungkinan kesalahan dalam klasifikasi pada setiap node setelah data dibagi.</a:t>
            </a:r>
            <a:endParaRPr/>
          </a:p>
          <a:p>
            <a:pPr indent="0" lvl="0" marL="517525" marR="0" rtl="0" algn="just">
              <a:lnSpc>
                <a:spcPct val="150000"/>
              </a:lnSpc>
              <a:spcBef>
                <a:spcPts val="0"/>
              </a:spcBef>
              <a:spcAft>
                <a:spcPts val="0"/>
              </a:spcAft>
              <a:buNone/>
            </a:pPr>
            <a:r>
              <a:t/>
            </a:r>
            <a:endParaRPr sz="2800">
              <a:solidFill>
                <a:schemeClr val="dk1"/>
              </a:solidFill>
              <a:latin typeface="Montserrat"/>
              <a:ea typeface="Montserrat"/>
              <a:cs typeface="Montserrat"/>
              <a:sym typeface="Montserrat"/>
            </a:endParaRPr>
          </a:p>
          <a:p>
            <a:pPr indent="-457200" lvl="0" marL="457200" marR="0" rtl="0" algn="just">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Entropy</a:t>
            </a:r>
            <a:endParaRPr/>
          </a:p>
          <a:p>
            <a:pPr indent="0" lvl="0" marL="519113"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Dalam algoritma ID3 dan C4.5, Entropy digunakan untuk menentukan cara terbaik membagi data dengan </a:t>
            </a:r>
            <a:r>
              <a:rPr b="1" lang="en-US" sz="2800">
                <a:solidFill>
                  <a:schemeClr val="dk1"/>
                </a:solidFill>
                <a:latin typeface="Montserrat"/>
                <a:ea typeface="Montserrat"/>
                <a:cs typeface="Montserrat"/>
                <a:sym typeface="Montserrat"/>
              </a:rPr>
              <a:t>mengurangi ketidakpastian sebanyak mungkin</a:t>
            </a:r>
            <a:r>
              <a:rPr lang="en-US" sz="2800">
                <a:solidFill>
                  <a:schemeClr val="dk1"/>
                </a:solidFill>
                <a:latin typeface="Montserrat"/>
                <a:ea typeface="Montserrat"/>
                <a:cs typeface="Montserrat"/>
                <a:sym typeface="Montserrat"/>
              </a:rPr>
              <a:t>. Jadi, algoritma akan memilih pembagian yang membuat data pada node lebih teratur dan mudah diprediksi.</a:t>
            </a:r>
            <a:endParaRPr/>
          </a:p>
          <a:p>
            <a:pPr indent="0" lvl="0" marL="519113" marR="0" rtl="0" algn="just">
              <a:lnSpc>
                <a:spcPct val="150000"/>
              </a:lnSpc>
              <a:spcBef>
                <a:spcPts val="0"/>
              </a:spcBef>
              <a:spcAft>
                <a:spcPts val="0"/>
              </a:spcAft>
              <a:buNone/>
            </a:pPr>
            <a:r>
              <a:t/>
            </a:r>
            <a:endParaRPr sz="2800">
              <a:solidFill>
                <a:schemeClr val="dk1"/>
              </a:solidFill>
              <a:latin typeface="Montserrat"/>
              <a:ea typeface="Montserrat"/>
              <a:cs typeface="Montserrat"/>
              <a:sym typeface="Montserrat"/>
            </a:endParaRPr>
          </a:p>
          <a:p>
            <a:pPr indent="0" lvl="0" marL="517525" marR="0" rtl="0" algn="just">
              <a:lnSpc>
                <a:spcPct val="150000"/>
              </a:lnSpc>
              <a:spcBef>
                <a:spcPts val="0"/>
              </a:spcBef>
              <a:spcAft>
                <a:spcPts val="0"/>
              </a:spcAft>
              <a:buNone/>
            </a:pPr>
            <a:r>
              <a:t/>
            </a:r>
            <a:endParaRPr sz="2800">
              <a:solidFill>
                <a:schemeClr val="dk1"/>
              </a:solidFill>
              <a:latin typeface="Montserrat"/>
              <a:ea typeface="Montserrat"/>
              <a:cs typeface="Montserrat"/>
              <a:sym typeface="Montserrat"/>
            </a:endParaRPr>
          </a:p>
        </p:txBody>
      </p:sp>
      <p:pic>
        <p:nvPicPr>
          <p:cNvPr id="701" name="Google Shape;701;p38"/>
          <p:cNvPicPr preferRelativeResize="0"/>
          <p:nvPr/>
        </p:nvPicPr>
        <p:blipFill rotWithShape="1">
          <a:blip r:embed="rId4">
            <a:alphaModFix/>
          </a:blip>
          <a:srcRect b="0" l="17273" r="14546" t="0"/>
          <a:stretch/>
        </p:blipFill>
        <p:spPr>
          <a:xfrm>
            <a:off x="13411200" y="2584837"/>
            <a:ext cx="4423462" cy="2818114"/>
          </a:xfrm>
          <a:prstGeom prst="rect">
            <a:avLst/>
          </a:prstGeom>
          <a:noFill/>
          <a:ln>
            <a:noFill/>
          </a:ln>
        </p:spPr>
      </p:pic>
      <p:pic>
        <p:nvPicPr>
          <p:cNvPr id="702" name="Google Shape;702;p38"/>
          <p:cNvPicPr preferRelativeResize="0"/>
          <p:nvPr/>
        </p:nvPicPr>
        <p:blipFill rotWithShape="1">
          <a:blip r:embed="rId5">
            <a:alphaModFix/>
          </a:blip>
          <a:srcRect b="0" l="0" r="0" t="0"/>
          <a:stretch/>
        </p:blipFill>
        <p:spPr>
          <a:xfrm>
            <a:off x="13411200" y="7011382"/>
            <a:ext cx="4343776" cy="1455546"/>
          </a:xfrm>
          <a:prstGeom prst="rect">
            <a:avLst/>
          </a:prstGeom>
          <a:noFill/>
          <a:ln>
            <a:noFill/>
          </a:ln>
        </p:spPr>
      </p:pic>
    </p:spTree>
  </p:cSld>
  <p:clrMapOvr>
    <a:masterClrMapping/>
  </p:clrMapOvr>
  <p:transition spd="slow">
    <p:push/>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grpSp>
        <p:nvGrpSpPr>
          <p:cNvPr id="708" name="Google Shape;708;p39"/>
          <p:cNvGrpSpPr/>
          <p:nvPr/>
        </p:nvGrpSpPr>
        <p:grpSpPr>
          <a:xfrm>
            <a:off x="15238003" y="8290589"/>
            <a:ext cx="7523780" cy="7523780"/>
            <a:chOff x="0" y="0"/>
            <a:chExt cx="812800" cy="812800"/>
          </a:xfrm>
        </p:grpSpPr>
        <p:sp>
          <p:nvSpPr>
            <p:cNvPr id="709" name="Google Shape;709;p3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0" name="Google Shape;710;p3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11" name="Google Shape;711;p39"/>
          <p:cNvGrpSpPr/>
          <p:nvPr/>
        </p:nvGrpSpPr>
        <p:grpSpPr>
          <a:xfrm>
            <a:off x="-3724222" y="-4507687"/>
            <a:ext cx="5924489" cy="5924489"/>
            <a:chOff x="0" y="0"/>
            <a:chExt cx="812800" cy="812800"/>
          </a:xfrm>
        </p:grpSpPr>
        <p:sp>
          <p:nvSpPr>
            <p:cNvPr id="712" name="Google Shape;712;p3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3" name="Google Shape;713;p3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14" name="Google Shape;714;p39"/>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5" name="Google Shape;715;p39"/>
          <p:cNvSpPr txBox="1"/>
          <p:nvPr/>
        </p:nvSpPr>
        <p:spPr>
          <a:xfrm>
            <a:off x="751417" y="1326523"/>
            <a:ext cx="17526000"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08377C"/>
                </a:solidFill>
                <a:latin typeface="Calibri"/>
                <a:ea typeface="Calibri"/>
                <a:cs typeface="Calibri"/>
                <a:sym typeface="Calibri"/>
              </a:rPr>
              <a:t>2. Maksimal Kedalaman (max_depth), default = None </a:t>
            </a:r>
            <a:r>
              <a:rPr lang="en-US" sz="3200">
                <a:solidFill>
                  <a:schemeClr val="dk1"/>
                </a:solidFill>
                <a:latin typeface="Calibri"/>
                <a:ea typeface="Calibri"/>
                <a:cs typeface="Calibri"/>
                <a:sym typeface="Calibri"/>
              </a:rPr>
              <a:t>🌲</a:t>
            </a:r>
            <a:endParaRPr b="1" sz="3200">
              <a:solidFill>
                <a:srgbClr val="08377C"/>
              </a:solidFill>
              <a:latin typeface="Calibri"/>
              <a:ea typeface="Calibri"/>
              <a:cs typeface="Calibri"/>
              <a:sym typeface="Calibri"/>
            </a:endParaRPr>
          </a:p>
        </p:txBody>
      </p:sp>
      <p:sp>
        <p:nvSpPr>
          <p:cNvPr id="716" name="Google Shape;716;p39"/>
          <p:cNvSpPr/>
          <p:nvPr/>
        </p:nvSpPr>
        <p:spPr>
          <a:xfrm>
            <a:off x="1143000" y="2045156"/>
            <a:ext cx="15849599" cy="5190139"/>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Batas kedalaman maksimum pohon. Digunakan untuk menghindari overfitting. </a:t>
            </a:r>
            <a:r>
              <a:rPr b="0" i="0" lang="en-US" sz="2800">
                <a:solidFill>
                  <a:schemeClr val="dk1"/>
                </a:solidFill>
                <a:latin typeface="Montserrat"/>
                <a:ea typeface="Montserrat"/>
                <a:cs typeface="Montserrat"/>
                <a:sym typeface="Montserrat"/>
              </a:rPr>
              <a:t>Jika nilai ini ditetapkan, pohon akan berhenti membelah data lebih lanjut setelah mencapai kedalaman yang ditentukan.</a:t>
            </a:r>
            <a:endParaRPr/>
          </a:p>
          <a:p>
            <a:pPr indent="0" lvl="0" marL="0" marR="0" rtl="0" algn="just">
              <a:lnSpc>
                <a:spcPct val="150000"/>
              </a:lnSpc>
              <a:spcBef>
                <a:spcPts val="0"/>
              </a:spcBef>
              <a:spcAft>
                <a:spcPts val="0"/>
              </a:spcAft>
              <a:buNone/>
            </a:pPr>
            <a:r>
              <a:t/>
            </a:r>
            <a:endParaRPr sz="2800">
              <a:solidFill>
                <a:schemeClr val="dk1"/>
              </a:solidFill>
              <a:latin typeface="Montserrat"/>
              <a:ea typeface="Montserrat"/>
              <a:cs typeface="Montserrat"/>
              <a:sym typeface="Montserrat"/>
            </a:endParaRPr>
          </a:p>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Default: None</a:t>
            </a:r>
            <a:endParaRPr/>
          </a:p>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Artinya : pohon tumbuh sampai semua daun murni atau jumlah sampel terlalu kecil untuk dibagi lebih lanjut.</a:t>
            </a:r>
            <a:endParaRPr/>
          </a:p>
          <a:p>
            <a:pPr indent="0" lvl="0" marL="517525" marR="0" rtl="0" algn="just">
              <a:lnSpc>
                <a:spcPct val="150000"/>
              </a:lnSpc>
              <a:spcBef>
                <a:spcPts val="0"/>
              </a:spcBef>
              <a:spcAft>
                <a:spcPts val="0"/>
              </a:spcAft>
              <a:buNone/>
            </a:pPr>
            <a:r>
              <a:t/>
            </a:r>
            <a:endParaRPr sz="2800">
              <a:solidFill>
                <a:schemeClr val="dk1"/>
              </a:solidFill>
              <a:latin typeface="Montserrat"/>
              <a:ea typeface="Montserrat"/>
              <a:cs typeface="Montserrat"/>
              <a:sym typeface="Montserrat"/>
            </a:endParaRPr>
          </a:p>
        </p:txBody>
      </p:sp>
      <p:sp>
        <p:nvSpPr>
          <p:cNvPr id="717" name="Google Shape;717;p39"/>
          <p:cNvSpPr txBox="1"/>
          <p:nvPr/>
        </p:nvSpPr>
        <p:spPr>
          <a:xfrm>
            <a:off x="751417" y="7048500"/>
            <a:ext cx="17526000"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08377C"/>
                </a:solidFill>
                <a:latin typeface="Calibri"/>
                <a:ea typeface="Calibri"/>
                <a:cs typeface="Calibri"/>
                <a:sym typeface="Calibri"/>
              </a:rPr>
              <a:t>3. min_samples_split, default = 2 </a:t>
            </a:r>
            <a:r>
              <a:rPr lang="en-US" sz="3200">
                <a:solidFill>
                  <a:schemeClr val="dk1"/>
                </a:solidFill>
                <a:latin typeface="Calibri"/>
                <a:ea typeface="Calibri"/>
                <a:cs typeface="Calibri"/>
                <a:sym typeface="Calibri"/>
              </a:rPr>
              <a:t>🌱</a:t>
            </a:r>
            <a:endParaRPr b="1" sz="3200">
              <a:solidFill>
                <a:srgbClr val="08377C"/>
              </a:solidFill>
              <a:latin typeface="Calibri"/>
              <a:ea typeface="Calibri"/>
              <a:cs typeface="Calibri"/>
              <a:sym typeface="Calibri"/>
            </a:endParaRPr>
          </a:p>
        </p:txBody>
      </p:sp>
      <p:sp>
        <p:nvSpPr>
          <p:cNvPr id="718" name="Google Shape;718;p39"/>
          <p:cNvSpPr/>
          <p:nvPr/>
        </p:nvSpPr>
        <p:spPr>
          <a:xfrm>
            <a:off x="1143000" y="7767133"/>
            <a:ext cx="15849599" cy="1958485"/>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Jumlah minimum sampel dalam sebuah node agar node tersebut bisa di-split.</a:t>
            </a:r>
            <a:endParaRPr/>
          </a:p>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Default: 2</a:t>
            </a:r>
            <a:endParaRPr/>
          </a:p>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(Node dengan &lt;2 sampel tidak akan dibagi lagi.</a:t>
            </a:r>
            <a:endParaRPr/>
          </a:p>
        </p:txBody>
      </p:sp>
    </p:spTree>
  </p:cSld>
  <p:clrMapOvr>
    <a:masterClrMapping/>
  </p:clrMapOvr>
  <p:transition spd="slow">
    <p:push/>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grpSp>
        <p:nvGrpSpPr>
          <p:cNvPr id="724" name="Google Shape;724;p40"/>
          <p:cNvGrpSpPr/>
          <p:nvPr/>
        </p:nvGrpSpPr>
        <p:grpSpPr>
          <a:xfrm>
            <a:off x="15238003" y="8290589"/>
            <a:ext cx="7523780" cy="7523780"/>
            <a:chOff x="0" y="0"/>
            <a:chExt cx="812800" cy="812800"/>
          </a:xfrm>
        </p:grpSpPr>
        <p:sp>
          <p:nvSpPr>
            <p:cNvPr id="725" name="Google Shape;725;p4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6" name="Google Shape;726;p4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27" name="Google Shape;727;p40"/>
          <p:cNvGrpSpPr/>
          <p:nvPr/>
        </p:nvGrpSpPr>
        <p:grpSpPr>
          <a:xfrm>
            <a:off x="-3724222" y="-4507687"/>
            <a:ext cx="5924489" cy="5924489"/>
            <a:chOff x="0" y="0"/>
            <a:chExt cx="812800" cy="812800"/>
          </a:xfrm>
        </p:grpSpPr>
        <p:sp>
          <p:nvSpPr>
            <p:cNvPr id="728" name="Google Shape;728;p4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9" name="Google Shape;729;p4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30" name="Google Shape;730;p40"/>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1" name="Google Shape;731;p40"/>
          <p:cNvSpPr txBox="1"/>
          <p:nvPr/>
        </p:nvSpPr>
        <p:spPr>
          <a:xfrm>
            <a:off x="1066800" y="1769479"/>
            <a:ext cx="17526000"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08377C"/>
                </a:solidFill>
                <a:latin typeface="Calibri"/>
                <a:ea typeface="Calibri"/>
                <a:cs typeface="Calibri"/>
                <a:sym typeface="Calibri"/>
              </a:rPr>
              <a:t>4. min_samples_leaf, default = 1 </a:t>
            </a:r>
            <a:r>
              <a:rPr lang="en-US" sz="3200">
                <a:solidFill>
                  <a:schemeClr val="dk1"/>
                </a:solidFill>
                <a:latin typeface="Calibri"/>
                <a:ea typeface="Calibri"/>
                <a:cs typeface="Calibri"/>
                <a:sym typeface="Calibri"/>
              </a:rPr>
              <a:t>🍃</a:t>
            </a:r>
            <a:endParaRPr b="1" sz="3200">
              <a:solidFill>
                <a:srgbClr val="08377C"/>
              </a:solidFill>
              <a:latin typeface="Calibri"/>
              <a:ea typeface="Calibri"/>
              <a:cs typeface="Calibri"/>
              <a:sym typeface="Calibri"/>
            </a:endParaRPr>
          </a:p>
        </p:txBody>
      </p:sp>
      <p:sp>
        <p:nvSpPr>
          <p:cNvPr id="732" name="Google Shape;732;p40"/>
          <p:cNvSpPr/>
          <p:nvPr/>
        </p:nvSpPr>
        <p:spPr>
          <a:xfrm>
            <a:off x="1458383" y="2488112"/>
            <a:ext cx="15849599" cy="67056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Jumlah minimum sampel yang harus dimiliki oleh sebuah daun (leaf node).</a:t>
            </a:r>
            <a:endParaRPr/>
          </a:p>
        </p:txBody>
      </p:sp>
      <p:sp>
        <p:nvSpPr>
          <p:cNvPr id="733" name="Google Shape;733;p40"/>
          <p:cNvSpPr txBox="1"/>
          <p:nvPr/>
        </p:nvSpPr>
        <p:spPr>
          <a:xfrm>
            <a:off x="1046205" y="3442365"/>
            <a:ext cx="17526000"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08377C"/>
                </a:solidFill>
                <a:latin typeface="Calibri"/>
                <a:ea typeface="Calibri"/>
                <a:cs typeface="Calibri"/>
                <a:sym typeface="Calibri"/>
              </a:rPr>
              <a:t>5. max_features, default = None </a:t>
            </a:r>
            <a:r>
              <a:rPr lang="en-US" sz="3200">
                <a:solidFill>
                  <a:schemeClr val="dk1"/>
                </a:solidFill>
                <a:latin typeface="Calibri"/>
                <a:ea typeface="Calibri"/>
                <a:cs typeface="Calibri"/>
                <a:sym typeface="Calibri"/>
              </a:rPr>
              <a:t>🌱</a:t>
            </a:r>
            <a:endParaRPr b="1" sz="3200">
              <a:solidFill>
                <a:srgbClr val="08377C"/>
              </a:solidFill>
              <a:latin typeface="Calibri"/>
              <a:ea typeface="Calibri"/>
              <a:cs typeface="Calibri"/>
              <a:sym typeface="Calibri"/>
            </a:endParaRPr>
          </a:p>
        </p:txBody>
      </p:sp>
      <p:sp>
        <p:nvSpPr>
          <p:cNvPr id="734" name="Google Shape;734;p40"/>
          <p:cNvSpPr/>
          <p:nvPr/>
        </p:nvSpPr>
        <p:spPr>
          <a:xfrm>
            <a:off x="1437788" y="4160998"/>
            <a:ext cx="15849599" cy="38974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800"/>
              <a:buFont typeface="Montserrat"/>
              <a:buNone/>
            </a:pPr>
            <a:r>
              <a:rPr lang="en-US" sz="2800">
                <a:solidFill>
                  <a:schemeClr val="dk1"/>
                </a:solidFill>
                <a:latin typeface="Montserrat"/>
                <a:ea typeface="Montserrat"/>
                <a:cs typeface="Montserrat"/>
                <a:sym typeface="Montserrat"/>
              </a:rPr>
              <a:t>Jumlah fitur yang dipertimbangkan ketika mencari split terbaik.</a:t>
            </a:r>
            <a:endParaRPr/>
          </a:p>
          <a:p>
            <a:pPr indent="0" lvl="0" marL="0" marR="0" rtl="0" algn="l">
              <a:lnSpc>
                <a:spcPct val="150000"/>
              </a:lnSpc>
              <a:spcBef>
                <a:spcPts val="0"/>
              </a:spcBef>
              <a:spcAft>
                <a:spcPts val="0"/>
              </a:spcAft>
              <a:buClr>
                <a:schemeClr val="dk1"/>
              </a:buClr>
              <a:buSzPts val="2800"/>
              <a:buFont typeface="Montserrat"/>
              <a:buNone/>
            </a:pPr>
            <a:r>
              <a:rPr lang="en-US" sz="2800">
                <a:solidFill>
                  <a:schemeClr val="dk1"/>
                </a:solidFill>
                <a:latin typeface="Montserrat"/>
                <a:ea typeface="Montserrat"/>
                <a:cs typeface="Montserrat"/>
                <a:sym typeface="Montserrat"/>
              </a:rPr>
              <a:t>Default: None artinya semua fitur dipertimbangkan.</a:t>
            </a:r>
            <a:endParaRPr/>
          </a:p>
          <a:p>
            <a:pPr indent="0" lvl="0" marL="0" marR="0" rtl="0" algn="l">
              <a:lnSpc>
                <a:spcPct val="150000"/>
              </a:lnSpc>
              <a:spcBef>
                <a:spcPts val="0"/>
              </a:spcBef>
              <a:spcAft>
                <a:spcPts val="0"/>
              </a:spcAft>
              <a:buClr>
                <a:schemeClr val="dk1"/>
              </a:buClr>
              <a:buSzPts val="2800"/>
              <a:buFont typeface="Montserrat"/>
              <a:buNone/>
            </a:pPr>
            <a:r>
              <a:rPr lang="en-US" sz="2800">
                <a:solidFill>
                  <a:schemeClr val="dk1"/>
                </a:solidFill>
                <a:latin typeface="Montserrat"/>
                <a:ea typeface="Montserrat"/>
                <a:cs typeface="Montserrat"/>
                <a:sym typeface="Montserrat"/>
              </a:rPr>
              <a:t>Pilihan lainnya:</a:t>
            </a:r>
            <a:endParaRPr/>
          </a:p>
          <a:p>
            <a:pPr indent="-457200" lvl="0" marL="457200" marR="0" rtl="0" algn="l">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"sqrt“ : akar kuadrat dari jumlah fitur (default di RandomForest)</a:t>
            </a:r>
            <a:endParaRPr/>
          </a:p>
          <a:p>
            <a:pPr indent="-457200" lvl="0" marL="457200" marR="0" rtl="0" algn="l">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"log2“ : logaritma basis 2 dari jumlah fitur</a:t>
            </a:r>
            <a:endParaRPr sz="2800">
              <a:solidFill>
                <a:schemeClr val="dk1"/>
              </a:solidFill>
              <a:latin typeface="Montserrat"/>
              <a:ea typeface="Montserrat"/>
              <a:cs typeface="Montserrat"/>
              <a:sym typeface="Montserrat"/>
            </a:endParaRPr>
          </a:p>
          <a:p>
            <a:pPr indent="-457200" lvl="0" marL="457200" marR="0" rtl="0" algn="l">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int atau float : jumlah fitur tetap atau proporsi</a:t>
            </a:r>
            <a:endParaRPr sz="2800">
              <a:solidFill>
                <a:schemeClr val="dk1"/>
              </a:solidFill>
              <a:latin typeface="Montserrat"/>
              <a:ea typeface="Montserrat"/>
              <a:cs typeface="Montserrat"/>
              <a:sym typeface="Montserrat"/>
            </a:endParaRPr>
          </a:p>
        </p:txBody>
      </p:sp>
    </p:spTree>
  </p:cSld>
  <p:clrMapOvr>
    <a:masterClrMapping/>
  </p:clrMapOvr>
  <p:transition spd="slow">
    <p:push/>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grpSp>
        <p:nvGrpSpPr>
          <p:cNvPr id="740" name="Google Shape;740;p41"/>
          <p:cNvGrpSpPr/>
          <p:nvPr/>
        </p:nvGrpSpPr>
        <p:grpSpPr>
          <a:xfrm>
            <a:off x="15238003" y="8290589"/>
            <a:ext cx="7523780" cy="7523780"/>
            <a:chOff x="0" y="0"/>
            <a:chExt cx="812800" cy="812800"/>
          </a:xfrm>
        </p:grpSpPr>
        <p:sp>
          <p:nvSpPr>
            <p:cNvPr id="741" name="Google Shape;741;p4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2" name="Google Shape;742;p4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43" name="Google Shape;743;p41"/>
          <p:cNvGrpSpPr/>
          <p:nvPr/>
        </p:nvGrpSpPr>
        <p:grpSpPr>
          <a:xfrm>
            <a:off x="-3724222" y="-4507687"/>
            <a:ext cx="5924489" cy="5924489"/>
            <a:chOff x="0" y="0"/>
            <a:chExt cx="812800" cy="812800"/>
          </a:xfrm>
        </p:grpSpPr>
        <p:sp>
          <p:nvSpPr>
            <p:cNvPr id="744" name="Google Shape;744;p4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29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5" name="Google Shape;745;p4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46" name="Google Shape;746;p41"/>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7" name="Google Shape;747;p41"/>
          <p:cNvSpPr txBox="1"/>
          <p:nvPr/>
        </p:nvSpPr>
        <p:spPr>
          <a:xfrm>
            <a:off x="1129720" y="1416802"/>
            <a:ext cx="17526000"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08377C"/>
                </a:solidFill>
                <a:latin typeface="Calibri"/>
                <a:ea typeface="Calibri"/>
                <a:cs typeface="Calibri"/>
                <a:sym typeface="Calibri"/>
              </a:rPr>
              <a:t>6. Splitter</a:t>
            </a:r>
            <a:endParaRPr/>
          </a:p>
        </p:txBody>
      </p:sp>
      <p:sp>
        <p:nvSpPr>
          <p:cNvPr id="748" name="Google Shape;748;p41"/>
          <p:cNvSpPr/>
          <p:nvPr/>
        </p:nvSpPr>
        <p:spPr>
          <a:xfrm>
            <a:off x="1521303" y="2135435"/>
            <a:ext cx="15849599" cy="389747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Strategi untuk memilih split di node:</a:t>
            </a:r>
            <a:endParaRPr/>
          </a:p>
          <a:p>
            <a:pPr indent="-457200" lvl="0" marL="457200" marR="0" rtl="0" algn="l">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"best" → ambil split terbaik (paling optimal)</a:t>
            </a:r>
            <a:endParaRPr/>
          </a:p>
          <a:p>
            <a:pPr indent="-457200" lvl="0" marL="457200" marR="0" rtl="0" algn="l">
              <a:lnSpc>
                <a:spcPct val="150000"/>
              </a:lnSpc>
              <a:spcBef>
                <a:spcPts val="0"/>
              </a:spcBef>
              <a:spcAft>
                <a:spcPts val="0"/>
              </a:spcAft>
              <a:buClr>
                <a:schemeClr val="dk1"/>
              </a:buClr>
              <a:buSzPts val="2800"/>
              <a:buFont typeface="Arial"/>
              <a:buChar char="•"/>
            </a:pPr>
            <a:r>
              <a:rPr lang="en-US" sz="2800">
                <a:solidFill>
                  <a:schemeClr val="dk1"/>
                </a:solidFill>
                <a:latin typeface="Montserrat"/>
                <a:ea typeface="Montserrat"/>
                <a:cs typeface="Montserrat"/>
                <a:sym typeface="Montserrat"/>
              </a:rPr>
              <a:t>"random" → pilih secara acak dari subset terbaik</a:t>
            </a:r>
            <a:endParaRPr/>
          </a:p>
          <a:p>
            <a:pPr indent="-279400" lvl="0" marL="457200" marR="0" rtl="0" algn="l">
              <a:lnSpc>
                <a:spcPct val="150000"/>
              </a:lnSpc>
              <a:spcBef>
                <a:spcPts val="0"/>
              </a:spcBef>
              <a:spcAft>
                <a:spcPts val="0"/>
              </a:spcAft>
              <a:buClr>
                <a:schemeClr val="dk1"/>
              </a:buClr>
              <a:buSzPts val="2800"/>
              <a:buFont typeface="Arial"/>
              <a:buNone/>
            </a:pPr>
            <a:r>
              <a:t/>
            </a:r>
            <a:endParaRPr sz="2800">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None/>
            </a:pPr>
            <a:r>
              <a:rPr lang="en-US" sz="2800">
                <a:solidFill>
                  <a:schemeClr val="dk1"/>
                </a:solidFill>
                <a:latin typeface="Montserrat"/>
                <a:ea typeface="Montserrat"/>
                <a:cs typeface="Montserrat"/>
                <a:sym typeface="Montserrat"/>
              </a:rPr>
              <a:t>Default: “best”</a:t>
            </a:r>
            <a:endParaRPr/>
          </a:p>
          <a:p>
            <a:pPr indent="0" lvl="0" marL="0" marR="0" rtl="0" algn="just">
              <a:lnSpc>
                <a:spcPct val="150000"/>
              </a:lnSpc>
              <a:spcBef>
                <a:spcPts val="0"/>
              </a:spcBef>
              <a:spcAft>
                <a:spcPts val="0"/>
              </a:spcAft>
              <a:buNone/>
            </a:pPr>
            <a:r>
              <a:t/>
            </a:r>
            <a:endParaRPr sz="2800">
              <a:solidFill>
                <a:schemeClr val="dk1"/>
              </a:solidFill>
              <a:latin typeface="Montserrat"/>
              <a:ea typeface="Montserrat"/>
              <a:cs typeface="Montserrat"/>
              <a:sym typeface="Montserrat"/>
            </a:endParaRPr>
          </a:p>
        </p:txBody>
      </p:sp>
    </p:spTree>
  </p:cSld>
  <p:clrMapOvr>
    <a:masterClrMapping/>
  </p:clrMapOvr>
  <p:transition spd="slow">
    <p:push/>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grpSp>
        <p:nvGrpSpPr>
          <p:cNvPr id="754" name="Google Shape;754;p42"/>
          <p:cNvGrpSpPr/>
          <p:nvPr/>
        </p:nvGrpSpPr>
        <p:grpSpPr>
          <a:xfrm>
            <a:off x="17016492" y="-180826"/>
            <a:ext cx="1271508" cy="10467826"/>
            <a:chOff x="0" y="-47625"/>
            <a:chExt cx="334883" cy="2756958"/>
          </a:xfrm>
        </p:grpSpPr>
        <p:sp>
          <p:nvSpPr>
            <p:cNvPr id="755" name="Google Shape;755;p42"/>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6" name="Google Shape;756;p42"/>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57" name="Google Shape;757;p42"/>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8" name="Google Shape;758;p42"/>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759" name="Google Shape;759;p42"/>
          <p:cNvSpPr txBox="1"/>
          <p:nvPr/>
        </p:nvSpPr>
        <p:spPr>
          <a:xfrm>
            <a:off x="3048000" y="1333500"/>
            <a:ext cx="11277600" cy="81734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Cara Kerja Decision Tree?</a:t>
            </a:r>
            <a:endParaRPr/>
          </a:p>
        </p:txBody>
      </p:sp>
      <p:sp>
        <p:nvSpPr>
          <p:cNvPr id="760" name="Google Shape;760;p42"/>
          <p:cNvSpPr txBox="1"/>
          <p:nvPr/>
        </p:nvSpPr>
        <p:spPr>
          <a:xfrm>
            <a:off x="4114800" y="2254630"/>
            <a:ext cx="111252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Montserrat"/>
                <a:ea typeface="Montserrat"/>
                <a:cs typeface="Montserrat"/>
                <a:sym typeface="Montserrat"/>
              </a:rPr>
              <a:t>*Cara kerja Decision Tree bisa dilihat di file excel yang sudah dilampirkan</a:t>
            </a:r>
            <a:endParaRPr i="1" sz="1800">
              <a:solidFill>
                <a:schemeClr val="dk1"/>
              </a:solidFill>
              <a:latin typeface="Montserrat"/>
              <a:ea typeface="Montserrat"/>
              <a:cs typeface="Montserrat"/>
              <a:sym typeface="Montserrat"/>
            </a:endParaRPr>
          </a:p>
        </p:txBody>
      </p:sp>
      <p:sp>
        <p:nvSpPr>
          <p:cNvPr id="761" name="Google Shape;761;p42"/>
          <p:cNvSpPr/>
          <p:nvPr/>
        </p:nvSpPr>
        <p:spPr>
          <a:xfrm>
            <a:off x="952500" y="2857500"/>
            <a:ext cx="15468600" cy="667657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400"/>
              <a:buFont typeface="Montserrat"/>
              <a:buNone/>
            </a:pPr>
            <a:r>
              <a:rPr lang="en-US" sz="2400">
                <a:solidFill>
                  <a:schemeClr val="dk1"/>
                </a:solidFill>
                <a:latin typeface="Montserrat"/>
                <a:ea typeface="Montserrat"/>
                <a:cs typeface="Montserrat"/>
                <a:sym typeface="Montserrat"/>
              </a:rPr>
              <a:t>1️⃣ </a:t>
            </a:r>
            <a:r>
              <a:rPr b="1" lang="en-US" sz="2400">
                <a:solidFill>
                  <a:schemeClr val="dk1"/>
                </a:solidFill>
                <a:latin typeface="Montserrat"/>
                <a:ea typeface="Montserrat"/>
                <a:cs typeface="Montserrat"/>
                <a:sym typeface="Montserrat"/>
              </a:rPr>
              <a:t>Mengumpulkan dan Menyiapkan Data</a:t>
            </a:r>
            <a:endParaRPr b="1" sz="2400">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2400"/>
              <a:buFont typeface="Montserrat"/>
              <a:buNone/>
            </a:pPr>
            <a:r>
              <a:rPr lang="en-US" sz="2400">
                <a:solidFill>
                  <a:schemeClr val="dk1"/>
                </a:solidFill>
                <a:latin typeface="Montserrat"/>
                <a:ea typeface="Montserrat"/>
                <a:cs typeface="Montserrat"/>
                <a:sym typeface="Montserrat"/>
              </a:rPr>
              <a:t>2️⃣ </a:t>
            </a:r>
            <a:r>
              <a:rPr b="1" lang="en-US" sz="2400">
                <a:solidFill>
                  <a:schemeClr val="dk1"/>
                </a:solidFill>
                <a:latin typeface="Montserrat"/>
                <a:ea typeface="Montserrat"/>
                <a:cs typeface="Montserrat"/>
                <a:sym typeface="Montserrat"/>
              </a:rPr>
              <a:t>Memilih Fitur dan Membagi Data</a:t>
            </a:r>
            <a:endParaRPr/>
          </a:p>
          <a:p>
            <a:pPr indent="0" lvl="0" marL="0" marR="0" rtl="0" algn="l">
              <a:lnSpc>
                <a:spcPct val="150000"/>
              </a:lnSpc>
              <a:spcBef>
                <a:spcPts val="0"/>
              </a:spcBef>
              <a:spcAft>
                <a:spcPts val="0"/>
              </a:spcAft>
              <a:buClr>
                <a:schemeClr val="dk1"/>
              </a:buClr>
              <a:buSzPts val="2400"/>
              <a:buFont typeface="Montserrat"/>
              <a:buNone/>
            </a:pPr>
            <a:r>
              <a:rPr i="1" lang="en-US" sz="2400">
                <a:solidFill>
                  <a:schemeClr val="dk1"/>
                </a:solidFill>
                <a:latin typeface="Montserrat"/>
                <a:ea typeface="Montserrat"/>
                <a:cs typeface="Montserrat"/>
                <a:sym typeface="Montserrat"/>
              </a:rPr>
              <a:t>Menentukan fitur mana yang digunakan dan memisahkan data</a:t>
            </a:r>
            <a:endParaRPr b="1" i="1" sz="2400">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2400"/>
              <a:buFont typeface="Montserrat"/>
              <a:buNone/>
            </a:pPr>
            <a:r>
              <a:rPr lang="en-US" sz="2400">
                <a:solidFill>
                  <a:schemeClr val="dk1"/>
                </a:solidFill>
                <a:latin typeface="Montserrat"/>
                <a:ea typeface="Montserrat"/>
                <a:cs typeface="Montserrat"/>
                <a:sym typeface="Montserrat"/>
              </a:rPr>
              <a:t>3️⃣ </a:t>
            </a:r>
            <a:r>
              <a:rPr b="1" lang="en-US" sz="2400">
                <a:solidFill>
                  <a:schemeClr val="dk1"/>
                </a:solidFill>
                <a:latin typeface="Montserrat"/>
                <a:ea typeface="Montserrat"/>
                <a:cs typeface="Montserrat"/>
                <a:sym typeface="Montserrat"/>
              </a:rPr>
              <a:t>Membentuk Cabang dan Node</a:t>
            </a:r>
            <a:endParaRPr/>
          </a:p>
          <a:p>
            <a:pPr indent="0" lvl="0" marL="0" marR="0" rtl="0" algn="l">
              <a:lnSpc>
                <a:spcPct val="150000"/>
              </a:lnSpc>
              <a:spcBef>
                <a:spcPts val="0"/>
              </a:spcBef>
              <a:spcAft>
                <a:spcPts val="0"/>
              </a:spcAft>
              <a:buClr>
                <a:schemeClr val="dk1"/>
              </a:buClr>
              <a:buSzPts val="2400"/>
              <a:buFont typeface="Montserrat"/>
              <a:buNone/>
            </a:pPr>
            <a:r>
              <a:rPr i="1" lang="en-US" sz="2400">
                <a:solidFill>
                  <a:schemeClr val="dk1"/>
                </a:solidFill>
                <a:latin typeface="Montserrat"/>
                <a:ea typeface="Montserrat"/>
                <a:cs typeface="Montserrat"/>
                <a:sym typeface="Montserrat"/>
              </a:rPr>
              <a:t>Memilih atribut terbaik (misalnya dengan Gini/Entropy) dan membuat percabangan berdasarkan nilai fitur.</a:t>
            </a:r>
            <a:endParaRPr b="1" i="1" sz="2400">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2400"/>
              <a:buFont typeface="Montserrat"/>
              <a:buNone/>
            </a:pPr>
            <a:r>
              <a:rPr lang="en-US" sz="2400">
                <a:solidFill>
                  <a:schemeClr val="dk1"/>
                </a:solidFill>
                <a:latin typeface="Montserrat"/>
                <a:ea typeface="Montserrat"/>
                <a:cs typeface="Montserrat"/>
                <a:sym typeface="Montserrat"/>
              </a:rPr>
              <a:t>4️⃣ </a:t>
            </a:r>
            <a:r>
              <a:rPr b="1" lang="en-US" sz="2400">
                <a:solidFill>
                  <a:schemeClr val="dk1"/>
                </a:solidFill>
                <a:latin typeface="Montserrat"/>
                <a:ea typeface="Montserrat"/>
                <a:cs typeface="Montserrat"/>
                <a:sym typeface="Montserrat"/>
              </a:rPr>
              <a:t>Membuat Leaf Node</a:t>
            </a:r>
            <a:endParaRPr/>
          </a:p>
          <a:p>
            <a:pPr indent="0" lvl="0" marL="0" marR="0" rtl="0" algn="l">
              <a:lnSpc>
                <a:spcPct val="150000"/>
              </a:lnSpc>
              <a:spcBef>
                <a:spcPts val="0"/>
              </a:spcBef>
              <a:spcAft>
                <a:spcPts val="0"/>
              </a:spcAft>
              <a:buClr>
                <a:schemeClr val="dk1"/>
              </a:buClr>
              <a:buSzPts val="2400"/>
              <a:buFont typeface="Montserrat"/>
              <a:buNone/>
            </a:pPr>
            <a:r>
              <a:rPr i="1" lang="en-US" sz="2400">
                <a:solidFill>
                  <a:schemeClr val="dk1"/>
                </a:solidFill>
                <a:latin typeface="Montserrat"/>
                <a:ea typeface="Montserrat"/>
                <a:cs typeface="Montserrat"/>
                <a:sym typeface="Montserrat"/>
              </a:rPr>
              <a:t>Menghentikan pembentukan cabang saat semua data homogen atau tidak bisa dibagi lagi.</a:t>
            </a:r>
            <a:endParaRPr b="1" i="1" sz="2400">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2400"/>
              <a:buFont typeface="Montserrat"/>
              <a:buNone/>
            </a:pPr>
            <a:r>
              <a:rPr lang="en-US" sz="2400">
                <a:solidFill>
                  <a:schemeClr val="dk1"/>
                </a:solidFill>
                <a:latin typeface="Montserrat"/>
                <a:ea typeface="Montserrat"/>
                <a:cs typeface="Montserrat"/>
                <a:sym typeface="Montserrat"/>
              </a:rPr>
              <a:t>5️⃣ </a:t>
            </a:r>
            <a:r>
              <a:rPr b="1" lang="en-US" sz="2400">
                <a:solidFill>
                  <a:schemeClr val="dk1"/>
                </a:solidFill>
                <a:latin typeface="Montserrat"/>
                <a:ea typeface="Montserrat"/>
                <a:cs typeface="Montserrat"/>
                <a:sym typeface="Montserrat"/>
              </a:rPr>
              <a:t>Menggunakan Model untuk Prediksi</a:t>
            </a:r>
            <a:endParaRPr/>
          </a:p>
          <a:p>
            <a:pPr indent="0" lvl="0" marL="0" marR="0" rtl="0" algn="l">
              <a:lnSpc>
                <a:spcPct val="150000"/>
              </a:lnSpc>
              <a:spcBef>
                <a:spcPts val="0"/>
              </a:spcBef>
              <a:spcAft>
                <a:spcPts val="0"/>
              </a:spcAft>
              <a:buClr>
                <a:schemeClr val="dk1"/>
              </a:buClr>
              <a:buSzPts val="2400"/>
              <a:buFont typeface="Montserrat"/>
              <a:buNone/>
            </a:pPr>
            <a:r>
              <a:rPr i="1" lang="en-US" sz="2400">
                <a:solidFill>
                  <a:schemeClr val="dk1"/>
                </a:solidFill>
                <a:latin typeface="Montserrat"/>
                <a:ea typeface="Montserrat"/>
                <a:cs typeface="Montserrat"/>
                <a:sym typeface="Montserrat"/>
              </a:rPr>
              <a:t>Menguji model dengan data baru dan melihat ke node mana prediksi diarahkan.</a:t>
            </a:r>
            <a:endParaRPr b="1" i="1" sz="2400">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2400"/>
              <a:buFont typeface="Montserrat"/>
              <a:buNone/>
            </a:pPr>
            <a:r>
              <a:rPr lang="en-US" sz="2400">
                <a:solidFill>
                  <a:schemeClr val="dk1"/>
                </a:solidFill>
                <a:latin typeface="Montserrat"/>
                <a:ea typeface="Montserrat"/>
                <a:cs typeface="Montserrat"/>
                <a:sym typeface="Montserrat"/>
              </a:rPr>
              <a:t>6️⃣ </a:t>
            </a:r>
            <a:r>
              <a:rPr b="1" lang="en-US" sz="2400">
                <a:solidFill>
                  <a:schemeClr val="dk1"/>
                </a:solidFill>
                <a:latin typeface="Montserrat"/>
                <a:ea typeface="Montserrat"/>
                <a:cs typeface="Montserrat"/>
                <a:sym typeface="Montserrat"/>
              </a:rPr>
              <a:t>Evaluasi </a:t>
            </a:r>
            <a:endParaRPr/>
          </a:p>
          <a:p>
            <a:pPr indent="0" lvl="0" marL="0" marR="0" rtl="0" algn="l">
              <a:lnSpc>
                <a:spcPct val="150000"/>
              </a:lnSpc>
              <a:spcBef>
                <a:spcPts val="0"/>
              </a:spcBef>
              <a:spcAft>
                <a:spcPts val="0"/>
              </a:spcAft>
              <a:buClr>
                <a:schemeClr val="dk1"/>
              </a:buClr>
              <a:buSzPts val="2400"/>
              <a:buFont typeface="Montserrat"/>
              <a:buNone/>
            </a:pPr>
            <a:r>
              <a:rPr lang="en-US" sz="2400">
                <a:solidFill>
                  <a:schemeClr val="dk1"/>
                </a:solidFill>
                <a:latin typeface="Montserrat"/>
                <a:ea typeface="Montserrat"/>
                <a:cs typeface="Montserrat"/>
                <a:sym typeface="Montserrat"/>
              </a:rPr>
              <a:t>7️⃣ </a:t>
            </a:r>
            <a:r>
              <a:rPr b="1" lang="en-US" sz="2400">
                <a:solidFill>
                  <a:schemeClr val="dk1"/>
                </a:solidFill>
                <a:latin typeface="Montserrat"/>
                <a:ea typeface="Montserrat"/>
                <a:cs typeface="Montserrat"/>
                <a:sym typeface="Montserrat"/>
              </a:rPr>
              <a:t>Implementasi dan Penggunaan Model</a:t>
            </a:r>
            <a:endParaRPr b="1" sz="2400">
              <a:solidFill>
                <a:schemeClr val="dk1"/>
              </a:solidFill>
              <a:latin typeface="Montserrat"/>
              <a:ea typeface="Montserrat"/>
              <a:cs typeface="Montserrat"/>
              <a:sym typeface="Montserrat"/>
            </a:endParaRPr>
          </a:p>
        </p:txBody>
      </p:sp>
    </p:spTree>
  </p:cSld>
  <p:clrMapOvr>
    <a:masterClrMapping/>
  </p:clrMapOvr>
  <p:transition spd="slow">
    <p:push/>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grpSp>
        <p:nvGrpSpPr>
          <p:cNvPr id="767" name="Google Shape;767;p43"/>
          <p:cNvGrpSpPr/>
          <p:nvPr/>
        </p:nvGrpSpPr>
        <p:grpSpPr>
          <a:xfrm>
            <a:off x="17016492" y="-180826"/>
            <a:ext cx="1271508" cy="10467826"/>
            <a:chOff x="0" y="-47625"/>
            <a:chExt cx="334883" cy="2756958"/>
          </a:xfrm>
        </p:grpSpPr>
        <p:sp>
          <p:nvSpPr>
            <p:cNvPr id="768" name="Google Shape;768;p43"/>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9" name="Google Shape;769;p43"/>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70" name="Google Shape;770;p43"/>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1" name="Google Shape;771;p43"/>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772" name="Google Shape;772;p43"/>
          <p:cNvSpPr txBox="1"/>
          <p:nvPr/>
        </p:nvSpPr>
        <p:spPr>
          <a:xfrm>
            <a:off x="4152286" y="876300"/>
            <a:ext cx="9983428" cy="1715021"/>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Cara Kerja Decision Tree?</a:t>
            </a:r>
            <a:endParaRPr/>
          </a:p>
        </p:txBody>
      </p:sp>
      <p:pic>
        <p:nvPicPr>
          <p:cNvPr descr="Gambar yang dibuat" id="773" name="Google Shape;773;p43"/>
          <p:cNvPicPr preferRelativeResize="0"/>
          <p:nvPr/>
        </p:nvPicPr>
        <p:blipFill rotWithShape="1">
          <a:blip r:embed="rId4">
            <a:alphaModFix/>
          </a:blip>
          <a:srcRect b="0" l="0" r="0" t="0"/>
          <a:stretch/>
        </p:blipFill>
        <p:spPr>
          <a:xfrm>
            <a:off x="457200" y="1333500"/>
            <a:ext cx="2743200" cy="4110611"/>
          </a:xfrm>
          <a:prstGeom prst="rect">
            <a:avLst/>
          </a:prstGeom>
          <a:noFill/>
          <a:ln>
            <a:noFill/>
          </a:ln>
        </p:spPr>
      </p:pic>
      <p:graphicFrame>
        <p:nvGraphicFramePr>
          <p:cNvPr id="774" name="Google Shape;774;p43"/>
          <p:cNvGraphicFramePr/>
          <p:nvPr/>
        </p:nvGraphicFramePr>
        <p:xfrm>
          <a:off x="3499230" y="2933700"/>
          <a:ext cx="3000000" cy="3000000"/>
        </p:xfrm>
        <a:graphic>
          <a:graphicData uri="http://schemas.openxmlformats.org/drawingml/2006/table">
            <a:tbl>
              <a:tblPr bandRow="1" firstRow="1">
                <a:noFill/>
                <a:tableStyleId>{2C90F9C7-CA72-463E-B247-5019459E9078}</a:tableStyleId>
              </a:tblPr>
              <a:tblGrid>
                <a:gridCol w="1066800"/>
                <a:gridCol w="1981200"/>
                <a:gridCol w="1829600"/>
                <a:gridCol w="2513800"/>
                <a:gridCol w="1905000"/>
                <a:gridCol w="1791325"/>
              </a:tblGrid>
              <a:tr h="370850">
                <a:tc>
                  <a:txBody>
                    <a:bodyPr/>
                    <a:lstStyle/>
                    <a:p>
                      <a:pPr indent="0" lvl="0" marL="0" marR="0" rtl="0" algn="l">
                        <a:spcBef>
                          <a:spcPts val="0"/>
                        </a:spcBef>
                        <a:spcAft>
                          <a:spcPts val="0"/>
                        </a:spcAft>
                        <a:buNone/>
                      </a:pPr>
                      <a:r>
                        <a:rPr lang="en-US" sz="2400" u="none" cap="none" strike="noStrike"/>
                        <a:t>Day</a:t>
                      </a:r>
                      <a:endParaRPr/>
                    </a:p>
                  </a:txBody>
                  <a:tcPr marT="45725" marB="45725" marR="91450" marL="91450"/>
                </a:tc>
                <a:tc>
                  <a:txBody>
                    <a:bodyPr/>
                    <a:lstStyle/>
                    <a:p>
                      <a:pPr indent="0" lvl="0" marL="0" marR="0" rtl="0" algn="l">
                        <a:spcBef>
                          <a:spcPts val="0"/>
                        </a:spcBef>
                        <a:spcAft>
                          <a:spcPts val="0"/>
                        </a:spcAft>
                        <a:buNone/>
                      </a:pPr>
                      <a:r>
                        <a:rPr lang="en-US" sz="2400"/>
                        <a:t>Outlook</a:t>
                      </a:r>
                      <a:endParaRPr/>
                    </a:p>
                  </a:txBody>
                  <a:tcPr marT="45725" marB="45725" marR="91450" marL="91450"/>
                </a:tc>
                <a:tc>
                  <a:txBody>
                    <a:bodyPr/>
                    <a:lstStyle/>
                    <a:p>
                      <a:pPr indent="0" lvl="0" marL="0" marR="0" rtl="0" algn="l">
                        <a:spcBef>
                          <a:spcPts val="0"/>
                        </a:spcBef>
                        <a:spcAft>
                          <a:spcPts val="0"/>
                        </a:spcAft>
                        <a:buNone/>
                      </a:pPr>
                      <a:r>
                        <a:rPr lang="en-US" sz="2400"/>
                        <a:t>Temperature</a:t>
                      </a:r>
                      <a:endParaRPr/>
                    </a:p>
                  </a:txBody>
                  <a:tcPr marT="45725" marB="45725" marR="91450" marL="91450"/>
                </a:tc>
                <a:tc>
                  <a:txBody>
                    <a:bodyPr/>
                    <a:lstStyle/>
                    <a:p>
                      <a:pPr indent="0" lvl="0" marL="0" marR="0" rtl="0" algn="l">
                        <a:spcBef>
                          <a:spcPts val="0"/>
                        </a:spcBef>
                        <a:spcAft>
                          <a:spcPts val="0"/>
                        </a:spcAft>
                        <a:buNone/>
                      </a:pPr>
                      <a:r>
                        <a:rPr lang="en-US" sz="2400"/>
                        <a:t>Humidity</a:t>
                      </a:r>
                      <a:endParaRPr/>
                    </a:p>
                  </a:txBody>
                  <a:tcPr marT="45725" marB="45725" marR="91450" marL="91450"/>
                </a:tc>
                <a:tc>
                  <a:txBody>
                    <a:bodyPr/>
                    <a:lstStyle/>
                    <a:p>
                      <a:pPr indent="0" lvl="0" marL="0" marR="0" rtl="0" algn="l">
                        <a:spcBef>
                          <a:spcPts val="0"/>
                        </a:spcBef>
                        <a:spcAft>
                          <a:spcPts val="0"/>
                        </a:spcAft>
                        <a:buNone/>
                      </a:pPr>
                      <a:r>
                        <a:rPr lang="en-US" sz="2400"/>
                        <a:t>Wind</a:t>
                      </a:r>
                      <a:endParaRPr/>
                    </a:p>
                  </a:txBody>
                  <a:tcPr marT="45725" marB="45725" marR="91450" marL="91450"/>
                </a:tc>
                <a:tc>
                  <a:txBody>
                    <a:bodyPr/>
                    <a:lstStyle/>
                    <a:p>
                      <a:pPr indent="0" lvl="0" marL="0" marR="0" rtl="0" algn="l">
                        <a:spcBef>
                          <a:spcPts val="0"/>
                        </a:spcBef>
                        <a:spcAft>
                          <a:spcPts val="0"/>
                        </a:spcAft>
                        <a:buNone/>
                      </a:pPr>
                      <a:r>
                        <a:rPr lang="en-US" sz="2400"/>
                        <a:t>Play Ball</a:t>
                      </a:r>
                      <a:endParaRPr/>
                    </a:p>
                  </a:txBody>
                  <a:tcPr marT="45725" marB="45725" marR="91450" marL="91450"/>
                </a:tc>
              </a:tr>
              <a:tr h="370850">
                <a:tc>
                  <a:txBody>
                    <a:bodyPr/>
                    <a:lstStyle/>
                    <a:p>
                      <a:pPr indent="0" lvl="0" marL="0" marR="0" rtl="0" algn="l">
                        <a:spcBef>
                          <a:spcPts val="0"/>
                        </a:spcBef>
                        <a:spcAft>
                          <a:spcPts val="0"/>
                        </a:spcAft>
                        <a:buNone/>
                      </a:pPr>
                      <a:r>
                        <a:rPr lang="en-US" sz="2400"/>
                        <a:t>1</a:t>
                      </a:r>
                      <a:endParaRPr/>
                    </a:p>
                  </a:txBody>
                  <a:tcPr marT="45725" marB="45725" marR="91450" marL="91450"/>
                </a:tc>
                <a:tc>
                  <a:txBody>
                    <a:bodyPr/>
                    <a:lstStyle/>
                    <a:p>
                      <a:pPr indent="0" lvl="0" marL="0" marR="0" rtl="0" algn="l">
                        <a:spcBef>
                          <a:spcPts val="0"/>
                        </a:spcBef>
                        <a:spcAft>
                          <a:spcPts val="0"/>
                        </a:spcAft>
                        <a:buNone/>
                      </a:pPr>
                      <a:r>
                        <a:rPr lang="en-US" sz="2400"/>
                        <a:t>Sunny</a:t>
                      </a:r>
                      <a:endParaRPr/>
                    </a:p>
                  </a:txBody>
                  <a:tcPr marT="45725" marB="45725" marR="91450" marL="91450"/>
                </a:tc>
                <a:tc>
                  <a:txBody>
                    <a:bodyPr/>
                    <a:lstStyle/>
                    <a:p>
                      <a:pPr indent="0" lvl="0" marL="0" marR="0" rtl="0" algn="l">
                        <a:spcBef>
                          <a:spcPts val="0"/>
                        </a:spcBef>
                        <a:spcAft>
                          <a:spcPts val="0"/>
                        </a:spcAft>
                        <a:buNone/>
                      </a:pPr>
                      <a:r>
                        <a:rPr lang="en-US" sz="2400"/>
                        <a:t>Hot</a:t>
                      </a:r>
                      <a:endParaRPr/>
                    </a:p>
                  </a:txBody>
                  <a:tcPr marT="45725" marB="45725" marR="91450" marL="91450"/>
                </a:tc>
                <a:tc>
                  <a:txBody>
                    <a:bodyPr/>
                    <a:lstStyle/>
                    <a:p>
                      <a:pPr indent="0" lvl="0" marL="0" marR="0" rtl="0" algn="l">
                        <a:spcBef>
                          <a:spcPts val="0"/>
                        </a:spcBef>
                        <a:spcAft>
                          <a:spcPts val="0"/>
                        </a:spcAft>
                        <a:buNone/>
                      </a:pPr>
                      <a:r>
                        <a:rPr lang="en-US" sz="2400"/>
                        <a:t>High</a:t>
                      </a:r>
                      <a:endParaRPr/>
                    </a:p>
                  </a:txBody>
                  <a:tcPr marT="45725" marB="45725" marR="91450" marL="91450"/>
                </a:tc>
                <a:tc>
                  <a:txBody>
                    <a:bodyPr/>
                    <a:lstStyle/>
                    <a:p>
                      <a:pPr indent="0" lvl="0" marL="0" marR="0" rtl="0" algn="l">
                        <a:spcBef>
                          <a:spcPts val="0"/>
                        </a:spcBef>
                        <a:spcAft>
                          <a:spcPts val="0"/>
                        </a:spcAft>
                        <a:buNone/>
                      </a:pPr>
                      <a:r>
                        <a:rPr lang="en-US" sz="2400"/>
                        <a:t>Weak</a:t>
                      </a:r>
                      <a:endParaRPr/>
                    </a:p>
                  </a:txBody>
                  <a:tcPr marT="45725" marB="45725" marR="91450" marL="91450"/>
                </a:tc>
                <a:tc>
                  <a:txBody>
                    <a:bodyPr/>
                    <a:lstStyle/>
                    <a:p>
                      <a:pPr indent="0" lvl="0" marL="0" marR="0" rtl="0" algn="l">
                        <a:spcBef>
                          <a:spcPts val="0"/>
                        </a:spcBef>
                        <a:spcAft>
                          <a:spcPts val="0"/>
                        </a:spcAft>
                        <a:buNone/>
                      </a:pPr>
                      <a:r>
                        <a:rPr lang="en-US" sz="2400"/>
                        <a:t>No</a:t>
                      </a:r>
                      <a:endParaRPr/>
                    </a:p>
                  </a:txBody>
                  <a:tcPr marT="45725" marB="45725" marR="91450" marL="91450"/>
                </a:tc>
              </a:tr>
              <a:tr h="370850">
                <a:tc>
                  <a:txBody>
                    <a:bodyPr/>
                    <a:lstStyle/>
                    <a:p>
                      <a:pPr indent="0" lvl="0" marL="0" marR="0" rtl="0" algn="l">
                        <a:spcBef>
                          <a:spcPts val="0"/>
                        </a:spcBef>
                        <a:spcAft>
                          <a:spcPts val="0"/>
                        </a:spcAft>
                        <a:buNone/>
                      </a:pPr>
                      <a:r>
                        <a:rPr lang="en-US" sz="2400"/>
                        <a:t>2</a:t>
                      </a:r>
                      <a:endParaRPr/>
                    </a:p>
                  </a:txBody>
                  <a:tcPr marT="45725" marB="45725" marR="91450" marL="91450"/>
                </a:tc>
                <a:tc>
                  <a:txBody>
                    <a:bodyPr/>
                    <a:lstStyle/>
                    <a:p>
                      <a:pPr indent="0" lvl="0" marL="0" marR="0" rtl="0" algn="l">
                        <a:spcBef>
                          <a:spcPts val="0"/>
                        </a:spcBef>
                        <a:spcAft>
                          <a:spcPts val="0"/>
                        </a:spcAft>
                        <a:buNone/>
                      </a:pPr>
                      <a:r>
                        <a:rPr lang="en-US" sz="2400"/>
                        <a:t>Sunny</a:t>
                      </a:r>
                      <a:endParaRPr/>
                    </a:p>
                  </a:txBody>
                  <a:tcPr marT="45725" marB="45725" marR="91450" marL="91450"/>
                </a:tc>
                <a:tc>
                  <a:txBody>
                    <a:bodyPr/>
                    <a:lstStyle/>
                    <a:p>
                      <a:pPr indent="0" lvl="0" marL="0" marR="0" rtl="0" algn="l">
                        <a:spcBef>
                          <a:spcPts val="0"/>
                        </a:spcBef>
                        <a:spcAft>
                          <a:spcPts val="0"/>
                        </a:spcAft>
                        <a:buNone/>
                      </a:pPr>
                      <a:r>
                        <a:rPr lang="en-US" sz="2400"/>
                        <a:t>Hot</a:t>
                      </a:r>
                      <a:endParaRPr/>
                    </a:p>
                  </a:txBody>
                  <a:tcPr marT="45725" marB="45725" marR="91450" marL="91450"/>
                </a:tc>
                <a:tc>
                  <a:txBody>
                    <a:bodyPr/>
                    <a:lstStyle/>
                    <a:p>
                      <a:pPr indent="0" lvl="0" marL="0" marR="0" rtl="0" algn="l">
                        <a:spcBef>
                          <a:spcPts val="0"/>
                        </a:spcBef>
                        <a:spcAft>
                          <a:spcPts val="0"/>
                        </a:spcAft>
                        <a:buNone/>
                      </a:pPr>
                      <a:r>
                        <a:rPr lang="en-US" sz="2400"/>
                        <a:t>High</a:t>
                      </a:r>
                      <a:endParaRPr/>
                    </a:p>
                  </a:txBody>
                  <a:tcPr marT="45725" marB="45725" marR="91450" marL="91450"/>
                </a:tc>
                <a:tc>
                  <a:txBody>
                    <a:bodyPr/>
                    <a:lstStyle/>
                    <a:p>
                      <a:pPr indent="0" lvl="0" marL="0" marR="0" rtl="0" algn="l">
                        <a:spcBef>
                          <a:spcPts val="0"/>
                        </a:spcBef>
                        <a:spcAft>
                          <a:spcPts val="0"/>
                        </a:spcAft>
                        <a:buNone/>
                      </a:pPr>
                      <a:r>
                        <a:rPr lang="en-US" sz="2400"/>
                        <a:t>Strong</a:t>
                      </a:r>
                      <a:endParaRPr/>
                    </a:p>
                  </a:txBody>
                  <a:tcPr marT="45725" marB="45725" marR="91450" marL="91450"/>
                </a:tc>
                <a:tc>
                  <a:txBody>
                    <a:bodyPr/>
                    <a:lstStyle/>
                    <a:p>
                      <a:pPr indent="0" lvl="0" marL="0" marR="0" rtl="0" algn="l">
                        <a:spcBef>
                          <a:spcPts val="0"/>
                        </a:spcBef>
                        <a:spcAft>
                          <a:spcPts val="0"/>
                        </a:spcAft>
                        <a:buNone/>
                      </a:pPr>
                      <a:r>
                        <a:rPr lang="en-US" sz="2400"/>
                        <a:t>No</a:t>
                      </a:r>
                      <a:endParaRPr/>
                    </a:p>
                  </a:txBody>
                  <a:tcPr marT="45725" marB="45725" marR="91450" marL="91450"/>
                </a:tc>
              </a:tr>
              <a:tr h="370850">
                <a:tc>
                  <a:txBody>
                    <a:bodyPr/>
                    <a:lstStyle/>
                    <a:p>
                      <a:pPr indent="0" lvl="0" marL="0" marR="0" rtl="0" algn="l">
                        <a:spcBef>
                          <a:spcPts val="0"/>
                        </a:spcBef>
                        <a:spcAft>
                          <a:spcPts val="0"/>
                        </a:spcAft>
                        <a:buNone/>
                      </a:pPr>
                      <a:r>
                        <a:rPr lang="en-US" sz="2400"/>
                        <a:t>3</a:t>
                      </a:r>
                      <a:endParaRPr/>
                    </a:p>
                  </a:txBody>
                  <a:tcPr marT="45725" marB="45725" marR="91450" marL="91450"/>
                </a:tc>
                <a:tc>
                  <a:txBody>
                    <a:bodyPr/>
                    <a:lstStyle/>
                    <a:p>
                      <a:pPr indent="0" lvl="0" marL="0" marR="0" rtl="0" algn="l">
                        <a:spcBef>
                          <a:spcPts val="0"/>
                        </a:spcBef>
                        <a:spcAft>
                          <a:spcPts val="0"/>
                        </a:spcAft>
                        <a:buNone/>
                      </a:pPr>
                      <a:r>
                        <a:rPr lang="en-US" sz="2400"/>
                        <a:t>Cloudy</a:t>
                      </a:r>
                      <a:endParaRPr/>
                    </a:p>
                  </a:txBody>
                  <a:tcPr marT="45725" marB="45725" marR="91450" marL="91450"/>
                </a:tc>
                <a:tc>
                  <a:txBody>
                    <a:bodyPr/>
                    <a:lstStyle/>
                    <a:p>
                      <a:pPr indent="0" lvl="0" marL="0" marR="0" rtl="0" algn="l">
                        <a:spcBef>
                          <a:spcPts val="0"/>
                        </a:spcBef>
                        <a:spcAft>
                          <a:spcPts val="0"/>
                        </a:spcAft>
                        <a:buNone/>
                      </a:pPr>
                      <a:r>
                        <a:rPr lang="en-US" sz="2400"/>
                        <a:t>Hot</a:t>
                      </a:r>
                      <a:endParaRPr/>
                    </a:p>
                  </a:txBody>
                  <a:tcPr marT="45725" marB="45725" marR="91450" marL="91450"/>
                </a:tc>
                <a:tc>
                  <a:txBody>
                    <a:bodyPr/>
                    <a:lstStyle/>
                    <a:p>
                      <a:pPr indent="0" lvl="0" marL="0" marR="0" rtl="0" algn="l">
                        <a:spcBef>
                          <a:spcPts val="0"/>
                        </a:spcBef>
                        <a:spcAft>
                          <a:spcPts val="0"/>
                        </a:spcAft>
                        <a:buNone/>
                      </a:pPr>
                      <a:r>
                        <a:rPr lang="en-US" sz="2400"/>
                        <a:t>High</a:t>
                      </a:r>
                      <a:endParaRPr/>
                    </a:p>
                  </a:txBody>
                  <a:tcPr marT="45725" marB="45725" marR="91450" marL="91450"/>
                </a:tc>
                <a:tc>
                  <a:txBody>
                    <a:bodyPr/>
                    <a:lstStyle/>
                    <a:p>
                      <a:pPr indent="0" lvl="0" marL="0" marR="0" rtl="0" algn="l">
                        <a:spcBef>
                          <a:spcPts val="0"/>
                        </a:spcBef>
                        <a:spcAft>
                          <a:spcPts val="0"/>
                        </a:spcAft>
                        <a:buNone/>
                      </a:pPr>
                      <a:r>
                        <a:rPr lang="en-US" sz="2400"/>
                        <a:t>Weak</a:t>
                      </a:r>
                      <a:endParaRPr/>
                    </a:p>
                  </a:txBody>
                  <a:tcPr marT="45725" marB="45725" marR="91450" marL="91450"/>
                </a:tc>
                <a:tc>
                  <a:txBody>
                    <a:bodyPr/>
                    <a:lstStyle/>
                    <a:p>
                      <a:pPr indent="0" lvl="0" marL="0" marR="0" rtl="0" algn="l">
                        <a:spcBef>
                          <a:spcPts val="0"/>
                        </a:spcBef>
                        <a:spcAft>
                          <a:spcPts val="0"/>
                        </a:spcAft>
                        <a:buNone/>
                      </a:pPr>
                      <a:r>
                        <a:rPr lang="en-US" sz="2400"/>
                        <a:t>Yes</a:t>
                      </a:r>
                      <a:endParaRPr/>
                    </a:p>
                  </a:txBody>
                  <a:tcPr marT="45725" marB="45725" marR="91450" marL="91450"/>
                </a:tc>
              </a:tr>
              <a:tr h="370850">
                <a:tc>
                  <a:txBody>
                    <a:bodyPr/>
                    <a:lstStyle/>
                    <a:p>
                      <a:pPr indent="0" lvl="0" marL="0" marR="0" rtl="0" algn="l">
                        <a:spcBef>
                          <a:spcPts val="0"/>
                        </a:spcBef>
                        <a:spcAft>
                          <a:spcPts val="0"/>
                        </a:spcAft>
                        <a:buNone/>
                      </a:pPr>
                      <a:r>
                        <a:rPr lang="en-US" sz="2400"/>
                        <a:t>4</a:t>
                      </a:r>
                      <a:endParaRPr/>
                    </a:p>
                  </a:txBody>
                  <a:tcPr marT="45725" marB="45725" marR="91450" marL="91450"/>
                </a:tc>
                <a:tc>
                  <a:txBody>
                    <a:bodyPr/>
                    <a:lstStyle/>
                    <a:p>
                      <a:pPr indent="0" lvl="0" marL="0" marR="0" rtl="0" algn="l">
                        <a:spcBef>
                          <a:spcPts val="0"/>
                        </a:spcBef>
                        <a:spcAft>
                          <a:spcPts val="0"/>
                        </a:spcAft>
                        <a:buNone/>
                      </a:pPr>
                      <a:r>
                        <a:rPr lang="en-US" sz="2400"/>
                        <a:t>Rain</a:t>
                      </a:r>
                      <a:endParaRPr/>
                    </a:p>
                  </a:txBody>
                  <a:tcPr marT="45725" marB="45725" marR="91450" marL="91450"/>
                </a:tc>
                <a:tc>
                  <a:txBody>
                    <a:bodyPr/>
                    <a:lstStyle/>
                    <a:p>
                      <a:pPr indent="0" lvl="0" marL="0" marR="0" rtl="0" algn="l">
                        <a:spcBef>
                          <a:spcPts val="0"/>
                        </a:spcBef>
                        <a:spcAft>
                          <a:spcPts val="0"/>
                        </a:spcAft>
                        <a:buNone/>
                      </a:pPr>
                      <a:r>
                        <a:rPr lang="en-US" sz="2400"/>
                        <a:t>Mild</a:t>
                      </a:r>
                      <a:endParaRPr/>
                    </a:p>
                  </a:txBody>
                  <a:tcPr marT="45725" marB="45725" marR="91450" marL="91450"/>
                </a:tc>
                <a:tc>
                  <a:txBody>
                    <a:bodyPr/>
                    <a:lstStyle/>
                    <a:p>
                      <a:pPr indent="0" lvl="0" marL="0" marR="0" rtl="0" algn="l">
                        <a:spcBef>
                          <a:spcPts val="0"/>
                        </a:spcBef>
                        <a:spcAft>
                          <a:spcPts val="0"/>
                        </a:spcAft>
                        <a:buNone/>
                      </a:pPr>
                      <a:r>
                        <a:rPr lang="en-US" sz="2400"/>
                        <a:t>High</a:t>
                      </a:r>
                      <a:endParaRPr/>
                    </a:p>
                  </a:txBody>
                  <a:tcPr marT="45725" marB="45725" marR="91450" marL="91450"/>
                </a:tc>
                <a:tc>
                  <a:txBody>
                    <a:bodyPr/>
                    <a:lstStyle/>
                    <a:p>
                      <a:pPr indent="0" lvl="0" marL="0" marR="0" rtl="0" algn="l">
                        <a:spcBef>
                          <a:spcPts val="0"/>
                        </a:spcBef>
                        <a:spcAft>
                          <a:spcPts val="0"/>
                        </a:spcAft>
                        <a:buNone/>
                      </a:pPr>
                      <a:r>
                        <a:rPr lang="en-US" sz="2400"/>
                        <a:t>Weak</a:t>
                      </a:r>
                      <a:endParaRPr/>
                    </a:p>
                  </a:txBody>
                  <a:tcPr marT="45725" marB="45725" marR="91450" marL="91450"/>
                </a:tc>
                <a:tc>
                  <a:txBody>
                    <a:bodyPr/>
                    <a:lstStyle/>
                    <a:p>
                      <a:pPr indent="0" lvl="0" marL="0" marR="0" rtl="0" algn="l">
                        <a:spcBef>
                          <a:spcPts val="0"/>
                        </a:spcBef>
                        <a:spcAft>
                          <a:spcPts val="0"/>
                        </a:spcAft>
                        <a:buNone/>
                      </a:pPr>
                      <a:r>
                        <a:rPr lang="en-US" sz="2400"/>
                        <a:t>Yes</a:t>
                      </a:r>
                      <a:endParaRPr/>
                    </a:p>
                  </a:txBody>
                  <a:tcPr marT="45725" marB="45725" marR="91450" marL="91450"/>
                </a:tc>
              </a:tr>
              <a:tr h="370850">
                <a:tc>
                  <a:txBody>
                    <a:bodyPr/>
                    <a:lstStyle/>
                    <a:p>
                      <a:pPr indent="0" lvl="0" marL="0" marR="0" rtl="0" algn="l">
                        <a:spcBef>
                          <a:spcPts val="0"/>
                        </a:spcBef>
                        <a:spcAft>
                          <a:spcPts val="0"/>
                        </a:spcAft>
                        <a:buNone/>
                      </a:pPr>
                      <a:r>
                        <a:rPr lang="en-US" sz="2400"/>
                        <a:t>5</a:t>
                      </a:r>
                      <a:endParaRPr/>
                    </a:p>
                  </a:txBody>
                  <a:tcPr marT="45725" marB="45725" marR="91450" marL="91450"/>
                </a:tc>
                <a:tc>
                  <a:txBody>
                    <a:bodyPr/>
                    <a:lstStyle/>
                    <a:p>
                      <a:pPr indent="0" lvl="0" marL="0" marR="0" rtl="0" algn="l">
                        <a:spcBef>
                          <a:spcPts val="0"/>
                        </a:spcBef>
                        <a:spcAft>
                          <a:spcPts val="0"/>
                        </a:spcAft>
                        <a:buNone/>
                      </a:pPr>
                      <a:r>
                        <a:rPr lang="en-US" sz="2400"/>
                        <a:t>Rain</a:t>
                      </a:r>
                      <a:endParaRPr/>
                    </a:p>
                  </a:txBody>
                  <a:tcPr marT="45725" marB="45725" marR="91450" marL="91450"/>
                </a:tc>
                <a:tc>
                  <a:txBody>
                    <a:bodyPr/>
                    <a:lstStyle/>
                    <a:p>
                      <a:pPr indent="0" lvl="0" marL="0" marR="0" rtl="0" algn="l">
                        <a:spcBef>
                          <a:spcPts val="0"/>
                        </a:spcBef>
                        <a:spcAft>
                          <a:spcPts val="0"/>
                        </a:spcAft>
                        <a:buNone/>
                      </a:pPr>
                      <a:r>
                        <a:rPr lang="en-US" sz="2400"/>
                        <a:t>Cool</a:t>
                      </a:r>
                      <a:endParaRPr/>
                    </a:p>
                  </a:txBody>
                  <a:tcPr marT="45725" marB="45725" marR="91450" marL="91450"/>
                </a:tc>
                <a:tc>
                  <a:txBody>
                    <a:bodyPr/>
                    <a:lstStyle/>
                    <a:p>
                      <a:pPr indent="0" lvl="0" marL="0" marR="0" rtl="0" algn="l">
                        <a:spcBef>
                          <a:spcPts val="0"/>
                        </a:spcBef>
                        <a:spcAft>
                          <a:spcPts val="0"/>
                        </a:spcAft>
                        <a:buNone/>
                      </a:pPr>
                      <a:r>
                        <a:rPr lang="en-US" sz="2400"/>
                        <a:t>Normal</a:t>
                      </a:r>
                      <a:endParaRPr/>
                    </a:p>
                  </a:txBody>
                  <a:tcPr marT="45725" marB="45725" marR="91450" marL="91450"/>
                </a:tc>
                <a:tc>
                  <a:txBody>
                    <a:bodyPr/>
                    <a:lstStyle/>
                    <a:p>
                      <a:pPr indent="0" lvl="0" marL="0" marR="0" rtl="0" algn="l">
                        <a:spcBef>
                          <a:spcPts val="0"/>
                        </a:spcBef>
                        <a:spcAft>
                          <a:spcPts val="0"/>
                        </a:spcAft>
                        <a:buNone/>
                      </a:pPr>
                      <a:r>
                        <a:rPr lang="en-US" sz="2400"/>
                        <a:t>Weak</a:t>
                      </a:r>
                      <a:endParaRPr/>
                    </a:p>
                  </a:txBody>
                  <a:tcPr marT="45725" marB="45725" marR="91450" marL="91450"/>
                </a:tc>
                <a:tc>
                  <a:txBody>
                    <a:bodyPr/>
                    <a:lstStyle/>
                    <a:p>
                      <a:pPr indent="0" lvl="0" marL="0" marR="0" rtl="0" algn="l">
                        <a:spcBef>
                          <a:spcPts val="0"/>
                        </a:spcBef>
                        <a:spcAft>
                          <a:spcPts val="0"/>
                        </a:spcAft>
                        <a:buNone/>
                      </a:pPr>
                      <a:r>
                        <a:rPr lang="en-US" sz="2400"/>
                        <a:t>Yes</a:t>
                      </a:r>
                      <a:endParaRPr/>
                    </a:p>
                  </a:txBody>
                  <a:tcPr marT="45725" marB="45725" marR="91450" marL="91450"/>
                </a:tc>
              </a:tr>
              <a:tr h="370850">
                <a:tc>
                  <a:txBody>
                    <a:bodyPr/>
                    <a:lstStyle/>
                    <a:p>
                      <a:pPr indent="0" lvl="0" marL="0" marR="0" rtl="0" algn="l">
                        <a:spcBef>
                          <a:spcPts val="0"/>
                        </a:spcBef>
                        <a:spcAft>
                          <a:spcPts val="0"/>
                        </a:spcAft>
                        <a:buNone/>
                      </a:pPr>
                      <a:r>
                        <a:rPr lang="en-US" sz="2400"/>
                        <a:t>6</a:t>
                      </a:r>
                      <a:endParaRPr/>
                    </a:p>
                  </a:txBody>
                  <a:tcPr marT="45725" marB="45725" marR="91450" marL="91450"/>
                </a:tc>
                <a:tc>
                  <a:txBody>
                    <a:bodyPr/>
                    <a:lstStyle/>
                    <a:p>
                      <a:pPr indent="0" lvl="0" marL="0" marR="0" rtl="0" algn="l">
                        <a:spcBef>
                          <a:spcPts val="0"/>
                        </a:spcBef>
                        <a:spcAft>
                          <a:spcPts val="0"/>
                        </a:spcAft>
                        <a:buNone/>
                      </a:pPr>
                      <a:r>
                        <a:rPr lang="en-US" sz="2400"/>
                        <a:t>Rain</a:t>
                      </a:r>
                      <a:endParaRPr/>
                    </a:p>
                  </a:txBody>
                  <a:tcPr marT="45725" marB="45725" marR="91450" marL="91450"/>
                </a:tc>
                <a:tc>
                  <a:txBody>
                    <a:bodyPr/>
                    <a:lstStyle/>
                    <a:p>
                      <a:pPr indent="0" lvl="0" marL="0" marR="0" rtl="0" algn="l">
                        <a:spcBef>
                          <a:spcPts val="0"/>
                        </a:spcBef>
                        <a:spcAft>
                          <a:spcPts val="0"/>
                        </a:spcAft>
                        <a:buNone/>
                      </a:pPr>
                      <a:r>
                        <a:rPr lang="en-US" sz="2400"/>
                        <a:t>Cool</a:t>
                      </a:r>
                      <a:endParaRPr/>
                    </a:p>
                  </a:txBody>
                  <a:tcPr marT="45725" marB="45725" marR="91450" marL="91450"/>
                </a:tc>
                <a:tc>
                  <a:txBody>
                    <a:bodyPr/>
                    <a:lstStyle/>
                    <a:p>
                      <a:pPr indent="0" lvl="0" marL="0" marR="0" rtl="0" algn="l">
                        <a:spcBef>
                          <a:spcPts val="0"/>
                        </a:spcBef>
                        <a:spcAft>
                          <a:spcPts val="0"/>
                        </a:spcAft>
                        <a:buNone/>
                      </a:pPr>
                      <a:r>
                        <a:rPr lang="en-US" sz="2400"/>
                        <a:t>Normal</a:t>
                      </a:r>
                      <a:endParaRPr/>
                    </a:p>
                  </a:txBody>
                  <a:tcPr marT="45725" marB="45725" marR="91450" marL="91450"/>
                </a:tc>
                <a:tc>
                  <a:txBody>
                    <a:bodyPr/>
                    <a:lstStyle/>
                    <a:p>
                      <a:pPr indent="0" lvl="0" marL="0" marR="0" rtl="0" algn="l">
                        <a:spcBef>
                          <a:spcPts val="0"/>
                        </a:spcBef>
                        <a:spcAft>
                          <a:spcPts val="0"/>
                        </a:spcAft>
                        <a:buNone/>
                      </a:pPr>
                      <a:r>
                        <a:rPr lang="en-US" sz="2400"/>
                        <a:t>Strong</a:t>
                      </a:r>
                      <a:endParaRPr/>
                    </a:p>
                  </a:txBody>
                  <a:tcPr marT="45725" marB="45725" marR="91450" marL="91450"/>
                </a:tc>
                <a:tc>
                  <a:txBody>
                    <a:bodyPr/>
                    <a:lstStyle/>
                    <a:p>
                      <a:pPr indent="0" lvl="0" marL="0" marR="0" rtl="0" algn="l">
                        <a:spcBef>
                          <a:spcPts val="0"/>
                        </a:spcBef>
                        <a:spcAft>
                          <a:spcPts val="0"/>
                        </a:spcAft>
                        <a:buNone/>
                      </a:pPr>
                      <a:r>
                        <a:rPr lang="en-US" sz="2400"/>
                        <a:t>No</a:t>
                      </a:r>
                      <a:endParaRPr/>
                    </a:p>
                  </a:txBody>
                  <a:tcPr marT="45725" marB="45725" marR="91450" marL="91450"/>
                </a:tc>
              </a:tr>
              <a:tr h="370850">
                <a:tc>
                  <a:txBody>
                    <a:bodyPr/>
                    <a:lstStyle/>
                    <a:p>
                      <a:pPr indent="0" lvl="0" marL="0" marR="0" rtl="0" algn="l">
                        <a:spcBef>
                          <a:spcPts val="0"/>
                        </a:spcBef>
                        <a:spcAft>
                          <a:spcPts val="0"/>
                        </a:spcAft>
                        <a:buNone/>
                      </a:pPr>
                      <a:r>
                        <a:rPr lang="en-US" sz="2400"/>
                        <a:t>7</a:t>
                      </a:r>
                      <a:endParaRPr/>
                    </a:p>
                  </a:txBody>
                  <a:tcPr marT="45725" marB="45725" marR="91450" marL="91450"/>
                </a:tc>
                <a:tc>
                  <a:txBody>
                    <a:bodyPr/>
                    <a:lstStyle/>
                    <a:p>
                      <a:pPr indent="0" lvl="0" marL="0" marR="0" rtl="0" algn="l">
                        <a:spcBef>
                          <a:spcPts val="0"/>
                        </a:spcBef>
                        <a:spcAft>
                          <a:spcPts val="0"/>
                        </a:spcAft>
                        <a:buNone/>
                      </a:pPr>
                      <a:r>
                        <a:rPr lang="en-US" sz="2400"/>
                        <a:t>Cloudy</a:t>
                      </a:r>
                      <a:endParaRPr/>
                    </a:p>
                  </a:txBody>
                  <a:tcPr marT="45725" marB="45725" marR="91450" marL="91450"/>
                </a:tc>
                <a:tc>
                  <a:txBody>
                    <a:bodyPr/>
                    <a:lstStyle/>
                    <a:p>
                      <a:pPr indent="0" lvl="0" marL="0" marR="0" rtl="0" algn="l">
                        <a:spcBef>
                          <a:spcPts val="0"/>
                        </a:spcBef>
                        <a:spcAft>
                          <a:spcPts val="0"/>
                        </a:spcAft>
                        <a:buNone/>
                      </a:pPr>
                      <a:r>
                        <a:rPr lang="en-US" sz="2400"/>
                        <a:t>Cool </a:t>
                      </a:r>
                      <a:endParaRPr/>
                    </a:p>
                  </a:txBody>
                  <a:tcPr marT="45725" marB="45725" marR="91450" marL="91450"/>
                </a:tc>
                <a:tc>
                  <a:txBody>
                    <a:bodyPr/>
                    <a:lstStyle/>
                    <a:p>
                      <a:pPr indent="0" lvl="0" marL="0" marR="0" rtl="0" algn="l">
                        <a:spcBef>
                          <a:spcPts val="0"/>
                        </a:spcBef>
                        <a:spcAft>
                          <a:spcPts val="0"/>
                        </a:spcAft>
                        <a:buNone/>
                      </a:pPr>
                      <a:r>
                        <a:rPr lang="en-US" sz="2400"/>
                        <a:t>Normal</a:t>
                      </a:r>
                      <a:endParaRPr/>
                    </a:p>
                  </a:txBody>
                  <a:tcPr marT="45725" marB="45725" marR="91450" marL="91450"/>
                </a:tc>
                <a:tc>
                  <a:txBody>
                    <a:bodyPr/>
                    <a:lstStyle/>
                    <a:p>
                      <a:pPr indent="0" lvl="0" marL="0" marR="0" rtl="0" algn="l">
                        <a:spcBef>
                          <a:spcPts val="0"/>
                        </a:spcBef>
                        <a:spcAft>
                          <a:spcPts val="0"/>
                        </a:spcAft>
                        <a:buNone/>
                      </a:pPr>
                      <a:r>
                        <a:rPr lang="en-US" sz="2400"/>
                        <a:t>Strong</a:t>
                      </a:r>
                      <a:endParaRPr/>
                    </a:p>
                  </a:txBody>
                  <a:tcPr marT="45725" marB="45725" marR="91450" marL="91450"/>
                </a:tc>
                <a:tc>
                  <a:txBody>
                    <a:bodyPr/>
                    <a:lstStyle/>
                    <a:p>
                      <a:pPr indent="0" lvl="0" marL="0" marR="0" rtl="0" algn="l">
                        <a:spcBef>
                          <a:spcPts val="0"/>
                        </a:spcBef>
                        <a:spcAft>
                          <a:spcPts val="0"/>
                        </a:spcAft>
                        <a:buNone/>
                      </a:pPr>
                      <a:r>
                        <a:rPr lang="en-US" sz="2400"/>
                        <a:t>Yes</a:t>
                      </a:r>
                      <a:endParaRPr/>
                    </a:p>
                  </a:txBody>
                  <a:tcPr marT="45725" marB="45725" marR="91450" marL="91450"/>
                </a:tc>
              </a:tr>
              <a:tr h="370850">
                <a:tc>
                  <a:txBody>
                    <a:bodyPr/>
                    <a:lstStyle/>
                    <a:p>
                      <a:pPr indent="0" lvl="0" marL="0" marR="0" rtl="0" algn="l">
                        <a:spcBef>
                          <a:spcPts val="0"/>
                        </a:spcBef>
                        <a:spcAft>
                          <a:spcPts val="0"/>
                        </a:spcAft>
                        <a:buNone/>
                      </a:pPr>
                      <a:r>
                        <a:rPr lang="en-US" sz="2400"/>
                        <a:t>8</a:t>
                      </a:r>
                      <a:endParaRPr/>
                    </a:p>
                  </a:txBody>
                  <a:tcPr marT="45725" marB="45725" marR="91450" marL="91450"/>
                </a:tc>
                <a:tc>
                  <a:txBody>
                    <a:bodyPr/>
                    <a:lstStyle/>
                    <a:p>
                      <a:pPr indent="0" lvl="0" marL="0" marR="0" rtl="0" algn="l">
                        <a:spcBef>
                          <a:spcPts val="0"/>
                        </a:spcBef>
                        <a:spcAft>
                          <a:spcPts val="0"/>
                        </a:spcAft>
                        <a:buNone/>
                      </a:pPr>
                      <a:r>
                        <a:rPr lang="en-US" sz="2400"/>
                        <a:t>Sunny</a:t>
                      </a:r>
                      <a:endParaRPr/>
                    </a:p>
                  </a:txBody>
                  <a:tcPr marT="45725" marB="45725" marR="91450" marL="91450"/>
                </a:tc>
                <a:tc>
                  <a:txBody>
                    <a:bodyPr/>
                    <a:lstStyle/>
                    <a:p>
                      <a:pPr indent="0" lvl="0" marL="0" marR="0" rtl="0" algn="l">
                        <a:spcBef>
                          <a:spcPts val="0"/>
                        </a:spcBef>
                        <a:spcAft>
                          <a:spcPts val="0"/>
                        </a:spcAft>
                        <a:buNone/>
                      </a:pPr>
                      <a:r>
                        <a:rPr lang="en-US" sz="2400"/>
                        <a:t>Mild</a:t>
                      </a:r>
                      <a:endParaRPr/>
                    </a:p>
                  </a:txBody>
                  <a:tcPr marT="45725" marB="45725" marR="91450" marL="91450"/>
                </a:tc>
                <a:tc>
                  <a:txBody>
                    <a:bodyPr/>
                    <a:lstStyle/>
                    <a:p>
                      <a:pPr indent="0" lvl="0" marL="0" marR="0" rtl="0" algn="l">
                        <a:spcBef>
                          <a:spcPts val="0"/>
                        </a:spcBef>
                        <a:spcAft>
                          <a:spcPts val="0"/>
                        </a:spcAft>
                        <a:buNone/>
                      </a:pPr>
                      <a:r>
                        <a:rPr lang="en-US" sz="2400"/>
                        <a:t>High</a:t>
                      </a:r>
                      <a:endParaRPr/>
                    </a:p>
                  </a:txBody>
                  <a:tcPr marT="45725" marB="45725" marR="91450" marL="91450"/>
                </a:tc>
                <a:tc>
                  <a:txBody>
                    <a:bodyPr/>
                    <a:lstStyle/>
                    <a:p>
                      <a:pPr indent="0" lvl="0" marL="0" marR="0" rtl="0" algn="l">
                        <a:spcBef>
                          <a:spcPts val="0"/>
                        </a:spcBef>
                        <a:spcAft>
                          <a:spcPts val="0"/>
                        </a:spcAft>
                        <a:buNone/>
                      </a:pPr>
                      <a:r>
                        <a:rPr lang="en-US" sz="2400"/>
                        <a:t>Weak</a:t>
                      </a:r>
                      <a:endParaRPr/>
                    </a:p>
                  </a:txBody>
                  <a:tcPr marT="45725" marB="45725" marR="91450" marL="91450"/>
                </a:tc>
                <a:tc>
                  <a:txBody>
                    <a:bodyPr/>
                    <a:lstStyle/>
                    <a:p>
                      <a:pPr indent="0" lvl="0" marL="0" marR="0" rtl="0" algn="l">
                        <a:spcBef>
                          <a:spcPts val="0"/>
                        </a:spcBef>
                        <a:spcAft>
                          <a:spcPts val="0"/>
                        </a:spcAft>
                        <a:buNone/>
                      </a:pPr>
                      <a:r>
                        <a:rPr lang="en-US" sz="2400"/>
                        <a:t>No</a:t>
                      </a:r>
                      <a:endParaRPr/>
                    </a:p>
                  </a:txBody>
                  <a:tcPr marT="45725" marB="45725" marR="91450" marL="91450"/>
                </a:tc>
              </a:tr>
              <a:tr h="370850">
                <a:tc>
                  <a:txBody>
                    <a:bodyPr/>
                    <a:lstStyle/>
                    <a:p>
                      <a:pPr indent="0" lvl="0" marL="0" marR="0" rtl="0" algn="l">
                        <a:spcBef>
                          <a:spcPts val="0"/>
                        </a:spcBef>
                        <a:spcAft>
                          <a:spcPts val="0"/>
                        </a:spcAft>
                        <a:buNone/>
                      </a:pPr>
                      <a:r>
                        <a:rPr lang="en-US" sz="2400"/>
                        <a:t>9</a:t>
                      </a:r>
                      <a:endParaRPr/>
                    </a:p>
                  </a:txBody>
                  <a:tcPr marT="45725" marB="45725" marR="91450" marL="91450"/>
                </a:tc>
                <a:tc>
                  <a:txBody>
                    <a:bodyPr/>
                    <a:lstStyle/>
                    <a:p>
                      <a:pPr indent="0" lvl="0" marL="0" marR="0" rtl="0" algn="l">
                        <a:spcBef>
                          <a:spcPts val="0"/>
                        </a:spcBef>
                        <a:spcAft>
                          <a:spcPts val="0"/>
                        </a:spcAft>
                        <a:buNone/>
                      </a:pPr>
                      <a:r>
                        <a:rPr lang="en-US" sz="2400"/>
                        <a:t>Sunny</a:t>
                      </a:r>
                      <a:endParaRPr/>
                    </a:p>
                  </a:txBody>
                  <a:tcPr marT="45725" marB="45725" marR="91450" marL="91450"/>
                </a:tc>
                <a:tc>
                  <a:txBody>
                    <a:bodyPr/>
                    <a:lstStyle/>
                    <a:p>
                      <a:pPr indent="0" lvl="0" marL="0" marR="0" rtl="0" algn="l">
                        <a:spcBef>
                          <a:spcPts val="0"/>
                        </a:spcBef>
                        <a:spcAft>
                          <a:spcPts val="0"/>
                        </a:spcAft>
                        <a:buNone/>
                      </a:pPr>
                      <a:r>
                        <a:rPr lang="en-US" sz="2400"/>
                        <a:t>Cool</a:t>
                      </a:r>
                      <a:endParaRPr/>
                    </a:p>
                  </a:txBody>
                  <a:tcPr marT="45725" marB="45725" marR="91450" marL="91450"/>
                </a:tc>
                <a:tc>
                  <a:txBody>
                    <a:bodyPr/>
                    <a:lstStyle/>
                    <a:p>
                      <a:pPr indent="0" lvl="0" marL="0" marR="0" rtl="0" algn="l">
                        <a:spcBef>
                          <a:spcPts val="0"/>
                        </a:spcBef>
                        <a:spcAft>
                          <a:spcPts val="0"/>
                        </a:spcAft>
                        <a:buNone/>
                      </a:pPr>
                      <a:r>
                        <a:rPr lang="en-US" sz="2400"/>
                        <a:t>Normal</a:t>
                      </a:r>
                      <a:endParaRPr/>
                    </a:p>
                  </a:txBody>
                  <a:tcPr marT="45725" marB="45725" marR="91450" marL="91450"/>
                </a:tc>
                <a:tc>
                  <a:txBody>
                    <a:bodyPr/>
                    <a:lstStyle/>
                    <a:p>
                      <a:pPr indent="0" lvl="0" marL="0" marR="0" rtl="0" algn="l">
                        <a:spcBef>
                          <a:spcPts val="0"/>
                        </a:spcBef>
                        <a:spcAft>
                          <a:spcPts val="0"/>
                        </a:spcAft>
                        <a:buNone/>
                      </a:pPr>
                      <a:r>
                        <a:rPr lang="en-US" sz="2400"/>
                        <a:t>Weak</a:t>
                      </a:r>
                      <a:endParaRPr/>
                    </a:p>
                  </a:txBody>
                  <a:tcPr marT="45725" marB="45725" marR="91450" marL="91450"/>
                </a:tc>
                <a:tc>
                  <a:txBody>
                    <a:bodyPr/>
                    <a:lstStyle/>
                    <a:p>
                      <a:pPr indent="0" lvl="0" marL="0" marR="0" rtl="0" algn="l">
                        <a:spcBef>
                          <a:spcPts val="0"/>
                        </a:spcBef>
                        <a:spcAft>
                          <a:spcPts val="0"/>
                        </a:spcAft>
                        <a:buNone/>
                      </a:pPr>
                      <a:r>
                        <a:rPr lang="en-US" sz="2400"/>
                        <a:t>Yes</a:t>
                      </a:r>
                      <a:endParaRPr/>
                    </a:p>
                  </a:txBody>
                  <a:tcPr marT="45725" marB="45725" marR="91450" marL="91450"/>
                </a:tc>
              </a:tr>
              <a:tr h="370850">
                <a:tc>
                  <a:txBody>
                    <a:bodyPr/>
                    <a:lstStyle/>
                    <a:p>
                      <a:pPr indent="0" lvl="0" marL="0" marR="0" rtl="0" algn="l">
                        <a:spcBef>
                          <a:spcPts val="0"/>
                        </a:spcBef>
                        <a:spcAft>
                          <a:spcPts val="0"/>
                        </a:spcAft>
                        <a:buNone/>
                      </a:pPr>
                      <a:r>
                        <a:rPr lang="en-US" sz="2400"/>
                        <a:t>10</a:t>
                      </a:r>
                      <a:endParaRPr/>
                    </a:p>
                  </a:txBody>
                  <a:tcPr marT="45725" marB="45725" marR="91450" marL="91450"/>
                </a:tc>
                <a:tc>
                  <a:txBody>
                    <a:bodyPr/>
                    <a:lstStyle/>
                    <a:p>
                      <a:pPr indent="0" lvl="0" marL="0" marR="0" rtl="0" algn="l">
                        <a:spcBef>
                          <a:spcPts val="0"/>
                        </a:spcBef>
                        <a:spcAft>
                          <a:spcPts val="0"/>
                        </a:spcAft>
                        <a:buNone/>
                      </a:pPr>
                      <a:r>
                        <a:rPr lang="en-US" sz="2400"/>
                        <a:t>Rain</a:t>
                      </a:r>
                      <a:endParaRPr/>
                    </a:p>
                  </a:txBody>
                  <a:tcPr marT="45725" marB="45725" marR="91450" marL="91450"/>
                </a:tc>
                <a:tc>
                  <a:txBody>
                    <a:bodyPr/>
                    <a:lstStyle/>
                    <a:p>
                      <a:pPr indent="0" lvl="0" marL="0" marR="0" rtl="0" algn="l">
                        <a:spcBef>
                          <a:spcPts val="0"/>
                        </a:spcBef>
                        <a:spcAft>
                          <a:spcPts val="0"/>
                        </a:spcAft>
                        <a:buNone/>
                      </a:pPr>
                      <a:r>
                        <a:rPr lang="en-US" sz="2400"/>
                        <a:t>Mild</a:t>
                      </a:r>
                      <a:endParaRPr/>
                    </a:p>
                  </a:txBody>
                  <a:tcPr marT="45725" marB="45725" marR="91450" marL="91450"/>
                </a:tc>
                <a:tc>
                  <a:txBody>
                    <a:bodyPr/>
                    <a:lstStyle/>
                    <a:p>
                      <a:pPr indent="0" lvl="0" marL="0" marR="0" rtl="0" algn="l">
                        <a:spcBef>
                          <a:spcPts val="0"/>
                        </a:spcBef>
                        <a:spcAft>
                          <a:spcPts val="0"/>
                        </a:spcAft>
                        <a:buNone/>
                      </a:pPr>
                      <a:r>
                        <a:rPr lang="en-US" sz="2400"/>
                        <a:t>Normal</a:t>
                      </a:r>
                      <a:endParaRPr/>
                    </a:p>
                  </a:txBody>
                  <a:tcPr marT="45725" marB="45725" marR="91450" marL="91450"/>
                </a:tc>
                <a:tc>
                  <a:txBody>
                    <a:bodyPr/>
                    <a:lstStyle/>
                    <a:p>
                      <a:pPr indent="0" lvl="0" marL="0" marR="0" rtl="0" algn="l">
                        <a:spcBef>
                          <a:spcPts val="0"/>
                        </a:spcBef>
                        <a:spcAft>
                          <a:spcPts val="0"/>
                        </a:spcAft>
                        <a:buNone/>
                      </a:pPr>
                      <a:r>
                        <a:rPr lang="en-US" sz="2400"/>
                        <a:t>Weak</a:t>
                      </a:r>
                      <a:endParaRPr/>
                    </a:p>
                  </a:txBody>
                  <a:tcPr marT="45725" marB="45725" marR="91450" marL="91450"/>
                </a:tc>
                <a:tc>
                  <a:txBody>
                    <a:bodyPr/>
                    <a:lstStyle/>
                    <a:p>
                      <a:pPr indent="0" lvl="0" marL="0" marR="0" rtl="0" algn="l">
                        <a:spcBef>
                          <a:spcPts val="0"/>
                        </a:spcBef>
                        <a:spcAft>
                          <a:spcPts val="0"/>
                        </a:spcAft>
                        <a:buNone/>
                      </a:pPr>
                      <a:r>
                        <a:rPr lang="en-US" sz="2400"/>
                        <a:t>Yes</a:t>
                      </a:r>
                      <a:endParaRPr/>
                    </a:p>
                  </a:txBody>
                  <a:tcPr marT="45725" marB="45725" marR="91450" marL="91450"/>
                </a:tc>
              </a:tr>
              <a:tr h="370850">
                <a:tc>
                  <a:txBody>
                    <a:bodyPr/>
                    <a:lstStyle/>
                    <a:p>
                      <a:pPr indent="0" lvl="0" marL="0" marR="0" rtl="0" algn="l">
                        <a:spcBef>
                          <a:spcPts val="0"/>
                        </a:spcBef>
                        <a:spcAft>
                          <a:spcPts val="0"/>
                        </a:spcAft>
                        <a:buNone/>
                      </a:pPr>
                      <a:r>
                        <a:rPr lang="en-US" sz="2400"/>
                        <a:t>11</a:t>
                      </a:r>
                      <a:endParaRPr/>
                    </a:p>
                  </a:txBody>
                  <a:tcPr marT="45725" marB="45725" marR="91450" marL="91450"/>
                </a:tc>
                <a:tc>
                  <a:txBody>
                    <a:bodyPr/>
                    <a:lstStyle/>
                    <a:p>
                      <a:pPr indent="0" lvl="0" marL="0" marR="0" rtl="0" algn="l">
                        <a:spcBef>
                          <a:spcPts val="0"/>
                        </a:spcBef>
                        <a:spcAft>
                          <a:spcPts val="0"/>
                        </a:spcAft>
                        <a:buNone/>
                      </a:pPr>
                      <a:r>
                        <a:rPr lang="en-US" sz="2400"/>
                        <a:t>Sunny</a:t>
                      </a:r>
                      <a:endParaRPr/>
                    </a:p>
                  </a:txBody>
                  <a:tcPr marT="45725" marB="45725" marR="91450" marL="91450"/>
                </a:tc>
                <a:tc>
                  <a:txBody>
                    <a:bodyPr/>
                    <a:lstStyle/>
                    <a:p>
                      <a:pPr indent="0" lvl="0" marL="0" marR="0" rtl="0" algn="l">
                        <a:spcBef>
                          <a:spcPts val="0"/>
                        </a:spcBef>
                        <a:spcAft>
                          <a:spcPts val="0"/>
                        </a:spcAft>
                        <a:buNone/>
                      </a:pPr>
                      <a:r>
                        <a:rPr lang="en-US" sz="2400"/>
                        <a:t>Mild</a:t>
                      </a:r>
                      <a:endParaRPr/>
                    </a:p>
                  </a:txBody>
                  <a:tcPr marT="45725" marB="45725" marR="91450" marL="91450"/>
                </a:tc>
                <a:tc>
                  <a:txBody>
                    <a:bodyPr/>
                    <a:lstStyle/>
                    <a:p>
                      <a:pPr indent="0" lvl="0" marL="0" marR="0" rtl="0" algn="l">
                        <a:spcBef>
                          <a:spcPts val="0"/>
                        </a:spcBef>
                        <a:spcAft>
                          <a:spcPts val="0"/>
                        </a:spcAft>
                        <a:buNone/>
                      </a:pPr>
                      <a:r>
                        <a:rPr lang="en-US" sz="2400"/>
                        <a:t>Normal</a:t>
                      </a:r>
                      <a:endParaRPr/>
                    </a:p>
                  </a:txBody>
                  <a:tcPr marT="45725" marB="45725" marR="91450" marL="91450"/>
                </a:tc>
                <a:tc>
                  <a:txBody>
                    <a:bodyPr/>
                    <a:lstStyle/>
                    <a:p>
                      <a:pPr indent="0" lvl="0" marL="0" marR="0" rtl="0" algn="l">
                        <a:spcBef>
                          <a:spcPts val="0"/>
                        </a:spcBef>
                        <a:spcAft>
                          <a:spcPts val="0"/>
                        </a:spcAft>
                        <a:buNone/>
                      </a:pPr>
                      <a:r>
                        <a:rPr lang="en-US" sz="2400"/>
                        <a:t>Strong</a:t>
                      </a:r>
                      <a:endParaRPr/>
                    </a:p>
                  </a:txBody>
                  <a:tcPr marT="45725" marB="45725" marR="91450" marL="91450"/>
                </a:tc>
                <a:tc>
                  <a:txBody>
                    <a:bodyPr/>
                    <a:lstStyle/>
                    <a:p>
                      <a:pPr indent="0" lvl="0" marL="0" marR="0" rtl="0" algn="l">
                        <a:spcBef>
                          <a:spcPts val="0"/>
                        </a:spcBef>
                        <a:spcAft>
                          <a:spcPts val="0"/>
                        </a:spcAft>
                        <a:buNone/>
                      </a:pPr>
                      <a:r>
                        <a:rPr lang="en-US" sz="2400"/>
                        <a:t>Yes</a:t>
                      </a:r>
                      <a:endParaRPr/>
                    </a:p>
                  </a:txBody>
                  <a:tcPr marT="45725" marB="45725" marR="91450" marL="91450"/>
                </a:tc>
              </a:tr>
              <a:tr h="370850">
                <a:tc>
                  <a:txBody>
                    <a:bodyPr/>
                    <a:lstStyle/>
                    <a:p>
                      <a:pPr indent="0" lvl="0" marL="0" marR="0" rtl="0" algn="l">
                        <a:spcBef>
                          <a:spcPts val="0"/>
                        </a:spcBef>
                        <a:spcAft>
                          <a:spcPts val="0"/>
                        </a:spcAft>
                        <a:buNone/>
                      </a:pPr>
                      <a:r>
                        <a:rPr lang="en-US" sz="2400"/>
                        <a:t>12</a:t>
                      </a:r>
                      <a:endParaRPr/>
                    </a:p>
                  </a:txBody>
                  <a:tcPr marT="45725" marB="45725" marR="91450" marL="91450"/>
                </a:tc>
                <a:tc>
                  <a:txBody>
                    <a:bodyPr/>
                    <a:lstStyle/>
                    <a:p>
                      <a:pPr indent="0" lvl="0" marL="0" marR="0" rtl="0" algn="l">
                        <a:spcBef>
                          <a:spcPts val="0"/>
                        </a:spcBef>
                        <a:spcAft>
                          <a:spcPts val="0"/>
                        </a:spcAft>
                        <a:buNone/>
                      </a:pPr>
                      <a:r>
                        <a:rPr lang="en-US" sz="2400"/>
                        <a:t>Cloudy</a:t>
                      </a:r>
                      <a:endParaRPr/>
                    </a:p>
                  </a:txBody>
                  <a:tcPr marT="45725" marB="45725" marR="91450" marL="91450"/>
                </a:tc>
                <a:tc>
                  <a:txBody>
                    <a:bodyPr/>
                    <a:lstStyle/>
                    <a:p>
                      <a:pPr indent="0" lvl="0" marL="0" marR="0" rtl="0" algn="l">
                        <a:spcBef>
                          <a:spcPts val="0"/>
                        </a:spcBef>
                        <a:spcAft>
                          <a:spcPts val="0"/>
                        </a:spcAft>
                        <a:buNone/>
                      </a:pPr>
                      <a:r>
                        <a:rPr lang="en-US" sz="2400"/>
                        <a:t>Mild</a:t>
                      </a:r>
                      <a:endParaRPr/>
                    </a:p>
                  </a:txBody>
                  <a:tcPr marT="45725" marB="45725" marR="91450" marL="91450"/>
                </a:tc>
                <a:tc>
                  <a:txBody>
                    <a:bodyPr/>
                    <a:lstStyle/>
                    <a:p>
                      <a:pPr indent="0" lvl="0" marL="0" marR="0" rtl="0" algn="l">
                        <a:spcBef>
                          <a:spcPts val="0"/>
                        </a:spcBef>
                        <a:spcAft>
                          <a:spcPts val="0"/>
                        </a:spcAft>
                        <a:buNone/>
                      </a:pPr>
                      <a:r>
                        <a:rPr lang="en-US" sz="2400"/>
                        <a:t>High</a:t>
                      </a:r>
                      <a:endParaRPr/>
                    </a:p>
                  </a:txBody>
                  <a:tcPr marT="45725" marB="45725" marR="91450" marL="91450"/>
                </a:tc>
                <a:tc>
                  <a:txBody>
                    <a:bodyPr/>
                    <a:lstStyle/>
                    <a:p>
                      <a:pPr indent="0" lvl="0" marL="0" marR="0" rtl="0" algn="l">
                        <a:spcBef>
                          <a:spcPts val="0"/>
                        </a:spcBef>
                        <a:spcAft>
                          <a:spcPts val="0"/>
                        </a:spcAft>
                        <a:buNone/>
                      </a:pPr>
                      <a:r>
                        <a:rPr lang="en-US" sz="2400"/>
                        <a:t>Strong</a:t>
                      </a:r>
                      <a:endParaRPr/>
                    </a:p>
                  </a:txBody>
                  <a:tcPr marT="45725" marB="45725" marR="91450" marL="91450"/>
                </a:tc>
                <a:tc>
                  <a:txBody>
                    <a:bodyPr/>
                    <a:lstStyle/>
                    <a:p>
                      <a:pPr indent="0" lvl="0" marL="0" marR="0" rtl="0" algn="l">
                        <a:spcBef>
                          <a:spcPts val="0"/>
                        </a:spcBef>
                        <a:spcAft>
                          <a:spcPts val="0"/>
                        </a:spcAft>
                        <a:buNone/>
                      </a:pPr>
                      <a:r>
                        <a:rPr lang="en-US" sz="2400"/>
                        <a:t>Yes</a:t>
                      </a:r>
                      <a:endParaRPr/>
                    </a:p>
                  </a:txBody>
                  <a:tcPr marT="45725" marB="45725" marR="91450" marL="91450"/>
                </a:tc>
              </a:tr>
              <a:tr h="370850">
                <a:tc>
                  <a:txBody>
                    <a:bodyPr/>
                    <a:lstStyle/>
                    <a:p>
                      <a:pPr indent="0" lvl="0" marL="0" marR="0" rtl="0" algn="l">
                        <a:spcBef>
                          <a:spcPts val="0"/>
                        </a:spcBef>
                        <a:spcAft>
                          <a:spcPts val="0"/>
                        </a:spcAft>
                        <a:buNone/>
                      </a:pPr>
                      <a:r>
                        <a:rPr lang="en-US" sz="2400"/>
                        <a:t>13</a:t>
                      </a:r>
                      <a:endParaRPr/>
                    </a:p>
                  </a:txBody>
                  <a:tcPr marT="45725" marB="45725" marR="91450" marL="91450"/>
                </a:tc>
                <a:tc>
                  <a:txBody>
                    <a:bodyPr/>
                    <a:lstStyle/>
                    <a:p>
                      <a:pPr indent="0" lvl="0" marL="0" marR="0" rtl="0" algn="l">
                        <a:spcBef>
                          <a:spcPts val="0"/>
                        </a:spcBef>
                        <a:spcAft>
                          <a:spcPts val="0"/>
                        </a:spcAft>
                        <a:buNone/>
                      </a:pPr>
                      <a:r>
                        <a:rPr lang="en-US" sz="2400"/>
                        <a:t>Cloudy</a:t>
                      </a:r>
                      <a:endParaRPr/>
                    </a:p>
                  </a:txBody>
                  <a:tcPr marT="45725" marB="45725" marR="91450" marL="91450"/>
                </a:tc>
                <a:tc>
                  <a:txBody>
                    <a:bodyPr/>
                    <a:lstStyle/>
                    <a:p>
                      <a:pPr indent="0" lvl="0" marL="0" marR="0" rtl="0" algn="l">
                        <a:spcBef>
                          <a:spcPts val="0"/>
                        </a:spcBef>
                        <a:spcAft>
                          <a:spcPts val="0"/>
                        </a:spcAft>
                        <a:buNone/>
                      </a:pPr>
                      <a:r>
                        <a:rPr lang="en-US" sz="2400"/>
                        <a:t>Hot</a:t>
                      </a:r>
                      <a:endParaRPr/>
                    </a:p>
                  </a:txBody>
                  <a:tcPr marT="45725" marB="45725" marR="91450" marL="91450"/>
                </a:tc>
                <a:tc>
                  <a:txBody>
                    <a:bodyPr/>
                    <a:lstStyle/>
                    <a:p>
                      <a:pPr indent="0" lvl="0" marL="0" marR="0" rtl="0" algn="l">
                        <a:spcBef>
                          <a:spcPts val="0"/>
                        </a:spcBef>
                        <a:spcAft>
                          <a:spcPts val="0"/>
                        </a:spcAft>
                        <a:buNone/>
                      </a:pPr>
                      <a:r>
                        <a:rPr lang="en-US" sz="2400"/>
                        <a:t>Normal</a:t>
                      </a:r>
                      <a:endParaRPr/>
                    </a:p>
                  </a:txBody>
                  <a:tcPr marT="45725" marB="45725" marR="91450" marL="91450"/>
                </a:tc>
                <a:tc>
                  <a:txBody>
                    <a:bodyPr/>
                    <a:lstStyle/>
                    <a:p>
                      <a:pPr indent="0" lvl="0" marL="0" marR="0" rtl="0" algn="l">
                        <a:spcBef>
                          <a:spcPts val="0"/>
                        </a:spcBef>
                        <a:spcAft>
                          <a:spcPts val="0"/>
                        </a:spcAft>
                        <a:buNone/>
                      </a:pPr>
                      <a:r>
                        <a:rPr lang="en-US" sz="2400"/>
                        <a:t>Weak</a:t>
                      </a:r>
                      <a:endParaRPr/>
                    </a:p>
                  </a:txBody>
                  <a:tcPr marT="45725" marB="45725" marR="91450" marL="91450"/>
                </a:tc>
                <a:tc>
                  <a:txBody>
                    <a:bodyPr/>
                    <a:lstStyle/>
                    <a:p>
                      <a:pPr indent="0" lvl="0" marL="0" marR="0" rtl="0" algn="l">
                        <a:spcBef>
                          <a:spcPts val="0"/>
                        </a:spcBef>
                        <a:spcAft>
                          <a:spcPts val="0"/>
                        </a:spcAft>
                        <a:buNone/>
                      </a:pPr>
                      <a:r>
                        <a:rPr lang="en-US" sz="2400"/>
                        <a:t>Yes</a:t>
                      </a:r>
                      <a:endParaRPr/>
                    </a:p>
                  </a:txBody>
                  <a:tcPr marT="45725" marB="45725" marR="91450" marL="91450"/>
                </a:tc>
              </a:tr>
              <a:tr h="370850">
                <a:tc>
                  <a:txBody>
                    <a:bodyPr/>
                    <a:lstStyle/>
                    <a:p>
                      <a:pPr indent="0" lvl="0" marL="0" marR="0" rtl="0" algn="l">
                        <a:spcBef>
                          <a:spcPts val="0"/>
                        </a:spcBef>
                        <a:spcAft>
                          <a:spcPts val="0"/>
                        </a:spcAft>
                        <a:buNone/>
                      </a:pPr>
                      <a:r>
                        <a:rPr lang="en-US" sz="2400"/>
                        <a:t>14</a:t>
                      </a:r>
                      <a:endParaRPr/>
                    </a:p>
                  </a:txBody>
                  <a:tcPr marT="45725" marB="45725" marR="91450" marL="91450"/>
                </a:tc>
                <a:tc>
                  <a:txBody>
                    <a:bodyPr/>
                    <a:lstStyle/>
                    <a:p>
                      <a:pPr indent="0" lvl="0" marL="0" marR="0" rtl="0" algn="l">
                        <a:spcBef>
                          <a:spcPts val="0"/>
                        </a:spcBef>
                        <a:spcAft>
                          <a:spcPts val="0"/>
                        </a:spcAft>
                        <a:buNone/>
                      </a:pPr>
                      <a:r>
                        <a:rPr lang="en-US" sz="2400"/>
                        <a:t>Rain</a:t>
                      </a:r>
                      <a:endParaRPr/>
                    </a:p>
                  </a:txBody>
                  <a:tcPr marT="45725" marB="45725" marR="91450" marL="91450"/>
                </a:tc>
                <a:tc>
                  <a:txBody>
                    <a:bodyPr/>
                    <a:lstStyle/>
                    <a:p>
                      <a:pPr indent="0" lvl="0" marL="0" marR="0" rtl="0" algn="l">
                        <a:spcBef>
                          <a:spcPts val="0"/>
                        </a:spcBef>
                        <a:spcAft>
                          <a:spcPts val="0"/>
                        </a:spcAft>
                        <a:buNone/>
                      </a:pPr>
                      <a:r>
                        <a:rPr lang="en-US" sz="2400"/>
                        <a:t>Mild</a:t>
                      </a:r>
                      <a:endParaRPr/>
                    </a:p>
                  </a:txBody>
                  <a:tcPr marT="45725" marB="45725" marR="91450" marL="91450"/>
                </a:tc>
                <a:tc>
                  <a:txBody>
                    <a:bodyPr/>
                    <a:lstStyle/>
                    <a:p>
                      <a:pPr indent="0" lvl="0" marL="0" marR="0" rtl="0" algn="l">
                        <a:spcBef>
                          <a:spcPts val="0"/>
                        </a:spcBef>
                        <a:spcAft>
                          <a:spcPts val="0"/>
                        </a:spcAft>
                        <a:buNone/>
                      </a:pPr>
                      <a:r>
                        <a:rPr lang="en-US" sz="2400"/>
                        <a:t>High</a:t>
                      </a:r>
                      <a:endParaRPr/>
                    </a:p>
                  </a:txBody>
                  <a:tcPr marT="45725" marB="45725" marR="91450" marL="91450"/>
                </a:tc>
                <a:tc>
                  <a:txBody>
                    <a:bodyPr/>
                    <a:lstStyle/>
                    <a:p>
                      <a:pPr indent="0" lvl="0" marL="0" marR="0" rtl="0" algn="l">
                        <a:spcBef>
                          <a:spcPts val="0"/>
                        </a:spcBef>
                        <a:spcAft>
                          <a:spcPts val="0"/>
                        </a:spcAft>
                        <a:buNone/>
                      </a:pPr>
                      <a:r>
                        <a:rPr lang="en-US" sz="2400"/>
                        <a:t>Strong</a:t>
                      </a:r>
                      <a:endParaRPr/>
                    </a:p>
                  </a:txBody>
                  <a:tcPr marT="45725" marB="45725" marR="91450" marL="91450"/>
                </a:tc>
                <a:tc>
                  <a:txBody>
                    <a:bodyPr/>
                    <a:lstStyle/>
                    <a:p>
                      <a:pPr indent="0" lvl="0" marL="0" marR="0" rtl="0" algn="l">
                        <a:spcBef>
                          <a:spcPts val="0"/>
                        </a:spcBef>
                        <a:spcAft>
                          <a:spcPts val="0"/>
                        </a:spcAft>
                        <a:buNone/>
                      </a:pPr>
                      <a:r>
                        <a:rPr lang="en-US" sz="2400"/>
                        <a:t>No</a:t>
                      </a:r>
                      <a:endParaRPr/>
                    </a:p>
                  </a:txBody>
                  <a:tcPr marT="45725" marB="45725" marR="91450" marL="91450"/>
                </a:tc>
              </a:tr>
            </a:tbl>
          </a:graphicData>
        </a:graphic>
      </p:graphicFrame>
    </p:spTree>
  </p:cSld>
  <p:clrMapOvr>
    <a:masterClrMapping/>
  </p:clrMapOvr>
  <p:transition spd="slow">
    <p:push/>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grpSp>
        <p:nvGrpSpPr>
          <p:cNvPr id="780" name="Google Shape;780;p44"/>
          <p:cNvGrpSpPr/>
          <p:nvPr/>
        </p:nvGrpSpPr>
        <p:grpSpPr>
          <a:xfrm>
            <a:off x="17016492" y="-180826"/>
            <a:ext cx="1271508" cy="10467826"/>
            <a:chOff x="0" y="-47625"/>
            <a:chExt cx="334883" cy="2756958"/>
          </a:xfrm>
        </p:grpSpPr>
        <p:sp>
          <p:nvSpPr>
            <p:cNvPr id="781" name="Google Shape;781;p44"/>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2" name="Google Shape;782;p44"/>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83" name="Google Shape;783;p44"/>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4" name="Google Shape;784;p44"/>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785" name="Google Shape;785;p44"/>
          <p:cNvSpPr txBox="1"/>
          <p:nvPr/>
        </p:nvSpPr>
        <p:spPr>
          <a:xfrm>
            <a:off x="4152286" y="876300"/>
            <a:ext cx="9983428" cy="1715021"/>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Cara Kerja Decision Tree?</a:t>
            </a:r>
            <a:endParaRPr/>
          </a:p>
        </p:txBody>
      </p:sp>
      <p:sp>
        <p:nvSpPr>
          <p:cNvPr id="786" name="Google Shape;786;p44"/>
          <p:cNvSpPr/>
          <p:nvPr/>
        </p:nvSpPr>
        <p:spPr>
          <a:xfrm>
            <a:off x="1326543" y="3162300"/>
            <a:ext cx="13075258" cy="583647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US" sz="2800">
                <a:solidFill>
                  <a:srgbClr val="FF0000"/>
                </a:solidFill>
                <a:latin typeface="Montserrat"/>
                <a:ea typeface="Montserrat"/>
                <a:cs typeface="Montserrat"/>
                <a:sym typeface="Montserrat"/>
              </a:rPr>
              <a:t>Step 1: Hitung Entropy Total</a:t>
            </a:r>
            <a:endParaRPr/>
          </a:p>
          <a:p>
            <a:pPr indent="0" lvl="0" marL="0" marR="0" rtl="0" algn="just">
              <a:lnSpc>
                <a:spcPct val="150000"/>
              </a:lnSpc>
              <a:spcBef>
                <a:spcPts val="0"/>
              </a:spcBef>
              <a:spcAft>
                <a:spcPts val="0"/>
              </a:spcAft>
              <a:buNone/>
            </a:pPr>
            <a:r>
              <a:t/>
            </a:r>
            <a:endParaRPr b="1" sz="2800">
              <a:solidFill>
                <a:schemeClr val="dk1"/>
              </a:solidFill>
              <a:latin typeface="Montserrat"/>
              <a:ea typeface="Montserrat"/>
              <a:cs typeface="Montserrat"/>
              <a:sym typeface="Montserrat"/>
            </a:endParaRPr>
          </a:p>
          <a:p>
            <a:pPr indent="0" lvl="0" marL="0" marR="0" rtl="0" algn="just">
              <a:lnSpc>
                <a:spcPct val="150000"/>
              </a:lnSpc>
              <a:spcBef>
                <a:spcPts val="0"/>
              </a:spcBef>
              <a:spcAft>
                <a:spcPts val="0"/>
              </a:spcAft>
              <a:buNone/>
            </a:pPr>
            <a:r>
              <a:rPr b="1" lang="en-US" sz="2800">
                <a:solidFill>
                  <a:schemeClr val="dk1"/>
                </a:solidFill>
                <a:latin typeface="Montserrat"/>
                <a:ea typeface="Montserrat"/>
                <a:cs typeface="Montserrat"/>
                <a:sym typeface="Montserrat"/>
              </a:rPr>
              <a:t>Pada Dataset, kolom target (Play) ada 2 kemungkinan:</a:t>
            </a:r>
            <a:endParaRPr/>
          </a:p>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Yes : 9</a:t>
            </a:r>
            <a:endParaRPr/>
          </a:p>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No : 5</a:t>
            </a:r>
            <a:endParaRPr/>
          </a:p>
          <a:p>
            <a:pPr indent="0" lvl="0" marL="0" marR="0" rtl="0" algn="just">
              <a:lnSpc>
                <a:spcPct val="150000"/>
              </a:lnSpc>
              <a:spcBef>
                <a:spcPts val="0"/>
              </a:spcBef>
              <a:spcAft>
                <a:spcPts val="0"/>
              </a:spcAft>
              <a:buNone/>
            </a:pPr>
            <a:r>
              <a:rPr lang="en-US" sz="2800">
                <a:solidFill>
                  <a:schemeClr val="dk1"/>
                </a:solidFill>
                <a:latin typeface="Montserrat"/>
                <a:ea typeface="Montserrat"/>
                <a:cs typeface="Montserrat"/>
                <a:sym typeface="Montserrat"/>
              </a:rPr>
              <a:t>Total : 14</a:t>
            </a:r>
            <a:endParaRPr/>
          </a:p>
          <a:p>
            <a:pPr indent="0" lvl="0" marL="0" marR="0" rtl="0" algn="just">
              <a:lnSpc>
                <a:spcPct val="150000"/>
              </a:lnSpc>
              <a:spcBef>
                <a:spcPts val="0"/>
              </a:spcBef>
              <a:spcAft>
                <a:spcPts val="0"/>
              </a:spcAft>
              <a:buNone/>
            </a:pPr>
            <a:r>
              <a:t/>
            </a:r>
            <a:endParaRPr sz="2800">
              <a:solidFill>
                <a:schemeClr val="dk1"/>
              </a:solidFill>
              <a:latin typeface="Montserrat"/>
              <a:ea typeface="Montserrat"/>
              <a:cs typeface="Montserrat"/>
              <a:sym typeface="Montserrat"/>
            </a:endParaRPr>
          </a:p>
          <a:p>
            <a:pPr indent="0" lvl="0" marL="0" marR="0" rtl="0" algn="just">
              <a:lnSpc>
                <a:spcPct val="150000"/>
              </a:lnSpc>
              <a:spcBef>
                <a:spcPts val="0"/>
              </a:spcBef>
              <a:spcAft>
                <a:spcPts val="0"/>
              </a:spcAft>
              <a:buNone/>
            </a:pPr>
            <a:r>
              <a:t/>
            </a:r>
            <a:endParaRPr b="1" sz="2800">
              <a:solidFill>
                <a:schemeClr val="dk1"/>
              </a:solidFill>
              <a:latin typeface="Montserrat"/>
              <a:ea typeface="Montserrat"/>
              <a:cs typeface="Montserrat"/>
              <a:sym typeface="Montserrat"/>
            </a:endParaRPr>
          </a:p>
          <a:p>
            <a:pPr indent="0" lvl="0" marL="0" marR="0" rtl="0" algn="just">
              <a:lnSpc>
                <a:spcPct val="150000"/>
              </a:lnSpc>
              <a:spcBef>
                <a:spcPts val="0"/>
              </a:spcBef>
              <a:spcAft>
                <a:spcPts val="0"/>
              </a:spcAft>
              <a:buNone/>
            </a:pPr>
            <a:r>
              <a:t/>
            </a:r>
            <a:endParaRPr sz="2800">
              <a:solidFill>
                <a:schemeClr val="dk1"/>
              </a:solidFill>
              <a:latin typeface="Montserrat"/>
              <a:ea typeface="Montserrat"/>
              <a:cs typeface="Montserrat"/>
              <a:sym typeface="Montserrat"/>
            </a:endParaRPr>
          </a:p>
        </p:txBody>
      </p:sp>
      <p:pic>
        <p:nvPicPr>
          <p:cNvPr id="787" name="Google Shape;787;p44"/>
          <p:cNvPicPr preferRelativeResize="0"/>
          <p:nvPr/>
        </p:nvPicPr>
        <p:blipFill rotWithShape="1">
          <a:blip r:embed="rId4">
            <a:alphaModFix/>
          </a:blip>
          <a:srcRect b="0" l="0" r="0" t="0"/>
          <a:stretch/>
        </p:blipFill>
        <p:spPr>
          <a:xfrm>
            <a:off x="1277216" y="3661854"/>
            <a:ext cx="5802458" cy="795049"/>
          </a:xfrm>
          <a:prstGeom prst="rect">
            <a:avLst/>
          </a:prstGeom>
          <a:noFill/>
          <a:ln>
            <a:noFill/>
          </a:ln>
        </p:spPr>
      </p:pic>
      <p:pic>
        <p:nvPicPr>
          <p:cNvPr id="788" name="Google Shape;788;p44"/>
          <p:cNvPicPr preferRelativeResize="0"/>
          <p:nvPr/>
        </p:nvPicPr>
        <p:blipFill rotWithShape="1">
          <a:blip r:embed="rId5">
            <a:alphaModFix/>
          </a:blip>
          <a:srcRect b="0" l="0" r="0" t="0"/>
          <a:stretch/>
        </p:blipFill>
        <p:spPr>
          <a:xfrm>
            <a:off x="4385125" y="5661559"/>
            <a:ext cx="6934200" cy="2329802"/>
          </a:xfrm>
          <a:prstGeom prst="rect">
            <a:avLst/>
          </a:prstGeom>
          <a:noFill/>
          <a:ln>
            <a:noFill/>
          </a:ln>
        </p:spPr>
      </p:pic>
      <p:sp>
        <p:nvSpPr>
          <p:cNvPr id="789" name="Google Shape;789;p44"/>
          <p:cNvSpPr txBox="1"/>
          <p:nvPr/>
        </p:nvSpPr>
        <p:spPr>
          <a:xfrm>
            <a:off x="7318825" y="5060078"/>
            <a:ext cx="1066800" cy="554511"/>
          </a:xfrm>
          <a:prstGeom prst="rect">
            <a:avLst/>
          </a:prstGeom>
          <a:noFill/>
          <a:ln>
            <a:noFill/>
          </a:ln>
        </p:spPr>
        <p:txBody>
          <a:bodyPr anchorCtr="0" anchor="t" bIns="0" lIns="0" spcFirstLastPara="1" rIns="0" wrap="square" tIns="0">
            <a:spAutoFit/>
          </a:bodyPr>
          <a:lstStyle/>
          <a:p>
            <a:pPr indent="0" lvl="1" marL="474981" marR="0" rtl="0" algn="l">
              <a:lnSpc>
                <a:spcPct val="293333"/>
              </a:lnSpc>
              <a:spcBef>
                <a:spcPts val="0"/>
              </a:spcBef>
              <a:spcAft>
                <a:spcPts val="0"/>
              </a:spcAft>
              <a:buNone/>
            </a:pPr>
            <a:r>
              <a:rPr b="1" i="0" lang="en-US" sz="1800" u="none" cap="none" strike="noStrike">
                <a:solidFill>
                  <a:srgbClr val="08377C"/>
                </a:solidFill>
                <a:latin typeface="Montserrat"/>
                <a:ea typeface="Montserrat"/>
                <a:cs typeface="Montserrat"/>
                <a:sym typeface="Montserrat"/>
              </a:rPr>
              <a:t>Yes</a:t>
            </a:r>
            <a:endParaRPr/>
          </a:p>
        </p:txBody>
      </p:sp>
      <p:sp>
        <p:nvSpPr>
          <p:cNvPr id="790" name="Google Shape;790;p44"/>
          <p:cNvSpPr txBox="1"/>
          <p:nvPr/>
        </p:nvSpPr>
        <p:spPr>
          <a:xfrm>
            <a:off x="9033325" y="5049384"/>
            <a:ext cx="1066800" cy="554511"/>
          </a:xfrm>
          <a:prstGeom prst="rect">
            <a:avLst/>
          </a:prstGeom>
          <a:noFill/>
          <a:ln>
            <a:noFill/>
          </a:ln>
        </p:spPr>
        <p:txBody>
          <a:bodyPr anchorCtr="0" anchor="t" bIns="0" lIns="0" spcFirstLastPara="1" rIns="0" wrap="square" tIns="0">
            <a:spAutoFit/>
          </a:bodyPr>
          <a:lstStyle/>
          <a:p>
            <a:pPr indent="0" lvl="1" marL="474981" marR="0" rtl="0" algn="l">
              <a:lnSpc>
                <a:spcPct val="293333"/>
              </a:lnSpc>
              <a:spcBef>
                <a:spcPts val="0"/>
              </a:spcBef>
              <a:spcAft>
                <a:spcPts val="0"/>
              </a:spcAft>
              <a:buNone/>
            </a:pPr>
            <a:r>
              <a:rPr b="1" i="0" lang="en-US" sz="1800" u="none" cap="none" strike="noStrike">
                <a:solidFill>
                  <a:srgbClr val="08377C"/>
                </a:solidFill>
                <a:latin typeface="Montserrat"/>
                <a:ea typeface="Montserrat"/>
                <a:cs typeface="Montserrat"/>
                <a:sym typeface="Montserrat"/>
              </a:rPr>
              <a:t>No</a:t>
            </a:r>
            <a:endParaRPr/>
          </a:p>
        </p:txBody>
      </p:sp>
    </p:spTree>
  </p:cSld>
  <p:clrMapOvr>
    <a:masterClrMapping/>
  </p:clrMapOvr>
  <p:transition spd="slow">
    <p:push/>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grpSp>
        <p:nvGrpSpPr>
          <p:cNvPr id="796" name="Google Shape;796;p45"/>
          <p:cNvGrpSpPr/>
          <p:nvPr/>
        </p:nvGrpSpPr>
        <p:grpSpPr>
          <a:xfrm>
            <a:off x="17016492" y="-180826"/>
            <a:ext cx="1271508" cy="10467826"/>
            <a:chOff x="0" y="-47625"/>
            <a:chExt cx="334883" cy="2756958"/>
          </a:xfrm>
        </p:grpSpPr>
        <p:sp>
          <p:nvSpPr>
            <p:cNvPr id="797" name="Google Shape;797;p45"/>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8" name="Google Shape;798;p45"/>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99" name="Google Shape;799;p45"/>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0" name="Google Shape;800;p45"/>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801" name="Google Shape;801;p45"/>
          <p:cNvSpPr txBox="1"/>
          <p:nvPr/>
        </p:nvSpPr>
        <p:spPr>
          <a:xfrm>
            <a:off x="234562" y="280854"/>
            <a:ext cx="13163036" cy="817340"/>
          </a:xfrm>
          <a:prstGeom prst="rect">
            <a:avLst/>
          </a:prstGeom>
          <a:noFill/>
          <a:ln>
            <a:noFill/>
          </a:ln>
        </p:spPr>
        <p:txBody>
          <a:bodyPr anchorCtr="0" anchor="t" bIns="0" lIns="0" spcFirstLastPara="1" rIns="0" wrap="square" tIns="0">
            <a:spAutoFit/>
          </a:bodyPr>
          <a:lstStyle/>
          <a:p>
            <a:pPr indent="0" lvl="0" marL="0" marR="0" rtl="0" algn="ctr">
              <a:lnSpc>
                <a:spcPct val="128722"/>
              </a:lnSpc>
              <a:spcBef>
                <a:spcPts val="0"/>
              </a:spcBef>
              <a:spcAft>
                <a:spcPts val="0"/>
              </a:spcAft>
              <a:buNone/>
            </a:pPr>
            <a:r>
              <a:rPr b="1" lang="en-US" sz="5400">
                <a:solidFill>
                  <a:srgbClr val="08377C"/>
                </a:solidFill>
                <a:latin typeface="Montserrat"/>
                <a:ea typeface="Montserrat"/>
                <a:cs typeface="Montserrat"/>
                <a:sym typeface="Montserrat"/>
              </a:rPr>
              <a:t>Cara Kerja Decision Tree?</a:t>
            </a:r>
            <a:endParaRPr/>
          </a:p>
        </p:txBody>
      </p:sp>
      <p:sp>
        <p:nvSpPr>
          <p:cNvPr id="802" name="Google Shape;802;p45"/>
          <p:cNvSpPr/>
          <p:nvPr/>
        </p:nvSpPr>
        <p:spPr>
          <a:xfrm>
            <a:off x="762000" y="1409700"/>
            <a:ext cx="13075258" cy="777546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US" sz="2800">
                <a:solidFill>
                  <a:srgbClr val="FF0000"/>
                </a:solidFill>
                <a:latin typeface="Montserrat"/>
                <a:ea typeface="Montserrat"/>
                <a:cs typeface="Montserrat"/>
                <a:sym typeface="Montserrat"/>
              </a:rPr>
              <a:t>Step 2: Hitung Information Gain Untuk Fitur Outlook</a:t>
            </a:r>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Sunny = 5 data (Yes=2, No=3)</a:t>
            </a:r>
            <a:endParaRPr/>
          </a:p>
          <a:p>
            <a:pPr indent="-279400" lvl="0" marL="457200" marR="0" rtl="0" algn="just">
              <a:lnSpc>
                <a:spcPct val="150000"/>
              </a:lnSpc>
              <a:spcBef>
                <a:spcPts val="0"/>
              </a:spcBef>
              <a:spcAft>
                <a:spcPts val="0"/>
              </a:spcAft>
              <a:buClr>
                <a:schemeClr val="dk1"/>
              </a:buClr>
              <a:buSzPts val="2800"/>
              <a:buFont typeface="Arial"/>
              <a:buNone/>
            </a:pPr>
            <a:r>
              <a:t/>
            </a:r>
            <a:endParaRPr b="1" sz="2800">
              <a:solidFill>
                <a:schemeClr val="dk1"/>
              </a:solidFill>
              <a:latin typeface="Montserrat"/>
              <a:ea typeface="Montserrat"/>
              <a:cs typeface="Montserrat"/>
              <a:sym typeface="Montserrat"/>
            </a:endParaRPr>
          </a:p>
          <a:p>
            <a:pPr indent="-279400" lvl="0" marL="457200" marR="0" rtl="0" algn="just">
              <a:lnSpc>
                <a:spcPct val="150000"/>
              </a:lnSpc>
              <a:spcBef>
                <a:spcPts val="0"/>
              </a:spcBef>
              <a:spcAft>
                <a:spcPts val="0"/>
              </a:spcAft>
              <a:buClr>
                <a:schemeClr val="dk1"/>
              </a:buClr>
              <a:buSzPts val="2800"/>
              <a:buFont typeface="Arial"/>
              <a:buNone/>
            </a:pPr>
            <a:r>
              <a:t/>
            </a:r>
            <a:endParaRPr b="1" sz="2800">
              <a:solidFill>
                <a:schemeClr val="dk1"/>
              </a:solidFill>
              <a:latin typeface="Montserrat"/>
              <a:ea typeface="Montserrat"/>
              <a:cs typeface="Montserrat"/>
              <a:sym typeface="Montserrat"/>
            </a:endParaRPr>
          </a:p>
          <a:p>
            <a:pPr indent="-279400" lvl="0" marL="457200" marR="0" rtl="0" algn="just">
              <a:lnSpc>
                <a:spcPct val="150000"/>
              </a:lnSpc>
              <a:spcBef>
                <a:spcPts val="0"/>
              </a:spcBef>
              <a:spcAft>
                <a:spcPts val="0"/>
              </a:spcAft>
              <a:buClr>
                <a:schemeClr val="dk1"/>
              </a:buClr>
              <a:buSzPts val="2800"/>
              <a:buFont typeface="Arial"/>
              <a:buNone/>
            </a:pPr>
            <a:r>
              <a:t/>
            </a:r>
            <a:endParaRPr b="1" sz="2800">
              <a:solidFill>
                <a:schemeClr val="dk1"/>
              </a:solidFill>
              <a:latin typeface="Montserrat"/>
              <a:ea typeface="Montserrat"/>
              <a:cs typeface="Montserrat"/>
              <a:sym typeface="Montserrat"/>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Cloudy = 4 data (Yes=4, No=0)</a:t>
            </a:r>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Rainy = 5 data (Yes=4, No=1)</a:t>
            </a:r>
            <a:endParaRPr/>
          </a:p>
          <a:p>
            <a:pPr indent="0" lvl="0" marL="0" marR="0" rtl="0" algn="just">
              <a:lnSpc>
                <a:spcPct val="150000"/>
              </a:lnSpc>
              <a:spcBef>
                <a:spcPts val="0"/>
              </a:spcBef>
              <a:spcAft>
                <a:spcPts val="0"/>
              </a:spcAft>
              <a:buNone/>
            </a:pPr>
            <a:r>
              <a:t/>
            </a:r>
            <a:endParaRPr sz="2800">
              <a:solidFill>
                <a:schemeClr val="dk1"/>
              </a:solidFill>
              <a:latin typeface="Montserrat"/>
              <a:ea typeface="Montserrat"/>
              <a:cs typeface="Montserrat"/>
              <a:sym typeface="Montserrat"/>
            </a:endParaRPr>
          </a:p>
          <a:p>
            <a:pPr indent="0" lvl="0" marL="0" marR="0" rtl="0" algn="just">
              <a:lnSpc>
                <a:spcPct val="150000"/>
              </a:lnSpc>
              <a:spcBef>
                <a:spcPts val="0"/>
              </a:spcBef>
              <a:spcAft>
                <a:spcPts val="0"/>
              </a:spcAft>
              <a:buNone/>
            </a:pPr>
            <a:r>
              <a:t/>
            </a:r>
            <a:endParaRPr b="1" sz="2800">
              <a:solidFill>
                <a:schemeClr val="dk1"/>
              </a:solidFill>
              <a:latin typeface="Montserrat"/>
              <a:ea typeface="Montserrat"/>
              <a:cs typeface="Montserrat"/>
              <a:sym typeface="Montserrat"/>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Hitung Entropy Gabungan</a:t>
            </a:r>
            <a:endParaRPr b="1" sz="2800">
              <a:solidFill>
                <a:schemeClr val="dk1"/>
              </a:solidFill>
              <a:latin typeface="Montserrat"/>
              <a:ea typeface="Montserrat"/>
              <a:cs typeface="Montserrat"/>
              <a:sym typeface="Montserrat"/>
            </a:endParaRPr>
          </a:p>
          <a:p>
            <a:pPr indent="-279400" lvl="0" marL="457200" marR="0" rtl="0" algn="just">
              <a:lnSpc>
                <a:spcPct val="150000"/>
              </a:lnSpc>
              <a:spcBef>
                <a:spcPts val="0"/>
              </a:spcBef>
              <a:spcAft>
                <a:spcPts val="0"/>
              </a:spcAft>
              <a:buClr>
                <a:schemeClr val="dk1"/>
              </a:buClr>
              <a:buSzPts val="2800"/>
              <a:buFont typeface="Arial"/>
              <a:buNone/>
            </a:pPr>
            <a:r>
              <a:t/>
            </a:r>
            <a:endParaRPr b="1" sz="2800">
              <a:solidFill>
                <a:schemeClr val="dk1"/>
              </a:solidFill>
              <a:latin typeface="Montserrat"/>
              <a:ea typeface="Montserrat"/>
              <a:cs typeface="Montserrat"/>
              <a:sym typeface="Montserrat"/>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Hitung Information Gain</a:t>
            </a:r>
            <a:endParaRPr/>
          </a:p>
        </p:txBody>
      </p:sp>
      <p:sp>
        <p:nvSpPr>
          <p:cNvPr id="803" name="Google Shape;803;p45"/>
          <p:cNvSpPr txBox="1"/>
          <p:nvPr/>
        </p:nvSpPr>
        <p:spPr>
          <a:xfrm>
            <a:off x="3778857" y="3342244"/>
            <a:ext cx="1066800" cy="554511"/>
          </a:xfrm>
          <a:prstGeom prst="rect">
            <a:avLst/>
          </a:prstGeom>
          <a:noFill/>
          <a:ln>
            <a:noFill/>
          </a:ln>
        </p:spPr>
        <p:txBody>
          <a:bodyPr anchorCtr="0" anchor="t" bIns="0" lIns="0" spcFirstLastPara="1" rIns="0" wrap="square" tIns="0">
            <a:spAutoFit/>
          </a:bodyPr>
          <a:lstStyle/>
          <a:p>
            <a:pPr indent="0" lvl="1" marL="474981" marR="0" rtl="0" algn="l">
              <a:lnSpc>
                <a:spcPct val="293333"/>
              </a:lnSpc>
              <a:spcBef>
                <a:spcPts val="0"/>
              </a:spcBef>
              <a:spcAft>
                <a:spcPts val="0"/>
              </a:spcAft>
              <a:buNone/>
            </a:pPr>
            <a:r>
              <a:rPr b="1" i="0" lang="en-US" sz="1800" u="none" cap="none" strike="noStrike">
                <a:solidFill>
                  <a:srgbClr val="08377C"/>
                </a:solidFill>
                <a:latin typeface="Montserrat"/>
                <a:ea typeface="Montserrat"/>
                <a:cs typeface="Montserrat"/>
                <a:sym typeface="Montserrat"/>
              </a:rPr>
              <a:t>Yes</a:t>
            </a:r>
            <a:endParaRPr/>
          </a:p>
        </p:txBody>
      </p:sp>
      <p:sp>
        <p:nvSpPr>
          <p:cNvPr id="804" name="Google Shape;804;p45"/>
          <p:cNvSpPr txBox="1"/>
          <p:nvPr/>
        </p:nvSpPr>
        <p:spPr>
          <a:xfrm>
            <a:off x="5247490" y="3350337"/>
            <a:ext cx="1066800" cy="554511"/>
          </a:xfrm>
          <a:prstGeom prst="rect">
            <a:avLst/>
          </a:prstGeom>
          <a:noFill/>
          <a:ln>
            <a:noFill/>
          </a:ln>
        </p:spPr>
        <p:txBody>
          <a:bodyPr anchorCtr="0" anchor="t" bIns="0" lIns="0" spcFirstLastPara="1" rIns="0" wrap="square" tIns="0">
            <a:spAutoFit/>
          </a:bodyPr>
          <a:lstStyle/>
          <a:p>
            <a:pPr indent="0" lvl="1" marL="474981" marR="0" rtl="0" algn="l">
              <a:lnSpc>
                <a:spcPct val="293333"/>
              </a:lnSpc>
              <a:spcBef>
                <a:spcPts val="0"/>
              </a:spcBef>
              <a:spcAft>
                <a:spcPts val="0"/>
              </a:spcAft>
              <a:buNone/>
            </a:pPr>
            <a:r>
              <a:rPr b="1" i="0" lang="en-US" sz="1800" u="none" cap="none" strike="noStrike">
                <a:solidFill>
                  <a:srgbClr val="08377C"/>
                </a:solidFill>
                <a:latin typeface="Montserrat"/>
                <a:ea typeface="Montserrat"/>
                <a:cs typeface="Montserrat"/>
                <a:sym typeface="Montserrat"/>
              </a:rPr>
              <a:t>No</a:t>
            </a:r>
            <a:endParaRPr/>
          </a:p>
        </p:txBody>
      </p:sp>
      <p:pic>
        <p:nvPicPr>
          <p:cNvPr id="805" name="Google Shape;805;p45"/>
          <p:cNvPicPr preferRelativeResize="0"/>
          <p:nvPr/>
        </p:nvPicPr>
        <p:blipFill rotWithShape="1">
          <a:blip r:embed="rId4">
            <a:alphaModFix/>
          </a:blip>
          <a:srcRect b="0" l="0" r="0" t="0"/>
          <a:stretch/>
        </p:blipFill>
        <p:spPr>
          <a:xfrm>
            <a:off x="1530800" y="2880316"/>
            <a:ext cx="5185323" cy="739184"/>
          </a:xfrm>
          <a:prstGeom prst="rect">
            <a:avLst/>
          </a:prstGeom>
          <a:noFill/>
          <a:ln>
            <a:noFill/>
          </a:ln>
        </p:spPr>
      </p:pic>
      <p:pic>
        <p:nvPicPr>
          <p:cNvPr id="806" name="Google Shape;806;p45"/>
          <p:cNvPicPr preferRelativeResize="0"/>
          <p:nvPr/>
        </p:nvPicPr>
        <p:blipFill rotWithShape="1">
          <a:blip r:embed="rId5">
            <a:alphaModFix/>
          </a:blip>
          <a:srcRect b="0" l="0" r="0" t="0"/>
          <a:stretch/>
        </p:blipFill>
        <p:spPr>
          <a:xfrm>
            <a:off x="3352800" y="3969883"/>
            <a:ext cx="8247793" cy="621964"/>
          </a:xfrm>
          <a:prstGeom prst="rect">
            <a:avLst/>
          </a:prstGeom>
          <a:noFill/>
          <a:ln>
            <a:noFill/>
          </a:ln>
        </p:spPr>
      </p:pic>
      <p:pic>
        <p:nvPicPr>
          <p:cNvPr id="807" name="Google Shape;807;p45"/>
          <p:cNvPicPr preferRelativeResize="0"/>
          <p:nvPr/>
        </p:nvPicPr>
        <p:blipFill rotWithShape="1">
          <a:blip r:embed="rId6">
            <a:alphaModFix/>
          </a:blip>
          <a:srcRect b="0" l="0" r="0" t="0"/>
          <a:stretch/>
        </p:blipFill>
        <p:spPr>
          <a:xfrm>
            <a:off x="1178121" y="5971851"/>
            <a:ext cx="5538002" cy="739183"/>
          </a:xfrm>
          <a:prstGeom prst="rect">
            <a:avLst/>
          </a:prstGeom>
          <a:noFill/>
          <a:ln>
            <a:noFill/>
          </a:ln>
        </p:spPr>
      </p:pic>
      <p:pic>
        <p:nvPicPr>
          <p:cNvPr id="808" name="Google Shape;808;p45"/>
          <p:cNvPicPr preferRelativeResize="0"/>
          <p:nvPr/>
        </p:nvPicPr>
        <p:blipFill rotWithShape="1">
          <a:blip r:embed="rId7">
            <a:alphaModFix/>
          </a:blip>
          <a:srcRect b="0" l="0" r="0" t="0"/>
          <a:stretch/>
        </p:blipFill>
        <p:spPr>
          <a:xfrm>
            <a:off x="2966751" y="6666942"/>
            <a:ext cx="7498743" cy="711196"/>
          </a:xfrm>
          <a:prstGeom prst="rect">
            <a:avLst/>
          </a:prstGeom>
          <a:noFill/>
          <a:ln>
            <a:noFill/>
          </a:ln>
        </p:spPr>
      </p:pic>
      <p:pic>
        <p:nvPicPr>
          <p:cNvPr id="809" name="Google Shape;809;p45"/>
          <p:cNvPicPr preferRelativeResize="0"/>
          <p:nvPr/>
        </p:nvPicPr>
        <p:blipFill rotWithShape="1">
          <a:blip r:embed="rId8">
            <a:alphaModFix/>
          </a:blip>
          <a:srcRect b="0" l="0" r="0" t="0"/>
          <a:stretch/>
        </p:blipFill>
        <p:spPr>
          <a:xfrm>
            <a:off x="6615324" y="7211800"/>
            <a:ext cx="5638800" cy="1357488"/>
          </a:xfrm>
          <a:prstGeom prst="rect">
            <a:avLst/>
          </a:prstGeom>
          <a:noFill/>
          <a:ln>
            <a:noFill/>
          </a:ln>
        </p:spPr>
      </p:pic>
      <p:pic>
        <p:nvPicPr>
          <p:cNvPr id="810" name="Google Shape;810;p45"/>
          <p:cNvPicPr preferRelativeResize="0"/>
          <p:nvPr/>
        </p:nvPicPr>
        <p:blipFill rotWithShape="1">
          <a:blip r:embed="rId9">
            <a:alphaModFix/>
          </a:blip>
          <a:srcRect b="0" l="0" r="0" t="0"/>
          <a:stretch/>
        </p:blipFill>
        <p:spPr>
          <a:xfrm>
            <a:off x="3505200" y="9153998"/>
            <a:ext cx="10111616" cy="806778"/>
          </a:xfrm>
          <a:prstGeom prst="rect">
            <a:avLst/>
          </a:prstGeom>
          <a:noFill/>
          <a:ln>
            <a:noFill/>
          </a:ln>
        </p:spPr>
      </p:pic>
    </p:spTree>
  </p:cSld>
  <p:clrMapOvr>
    <a:masterClrMapping/>
  </p:clrMapOvr>
  <p:transition spd="slow">
    <p:push/>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grpSp>
        <p:nvGrpSpPr>
          <p:cNvPr id="816" name="Google Shape;816;p46"/>
          <p:cNvGrpSpPr/>
          <p:nvPr/>
        </p:nvGrpSpPr>
        <p:grpSpPr>
          <a:xfrm>
            <a:off x="17016492" y="-180826"/>
            <a:ext cx="1271508" cy="10467826"/>
            <a:chOff x="0" y="-47625"/>
            <a:chExt cx="334883" cy="2756958"/>
          </a:xfrm>
        </p:grpSpPr>
        <p:sp>
          <p:nvSpPr>
            <p:cNvPr id="817" name="Google Shape;817;p46"/>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8" name="Google Shape;818;p46"/>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19" name="Google Shape;819;p46"/>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0" name="Google Shape;820;p46"/>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821" name="Google Shape;821;p46"/>
          <p:cNvSpPr txBox="1"/>
          <p:nvPr/>
        </p:nvSpPr>
        <p:spPr>
          <a:xfrm>
            <a:off x="234562" y="280854"/>
            <a:ext cx="13163036" cy="817340"/>
          </a:xfrm>
          <a:prstGeom prst="rect">
            <a:avLst/>
          </a:prstGeom>
          <a:noFill/>
          <a:ln>
            <a:noFill/>
          </a:ln>
        </p:spPr>
        <p:txBody>
          <a:bodyPr anchorCtr="0" anchor="t" bIns="0" lIns="0" spcFirstLastPara="1" rIns="0" wrap="square" tIns="0">
            <a:spAutoFit/>
          </a:bodyPr>
          <a:lstStyle/>
          <a:p>
            <a:pPr indent="0" lvl="0" marL="0" marR="0" rtl="0" algn="ctr">
              <a:lnSpc>
                <a:spcPct val="128722"/>
              </a:lnSpc>
              <a:spcBef>
                <a:spcPts val="0"/>
              </a:spcBef>
              <a:spcAft>
                <a:spcPts val="0"/>
              </a:spcAft>
              <a:buNone/>
            </a:pPr>
            <a:r>
              <a:rPr b="1" lang="en-US" sz="5400">
                <a:solidFill>
                  <a:srgbClr val="08377C"/>
                </a:solidFill>
                <a:latin typeface="Montserrat"/>
                <a:ea typeface="Montserrat"/>
                <a:cs typeface="Montserrat"/>
                <a:sym typeface="Montserrat"/>
              </a:rPr>
              <a:t>Cara Kerja Decision Tree?</a:t>
            </a:r>
            <a:endParaRPr/>
          </a:p>
        </p:txBody>
      </p:sp>
      <p:sp>
        <p:nvSpPr>
          <p:cNvPr id="822" name="Google Shape;822;p46"/>
          <p:cNvSpPr/>
          <p:nvPr/>
        </p:nvSpPr>
        <p:spPr>
          <a:xfrm>
            <a:off x="762000" y="1409700"/>
            <a:ext cx="13075258" cy="8421793"/>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US" sz="2800">
                <a:solidFill>
                  <a:srgbClr val="FF0000"/>
                </a:solidFill>
                <a:latin typeface="Montserrat"/>
                <a:ea typeface="Montserrat"/>
                <a:cs typeface="Montserrat"/>
                <a:sym typeface="Montserrat"/>
              </a:rPr>
              <a:t>Step 3: Hitung Information Gain Untuk Fitur Temperature</a:t>
            </a:r>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Hot = 4 data (Yes=2, No=2)</a:t>
            </a:r>
            <a:endParaRPr/>
          </a:p>
          <a:p>
            <a:pPr indent="0" lvl="0" marL="0" marR="0" rtl="0" algn="just">
              <a:lnSpc>
                <a:spcPct val="150000"/>
              </a:lnSpc>
              <a:spcBef>
                <a:spcPts val="0"/>
              </a:spcBef>
              <a:spcAft>
                <a:spcPts val="0"/>
              </a:spcAft>
              <a:buNone/>
            </a:pPr>
            <a:r>
              <a:rPr b="1" lang="en-US" sz="2800">
                <a:solidFill>
                  <a:schemeClr val="dk1"/>
                </a:solidFill>
                <a:latin typeface="Montserrat"/>
                <a:ea typeface="Montserrat"/>
                <a:cs typeface="Montserrat"/>
                <a:sym typeface="Montserrat"/>
              </a:rPr>
              <a:t>	Entropy = 1</a:t>
            </a:r>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Mild = 6 data (Yes=5, No=1)</a:t>
            </a:r>
            <a:endParaRPr/>
          </a:p>
          <a:p>
            <a:pPr indent="0" lvl="0" marL="0" marR="0" rtl="0" algn="just">
              <a:lnSpc>
                <a:spcPct val="150000"/>
              </a:lnSpc>
              <a:spcBef>
                <a:spcPts val="0"/>
              </a:spcBef>
              <a:spcAft>
                <a:spcPts val="0"/>
              </a:spcAft>
              <a:buNone/>
            </a:pPr>
            <a:r>
              <a:rPr b="1" lang="en-US" sz="2800">
                <a:solidFill>
                  <a:schemeClr val="dk1"/>
                </a:solidFill>
                <a:latin typeface="Montserrat"/>
                <a:ea typeface="Montserrat"/>
                <a:cs typeface="Montserrat"/>
                <a:sym typeface="Montserrat"/>
              </a:rPr>
              <a:t>	Entropy = 0.650</a:t>
            </a:r>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Cool = 4 data (Yes=3, No=1)</a:t>
            </a:r>
            <a:endParaRPr/>
          </a:p>
          <a:p>
            <a:pPr indent="0" lvl="1" marL="457200" marR="0" rtl="0" algn="just">
              <a:lnSpc>
                <a:spcPct val="150000"/>
              </a:lnSpc>
              <a:spcBef>
                <a:spcPts val="0"/>
              </a:spcBef>
              <a:spcAft>
                <a:spcPts val="0"/>
              </a:spcAft>
              <a:buNone/>
            </a:pPr>
            <a:r>
              <a:rPr b="1" i="0" lang="en-US" sz="2800" u="none" cap="none" strike="noStrike">
                <a:solidFill>
                  <a:schemeClr val="dk1"/>
                </a:solidFill>
                <a:latin typeface="Montserrat"/>
                <a:ea typeface="Montserrat"/>
                <a:cs typeface="Montserrat"/>
                <a:sym typeface="Montserrat"/>
              </a:rPr>
              <a:t>	Entropy = 0.811</a:t>
            </a:r>
            <a:endParaRPr/>
          </a:p>
          <a:p>
            <a:pPr indent="0" lvl="0" marL="0" marR="0" rtl="0" algn="just">
              <a:lnSpc>
                <a:spcPct val="150000"/>
              </a:lnSpc>
              <a:spcBef>
                <a:spcPts val="0"/>
              </a:spcBef>
              <a:spcAft>
                <a:spcPts val="0"/>
              </a:spcAft>
              <a:buNone/>
            </a:pPr>
            <a:r>
              <a:t/>
            </a:r>
            <a:endParaRPr sz="2800">
              <a:solidFill>
                <a:schemeClr val="dk1"/>
              </a:solidFill>
              <a:latin typeface="Montserrat"/>
              <a:ea typeface="Montserrat"/>
              <a:cs typeface="Montserrat"/>
              <a:sym typeface="Montserrat"/>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Hitung Entropy Gabungan</a:t>
            </a:r>
            <a:endParaRPr b="1" sz="2800">
              <a:solidFill>
                <a:schemeClr val="dk1"/>
              </a:solidFill>
              <a:latin typeface="Montserrat"/>
              <a:ea typeface="Montserrat"/>
              <a:cs typeface="Montserrat"/>
              <a:sym typeface="Montserrat"/>
            </a:endParaRPr>
          </a:p>
          <a:p>
            <a:pPr indent="-279400" lvl="0" marL="457200" marR="0" rtl="0" algn="just">
              <a:lnSpc>
                <a:spcPct val="150000"/>
              </a:lnSpc>
              <a:spcBef>
                <a:spcPts val="0"/>
              </a:spcBef>
              <a:spcAft>
                <a:spcPts val="0"/>
              </a:spcAft>
              <a:buClr>
                <a:schemeClr val="dk1"/>
              </a:buClr>
              <a:buSzPts val="2800"/>
              <a:buFont typeface="Arial"/>
              <a:buNone/>
            </a:pPr>
            <a:r>
              <a:t/>
            </a:r>
            <a:endParaRPr b="1" sz="2800">
              <a:solidFill>
                <a:schemeClr val="dk1"/>
              </a:solidFill>
              <a:latin typeface="Montserrat"/>
              <a:ea typeface="Montserrat"/>
              <a:cs typeface="Montserrat"/>
              <a:sym typeface="Montserrat"/>
            </a:endParaRPr>
          </a:p>
          <a:p>
            <a:pPr indent="-279400" lvl="0" marL="457200" marR="0" rtl="0" algn="just">
              <a:lnSpc>
                <a:spcPct val="150000"/>
              </a:lnSpc>
              <a:spcBef>
                <a:spcPts val="0"/>
              </a:spcBef>
              <a:spcAft>
                <a:spcPts val="0"/>
              </a:spcAft>
              <a:buClr>
                <a:schemeClr val="dk1"/>
              </a:buClr>
              <a:buSzPts val="2800"/>
              <a:buFont typeface="Arial"/>
              <a:buNone/>
            </a:pPr>
            <a:r>
              <a:t/>
            </a:r>
            <a:endParaRPr b="1" sz="2800">
              <a:solidFill>
                <a:schemeClr val="dk1"/>
              </a:solidFill>
              <a:latin typeface="Montserrat"/>
              <a:ea typeface="Montserrat"/>
              <a:cs typeface="Montserrat"/>
              <a:sym typeface="Montserrat"/>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Hitung Information Gain</a:t>
            </a:r>
            <a:endParaRPr/>
          </a:p>
          <a:p>
            <a:pPr indent="0" lvl="0" marL="0" marR="0" rtl="0" algn="just">
              <a:lnSpc>
                <a:spcPct val="150000"/>
              </a:lnSpc>
              <a:spcBef>
                <a:spcPts val="0"/>
              </a:spcBef>
              <a:spcAft>
                <a:spcPts val="0"/>
              </a:spcAft>
              <a:buNone/>
            </a:pPr>
            <a:r>
              <a:t/>
            </a:r>
            <a:endParaRPr b="1" sz="2800">
              <a:solidFill>
                <a:schemeClr val="dk1"/>
              </a:solidFill>
              <a:latin typeface="Montserrat"/>
              <a:ea typeface="Montserrat"/>
              <a:cs typeface="Montserrat"/>
              <a:sym typeface="Montserrat"/>
            </a:endParaRPr>
          </a:p>
        </p:txBody>
      </p:sp>
      <p:pic>
        <p:nvPicPr>
          <p:cNvPr id="823" name="Google Shape;823;p46"/>
          <p:cNvPicPr preferRelativeResize="0"/>
          <p:nvPr/>
        </p:nvPicPr>
        <p:blipFill rotWithShape="1">
          <a:blip r:embed="rId4">
            <a:alphaModFix/>
          </a:blip>
          <a:srcRect b="0" l="0" r="0" t="0"/>
          <a:stretch/>
        </p:blipFill>
        <p:spPr>
          <a:xfrm>
            <a:off x="1311395" y="7429500"/>
            <a:ext cx="8384145" cy="914400"/>
          </a:xfrm>
          <a:prstGeom prst="rect">
            <a:avLst/>
          </a:prstGeom>
          <a:noFill/>
          <a:ln>
            <a:noFill/>
          </a:ln>
        </p:spPr>
      </p:pic>
      <p:pic>
        <p:nvPicPr>
          <p:cNvPr id="824" name="Google Shape;824;p46"/>
          <p:cNvPicPr preferRelativeResize="0"/>
          <p:nvPr/>
        </p:nvPicPr>
        <p:blipFill rotWithShape="1">
          <a:blip r:embed="rId5">
            <a:alphaModFix/>
          </a:blip>
          <a:srcRect b="0" l="0" r="0" t="0"/>
          <a:stretch/>
        </p:blipFill>
        <p:spPr>
          <a:xfrm>
            <a:off x="4450742" y="9064169"/>
            <a:ext cx="7772400" cy="935408"/>
          </a:xfrm>
          <a:prstGeom prst="rect">
            <a:avLst/>
          </a:prstGeom>
          <a:noFill/>
          <a:ln>
            <a:noFill/>
          </a:ln>
        </p:spPr>
      </p:pic>
    </p:spTree>
  </p:cSld>
  <p:clrMapOvr>
    <a:masterClrMapping/>
  </p:clrMapOvr>
  <p:transition spd="slow">
    <p:push/>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grpSp>
        <p:nvGrpSpPr>
          <p:cNvPr id="830" name="Google Shape;830;p47"/>
          <p:cNvGrpSpPr/>
          <p:nvPr/>
        </p:nvGrpSpPr>
        <p:grpSpPr>
          <a:xfrm>
            <a:off x="17016492" y="-180826"/>
            <a:ext cx="1271508" cy="10467826"/>
            <a:chOff x="0" y="-47625"/>
            <a:chExt cx="334883" cy="2756958"/>
          </a:xfrm>
        </p:grpSpPr>
        <p:sp>
          <p:nvSpPr>
            <p:cNvPr id="831" name="Google Shape;831;p47"/>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2" name="Google Shape;832;p47"/>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33" name="Google Shape;833;p47"/>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4" name="Google Shape;834;p47"/>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835" name="Google Shape;835;p47"/>
          <p:cNvSpPr txBox="1"/>
          <p:nvPr/>
        </p:nvSpPr>
        <p:spPr>
          <a:xfrm>
            <a:off x="234562" y="280854"/>
            <a:ext cx="13163036" cy="817340"/>
          </a:xfrm>
          <a:prstGeom prst="rect">
            <a:avLst/>
          </a:prstGeom>
          <a:noFill/>
          <a:ln>
            <a:noFill/>
          </a:ln>
        </p:spPr>
        <p:txBody>
          <a:bodyPr anchorCtr="0" anchor="t" bIns="0" lIns="0" spcFirstLastPara="1" rIns="0" wrap="square" tIns="0">
            <a:spAutoFit/>
          </a:bodyPr>
          <a:lstStyle/>
          <a:p>
            <a:pPr indent="0" lvl="0" marL="0" marR="0" rtl="0" algn="ctr">
              <a:lnSpc>
                <a:spcPct val="128722"/>
              </a:lnSpc>
              <a:spcBef>
                <a:spcPts val="0"/>
              </a:spcBef>
              <a:spcAft>
                <a:spcPts val="0"/>
              </a:spcAft>
              <a:buNone/>
            </a:pPr>
            <a:r>
              <a:rPr b="1" lang="en-US" sz="5400">
                <a:solidFill>
                  <a:srgbClr val="08377C"/>
                </a:solidFill>
                <a:latin typeface="Montserrat"/>
                <a:ea typeface="Montserrat"/>
                <a:cs typeface="Montserrat"/>
                <a:sym typeface="Montserrat"/>
              </a:rPr>
              <a:t>Cara Kerja Decision Tree?</a:t>
            </a:r>
            <a:endParaRPr/>
          </a:p>
        </p:txBody>
      </p:sp>
      <p:sp>
        <p:nvSpPr>
          <p:cNvPr id="836" name="Google Shape;836;p47"/>
          <p:cNvSpPr/>
          <p:nvPr/>
        </p:nvSpPr>
        <p:spPr>
          <a:xfrm>
            <a:off x="762000" y="1409700"/>
            <a:ext cx="13075258" cy="777546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US" sz="2800">
                <a:solidFill>
                  <a:srgbClr val="FF0000"/>
                </a:solidFill>
                <a:latin typeface="Montserrat"/>
                <a:ea typeface="Montserrat"/>
                <a:cs typeface="Montserrat"/>
                <a:sym typeface="Montserrat"/>
              </a:rPr>
              <a:t>Step 4: Hitung Information Gain Untuk Fitur Humidity</a:t>
            </a:r>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High = 7 data (Yes=3, No=4)</a:t>
            </a:r>
            <a:endParaRPr/>
          </a:p>
          <a:p>
            <a:pPr indent="0" lvl="0" marL="0" marR="0" rtl="0" algn="just">
              <a:lnSpc>
                <a:spcPct val="150000"/>
              </a:lnSpc>
              <a:spcBef>
                <a:spcPts val="0"/>
              </a:spcBef>
              <a:spcAft>
                <a:spcPts val="0"/>
              </a:spcAft>
              <a:buNone/>
            </a:pPr>
            <a:r>
              <a:t/>
            </a:r>
            <a:endParaRPr sz="2800">
              <a:solidFill>
                <a:schemeClr val="dk1"/>
              </a:solidFill>
              <a:latin typeface="Montserrat"/>
              <a:ea typeface="Montserrat"/>
              <a:cs typeface="Montserrat"/>
              <a:sym typeface="Montserrat"/>
            </a:endParaRPr>
          </a:p>
          <a:p>
            <a:pPr indent="-279400" lvl="0" marL="457200" marR="0" rtl="0" algn="just">
              <a:lnSpc>
                <a:spcPct val="150000"/>
              </a:lnSpc>
              <a:spcBef>
                <a:spcPts val="0"/>
              </a:spcBef>
              <a:spcAft>
                <a:spcPts val="0"/>
              </a:spcAft>
              <a:buClr>
                <a:schemeClr val="dk1"/>
              </a:buClr>
              <a:buSzPts val="2800"/>
              <a:buFont typeface="Arial"/>
              <a:buNone/>
            </a:pPr>
            <a:r>
              <a:t/>
            </a:r>
            <a:endParaRPr b="1" sz="2800">
              <a:solidFill>
                <a:schemeClr val="dk1"/>
              </a:solidFill>
              <a:latin typeface="Montserrat"/>
              <a:ea typeface="Montserrat"/>
              <a:cs typeface="Montserrat"/>
              <a:sym typeface="Montserrat"/>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Normal = 7 data (Yes=6, No=1)</a:t>
            </a:r>
            <a:endParaRPr/>
          </a:p>
          <a:p>
            <a:pPr indent="-279400" lvl="0" marL="457200" marR="0" rtl="0" algn="just">
              <a:lnSpc>
                <a:spcPct val="150000"/>
              </a:lnSpc>
              <a:spcBef>
                <a:spcPts val="0"/>
              </a:spcBef>
              <a:spcAft>
                <a:spcPts val="0"/>
              </a:spcAft>
              <a:buClr>
                <a:schemeClr val="dk1"/>
              </a:buClr>
              <a:buSzPts val="2800"/>
              <a:buFont typeface="Arial"/>
              <a:buNone/>
            </a:pPr>
            <a:r>
              <a:t/>
            </a:r>
            <a:endParaRPr b="1" sz="2800">
              <a:solidFill>
                <a:schemeClr val="dk1"/>
              </a:solidFill>
              <a:latin typeface="Montserrat"/>
              <a:ea typeface="Montserrat"/>
              <a:cs typeface="Montserrat"/>
              <a:sym typeface="Montserrat"/>
            </a:endParaRPr>
          </a:p>
          <a:p>
            <a:pPr indent="-279400" lvl="0" marL="457200" marR="0" rtl="0" algn="just">
              <a:lnSpc>
                <a:spcPct val="150000"/>
              </a:lnSpc>
              <a:spcBef>
                <a:spcPts val="0"/>
              </a:spcBef>
              <a:spcAft>
                <a:spcPts val="0"/>
              </a:spcAft>
              <a:buClr>
                <a:schemeClr val="dk1"/>
              </a:buClr>
              <a:buSzPts val="2800"/>
              <a:buFont typeface="Arial"/>
              <a:buNone/>
            </a:pPr>
            <a:r>
              <a:t/>
            </a:r>
            <a:endParaRPr b="1" sz="2800">
              <a:solidFill>
                <a:schemeClr val="dk1"/>
              </a:solidFill>
              <a:latin typeface="Montserrat"/>
              <a:ea typeface="Montserrat"/>
              <a:cs typeface="Montserrat"/>
              <a:sym typeface="Montserrat"/>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Hitung Entropy Gabungan</a:t>
            </a:r>
            <a:endParaRPr b="1" sz="2800">
              <a:solidFill>
                <a:schemeClr val="dk1"/>
              </a:solidFill>
              <a:latin typeface="Montserrat"/>
              <a:ea typeface="Montserrat"/>
              <a:cs typeface="Montserrat"/>
              <a:sym typeface="Montserrat"/>
            </a:endParaRPr>
          </a:p>
          <a:p>
            <a:pPr indent="-279400" lvl="0" marL="457200" marR="0" rtl="0" algn="just">
              <a:lnSpc>
                <a:spcPct val="150000"/>
              </a:lnSpc>
              <a:spcBef>
                <a:spcPts val="0"/>
              </a:spcBef>
              <a:spcAft>
                <a:spcPts val="0"/>
              </a:spcAft>
              <a:buClr>
                <a:schemeClr val="dk1"/>
              </a:buClr>
              <a:buSzPts val="2800"/>
              <a:buFont typeface="Arial"/>
              <a:buNone/>
            </a:pPr>
            <a:r>
              <a:t/>
            </a:r>
            <a:endParaRPr b="1" sz="2800">
              <a:solidFill>
                <a:schemeClr val="dk1"/>
              </a:solidFill>
              <a:latin typeface="Montserrat"/>
              <a:ea typeface="Montserrat"/>
              <a:cs typeface="Montserrat"/>
              <a:sym typeface="Montserrat"/>
            </a:endParaRPr>
          </a:p>
          <a:p>
            <a:pPr indent="-279400" lvl="0" marL="457200" marR="0" rtl="0" algn="just">
              <a:lnSpc>
                <a:spcPct val="150000"/>
              </a:lnSpc>
              <a:spcBef>
                <a:spcPts val="0"/>
              </a:spcBef>
              <a:spcAft>
                <a:spcPts val="0"/>
              </a:spcAft>
              <a:buClr>
                <a:schemeClr val="dk1"/>
              </a:buClr>
              <a:buSzPts val="2800"/>
              <a:buFont typeface="Arial"/>
              <a:buNone/>
            </a:pPr>
            <a:r>
              <a:t/>
            </a:r>
            <a:endParaRPr b="1" sz="2800">
              <a:solidFill>
                <a:schemeClr val="dk1"/>
              </a:solidFill>
              <a:latin typeface="Montserrat"/>
              <a:ea typeface="Montserrat"/>
              <a:cs typeface="Montserrat"/>
              <a:sym typeface="Montserrat"/>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Hitung Information Gain</a:t>
            </a:r>
            <a:endParaRPr/>
          </a:p>
          <a:p>
            <a:pPr indent="0" lvl="0" marL="0" marR="0" rtl="0" algn="just">
              <a:lnSpc>
                <a:spcPct val="150000"/>
              </a:lnSpc>
              <a:spcBef>
                <a:spcPts val="0"/>
              </a:spcBef>
              <a:spcAft>
                <a:spcPts val="0"/>
              </a:spcAft>
              <a:buNone/>
            </a:pPr>
            <a:r>
              <a:t/>
            </a:r>
            <a:endParaRPr b="1" sz="2800">
              <a:solidFill>
                <a:schemeClr val="dk1"/>
              </a:solidFill>
              <a:latin typeface="Montserrat"/>
              <a:ea typeface="Montserrat"/>
              <a:cs typeface="Montserrat"/>
              <a:sym typeface="Montserrat"/>
            </a:endParaRPr>
          </a:p>
        </p:txBody>
      </p:sp>
      <p:pic>
        <p:nvPicPr>
          <p:cNvPr id="837" name="Google Shape;837;p47"/>
          <p:cNvPicPr preferRelativeResize="0"/>
          <p:nvPr/>
        </p:nvPicPr>
        <p:blipFill rotWithShape="1">
          <a:blip r:embed="rId4">
            <a:alphaModFix/>
          </a:blip>
          <a:srcRect b="0" l="0" r="0" t="0"/>
          <a:stretch/>
        </p:blipFill>
        <p:spPr>
          <a:xfrm>
            <a:off x="1277236" y="2781300"/>
            <a:ext cx="9543163" cy="837120"/>
          </a:xfrm>
          <a:prstGeom prst="rect">
            <a:avLst/>
          </a:prstGeom>
          <a:noFill/>
          <a:ln>
            <a:noFill/>
          </a:ln>
        </p:spPr>
      </p:pic>
      <p:pic>
        <p:nvPicPr>
          <p:cNvPr id="838" name="Google Shape;838;p47"/>
          <p:cNvPicPr preferRelativeResize="0"/>
          <p:nvPr/>
        </p:nvPicPr>
        <p:blipFill rotWithShape="1">
          <a:blip r:embed="rId5">
            <a:alphaModFix/>
          </a:blip>
          <a:srcRect b="0" l="0" r="0" t="0"/>
          <a:stretch/>
        </p:blipFill>
        <p:spPr>
          <a:xfrm>
            <a:off x="1287510" y="4717694"/>
            <a:ext cx="9532889" cy="914400"/>
          </a:xfrm>
          <a:prstGeom prst="rect">
            <a:avLst/>
          </a:prstGeom>
          <a:noFill/>
          <a:ln>
            <a:noFill/>
          </a:ln>
        </p:spPr>
      </p:pic>
      <p:pic>
        <p:nvPicPr>
          <p:cNvPr id="839" name="Google Shape;839;p47"/>
          <p:cNvPicPr preferRelativeResize="0"/>
          <p:nvPr/>
        </p:nvPicPr>
        <p:blipFill rotWithShape="1">
          <a:blip r:embed="rId6">
            <a:alphaModFix/>
          </a:blip>
          <a:srcRect b="0" l="0" r="0" t="0"/>
          <a:stretch/>
        </p:blipFill>
        <p:spPr>
          <a:xfrm>
            <a:off x="914400" y="6668581"/>
            <a:ext cx="5600393" cy="1145536"/>
          </a:xfrm>
          <a:prstGeom prst="rect">
            <a:avLst/>
          </a:prstGeom>
          <a:noFill/>
          <a:ln>
            <a:noFill/>
          </a:ln>
        </p:spPr>
      </p:pic>
      <p:pic>
        <p:nvPicPr>
          <p:cNvPr id="840" name="Google Shape;840;p47"/>
          <p:cNvPicPr preferRelativeResize="0"/>
          <p:nvPr/>
        </p:nvPicPr>
        <p:blipFill rotWithShape="1">
          <a:blip r:embed="rId7">
            <a:alphaModFix/>
          </a:blip>
          <a:srcRect b="0" l="0" r="0" t="0"/>
          <a:stretch/>
        </p:blipFill>
        <p:spPr>
          <a:xfrm>
            <a:off x="1274608" y="8594093"/>
            <a:ext cx="3673364" cy="914399"/>
          </a:xfrm>
          <a:prstGeom prst="rect">
            <a:avLst/>
          </a:prstGeom>
          <a:noFill/>
          <a:ln>
            <a:noFill/>
          </a:ln>
        </p:spPr>
      </p:pic>
    </p:spTree>
  </p:cSld>
  <p:clrMapOvr>
    <a:masterClrMapping/>
  </p:clrMapOvr>
  <p:transition spd="slow">
    <p:push/>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grpSp>
        <p:nvGrpSpPr>
          <p:cNvPr id="846" name="Google Shape;846;p48"/>
          <p:cNvGrpSpPr/>
          <p:nvPr/>
        </p:nvGrpSpPr>
        <p:grpSpPr>
          <a:xfrm>
            <a:off x="17016492" y="-180826"/>
            <a:ext cx="1271508" cy="10467826"/>
            <a:chOff x="0" y="-47625"/>
            <a:chExt cx="334883" cy="2756958"/>
          </a:xfrm>
        </p:grpSpPr>
        <p:sp>
          <p:nvSpPr>
            <p:cNvPr id="847" name="Google Shape;847;p48"/>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8" name="Google Shape;848;p48"/>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49" name="Google Shape;849;p48"/>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0" name="Google Shape;850;p48"/>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851" name="Google Shape;851;p48"/>
          <p:cNvSpPr txBox="1"/>
          <p:nvPr/>
        </p:nvSpPr>
        <p:spPr>
          <a:xfrm>
            <a:off x="234562" y="280854"/>
            <a:ext cx="13163036" cy="817340"/>
          </a:xfrm>
          <a:prstGeom prst="rect">
            <a:avLst/>
          </a:prstGeom>
          <a:noFill/>
          <a:ln>
            <a:noFill/>
          </a:ln>
        </p:spPr>
        <p:txBody>
          <a:bodyPr anchorCtr="0" anchor="t" bIns="0" lIns="0" spcFirstLastPara="1" rIns="0" wrap="square" tIns="0">
            <a:spAutoFit/>
          </a:bodyPr>
          <a:lstStyle/>
          <a:p>
            <a:pPr indent="0" lvl="0" marL="0" marR="0" rtl="0" algn="ctr">
              <a:lnSpc>
                <a:spcPct val="128722"/>
              </a:lnSpc>
              <a:spcBef>
                <a:spcPts val="0"/>
              </a:spcBef>
              <a:spcAft>
                <a:spcPts val="0"/>
              </a:spcAft>
              <a:buNone/>
            </a:pPr>
            <a:r>
              <a:rPr b="1" lang="en-US" sz="5400">
                <a:solidFill>
                  <a:srgbClr val="08377C"/>
                </a:solidFill>
                <a:latin typeface="Montserrat"/>
                <a:ea typeface="Montserrat"/>
                <a:cs typeface="Montserrat"/>
                <a:sym typeface="Montserrat"/>
              </a:rPr>
              <a:t>Cara Kerja Decision Tree?</a:t>
            </a:r>
            <a:endParaRPr/>
          </a:p>
        </p:txBody>
      </p:sp>
      <p:sp>
        <p:nvSpPr>
          <p:cNvPr id="852" name="Google Shape;852;p48"/>
          <p:cNvSpPr/>
          <p:nvPr/>
        </p:nvSpPr>
        <p:spPr>
          <a:xfrm>
            <a:off x="762000" y="1409700"/>
            <a:ext cx="13075258" cy="777546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US" sz="2800">
                <a:solidFill>
                  <a:srgbClr val="FF0000"/>
                </a:solidFill>
                <a:latin typeface="Montserrat"/>
                <a:ea typeface="Montserrat"/>
                <a:cs typeface="Montserrat"/>
                <a:sym typeface="Montserrat"/>
              </a:rPr>
              <a:t>Step 5: Hitung Information Gain Untuk Fitur Windy</a:t>
            </a:r>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True = 6 data (Yes=5, No=1)</a:t>
            </a:r>
            <a:endParaRPr/>
          </a:p>
          <a:p>
            <a:pPr indent="0" lvl="0" marL="0" marR="0" rtl="0" algn="just">
              <a:lnSpc>
                <a:spcPct val="150000"/>
              </a:lnSpc>
              <a:spcBef>
                <a:spcPts val="0"/>
              </a:spcBef>
              <a:spcAft>
                <a:spcPts val="0"/>
              </a:spcAft>
              <a:buNone/>
            </a:pPr>
            <a:r>
              <a:t/>
            </a:r>
            <a:endParaRPr sz="2800">
              <a:solidFill>
                <a:schemeClr val="dk1"/>
              </a:solidFill>
              <a:latin typeface="Montserrat"/>
              <a:ea typeface="Montserrat"/>
              <a:cs typeface="Montserrat"/>
              <a:sym typeface="Montserrat"/>
            </a:endParaRPr>
          </a:p>
          <a:p>
            <a:pPr indent="-279400" lvl="0" marL="457200" marR="0" rtl="0" algn="just">
              <a:lnSpc>
                <a:spcPct val="150000"/>
              </a:lnSpc>
              <a:spcBef>
                <a:spcPts val="0"/>
              </a:spcBef>
              <a:spcAft>
                <a:spcPts val="0"/>
              </a:spcAft>
              <a:buClr>
                <a:schemeClr val="dk1"/>
              </a:buClr>
              <a:buSzPts val="2800"/>
              <a:buFont typeface="Arial"/>
              <a:buNone/>
            </a:pPr>
            <a:r>
              <a:t/>
            </a:r>
            <a:endParaRPr b="1" sz="2800">
              <a:solidFill>
                <a:schemeClr val="dk1"/>
              </a:solidFill>
              <a:latin typeface="Montserrat"/>
              <a:ea typeface="Montserrat"/>
              <a:cs typeface="Montserrat"/>
              <a:sym typeface="Montserrat"/>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False = 8 data (Yes=4, No=4)</a:t>
            </a:r>
            <a:endParaRPr/>
          </a:p>
          <a:p>
            <a:pPr indent="-279400" lvl="0" marL="457200" marR="0" rtl="0" algn="just">
              <a:lnSpc>
                <a:spcPct val="150000"/>
              </a:lnSpc>
              <a:spcBef>
                <a:spcPts val="0"/>
              </a:spcBef>
              <a:spcAft>
                <a:spcPts val="0"/>
              </a:spcAft>
              <a:buClr>
                <a:schemeClr val="dk1"/>
              </a:buClr>
              <a:buSzPts val="2800"/>
              <a:buFont typeface="Arial"/>
              <a:buNone/>
            </a:pPr>
            <a:r>
              <a:t/>
            </a:r>
            <a:endParaRPr b="1" sz="2800">
              <a:solidFill>
                <a:schemeClr val="dk1"/>
              </a:solidFill>
              <a:latin typeface="Montserrat"/>
              <a:ea typeface="Montserrat"/>
              <a:cs typeface="Montserrat"/>
              <a:sym typeface="Montserrat"/>
            </a:endParaRPr>
          </a:p>
          <a:p>
            <a:pPr indent="-279400" lvl="0" marL="457200" marR="0" rtl="0" algn="just">
              <a:lnSpc>
                <a:spcPct val="150000"/>
              </a:lnSpc>
              <a:spcBef>
                <a:spcPts val="0"/>
              </a:spcBef>
              <a:spcAft>
                <a:spcPts val="0"/>
              </a:spcAft>
              <a:buClr>
                <a:schemeClr val="dk1"/>
              </a:buClr>
              <a:buSzPts val="2800"/>
              <a:buFont typeface="Arial"/>
              <a:buNone/>
            </a:pPr>
            <a:r>
              <a:t/>
            </a:r>
            <a:endParaRPr b="1" sz="2800">
              <a:solidFill>
                <a:schemeClr val="dk1"/>
              </a:solidFill>
              <a:latin typeface="Montserrat"/>
              <a:ea typeface="Montserrat"/>
              <a:cs typeface="Montserrat"/>
              <a:sym typeface="Montserrat"/>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Hitung Entropy Gabungan</a:t>
            </a:r>
            <a:endParaRPr b="1" sz="2800">
              <a:solidFill>
                <a:schemeClr val="dk1"/>
              </a:solidFill>
              <a:latin typeface="Montserrat"/>
              <a:ea typeface="Montserrat"/>
              <a:cs typeface="Montserrat"/>
              <a:sym typeface="Montserrat"/>
            </a:endParaRPr>
          </a:p>
          <a:p>
            <a:pPr indent="-279400" lvl="0" marL="457200" marR="0" rtl="0" algn="just">
              <a:lnSpc>
                <a:spcPct val="150000"/>
              </a:lnSpc>
              <a:spcBef>
                <a:spcPts val="0"/>
              </a:spcBef>
              <a:spcAft>
                <a:spcPts val="0"/>
              </a:spcAft>
              <a:buClr>
                <a:schemeClr val="dk1"/>
              </a:buClr>
              <a:buSzPts val="2800"/>
              <a:buFont typeface="Arial"/>
              <a:buNone/>
            </a:pPr>
            <a:r>
              <a:t/>
            </a:r>
            <a:endParaRPr b="1" sz="2800">
              <a:solidFill>
                <a:schemeClr val="dk1"/>
              </a:solidFill>
              <a:latin typeface="Montserrat"/>
              <a:ea typeface="Montserrat"/>
              <a:cs typeface="Montserrat"/>
              <a:sym typeface="Montserrat"/>
            </a:endParaRPr>
          </a:p>
          <a:p>
            <a:pPr indent="-279400" lvl="0" marL="457200" marR="0" rtl="0" algn="just">
              <a:lnSpc>
                <a:spcPct val="150000"/>
              </a:lnSpc>
              <a:spcBef>
                <a:spcPts val="0"/>
              </a:spcBef>
              <a:spcAft>
                <a:spcPts val="0"/>
              </a:spcAft>
              <a:buClr>
                <a:schemeClr val="dk1"/>
              </a:buClr>
              <a:buSzPts val="2800"/>
              <a:buFont typeface="Arial"/>
              <a:buNone/>
            </a:pPr>
            <a:r>
              <a:t/>
            </a:r>
            <a:endParaRPr b="1" sz="2800">
              <a:solidFill>
                <a:schemeClr val="dk1"/>
              </a:solidFill>
              <a:latin typeface="Montserrat"/>
              <a:ea typeface="Montserrat"/>
              <a:cs typeface="Montserrat"/>
              <a:sym typeface="Montserrat"/>
            </a:endParaRPr>
          </a:p>
          <a:p>
            <a:pPr indent="-457200" lvl="0" marL="457200" marR="0" rtl="0" algn="just">
              <a:lnSpc>
                <a:spcPct val="150000"/>
              </a:lnSpc>
              <a:spcBef>
                <a:spcPts val="0"/>
              </a:spcBef>
              <a:spcAft>
                <a:spcPts val="0"/>
              </a:spcAft>
              <a:buClr>
                <a:schemeClr val="dk1"/>
              </a:buClr>
              <a:buSzPts val="2800"/>
              <a:buFont typeface="Arial"/>
              <a:buChar char="•"/>
            </a:pPr>
            <a:r>
              <a:rPr b="1" lang="en-US" sz="2800">
                <a:solidFill>
                  <a:schemeClr val="dk1"/>
                </a:solidFill>
                <a:latin typeface="Montserrat"/>
                <a:ea typeface="Montserrat"/>
                <a:cs typeface="Montserrat"/>
                <a:sym typeface="Montserrat"/>
              </a:rPr>
              <a:t>Hitung Information Gain</a:t>
            </a:r>
            <a:endParaRPr/>
          </a:p>
          <a:p>
            <a:pPr indent="0" lvl="0" marL="0" marR="0" rtl="0" algn="just">
              <a:lnSpc>
                <a:spcPct val="150000"/>
              </a:lnSpc>
              <a:spcBef>
                <a:spcPts val="0"/>
              </a:spcBef>
              <a:spcAft>
                <a:spcPts val="0"/>
              </a:spcAft>
              <a:buNone/>
            </a:pPr>
            <a:r>
              <a:t/>
            </a:r>
            <a:endParaRPr b="1" sz="2800">
              <a:solidFill>
                <a:schemeClr val="dk1"/>
              </a:solidFill>
              <a:latin typeface="Montserrat"/>
              <a:ea typeface="Montserrat"/>
              <a:cs typeface="Montserrat"/>
              <a:sym typeface="Montserrat"/>
            </a:endParaRPr>
          </a:p>
        </p:txBody>
      </p:sp>
      <p:pic>
        <p:nvPicPr>
          <p:cNvPr id="853" name="Google Shape;853;p48"/>
          <p:cNvPicPr preferRelativeResize="0"/>
          <p:nvPr/>
        </p:nvPicPr>
        <p:blipFill rotWithShape="1">
          <a:blip r:embed="rId4">
            <a:alphaModFix/>
          </a:blip>
          <a:srcRect b="0" l="0" r="0" t="0"/>
          <a:stretch/>
        </p:blipFill>
        <p:spPr>
          <a:xfrm>
            <a:off x="1356218" y="2648579"/>
            <a:ext cx="5491152" cy="1369107"/>
          </a:xfrm>
          <a:prstGeom prst="rect">
            <a:avLst/>
          </a:prstGeom>
          <a:noFill/>
          <a:ln>
            <a:noFill/>
          </a:ln>
        </p:spPr>
      </p:pic>
      <p:pic>
        <p:nvPicPr>
          <p:cNvPr id="854" name="Google Shape;854;p48"/>
          <p:cNvPicPr preferRelativeResize="0"/>
          <p:nvPr/>
        </p:nvPicPr>
        <p:blipFill rotWithShape="1">
          <a:blip r:embed="rId5">
            <a:alphaModFix/>
          </a:blip>
          <a:srcRect b="0" l="0" r="0" t="0"/>
          <a:stretch/>
        </p:blipFill>
        <p:spPr>
          <a:xfrm>
            <a:off x="1290454" y="4815528"/>
            <a:ext cx="6860054" cy="1145536"/>
          </a:xfrm>
          <a:prstGeom prst="rect">
            <a:avLst/>
          </a:prstGeom>
          <a:noFill/>
          <a:ln>
            <a:noFill/>
          </a:ln>
        </p:spPr>
      </p:pic>
      <p:pic>
        <p:nvPicPr>
          <p:cNvPr id="855" name="Google Shape;855;p48"/>
          <p:cNvPicPr preferRelativeResize="0"/>
          <p:nvPr/>
        </p:nvPicPr>
        <p:blipFill rotWithShape="1">
          <a:blip r:embed="rId6">
            <a:alphaModFix/>
          </a:blip>
          <a:srcRect b="0" l="0" r="0" t="0"/>
          <a:stretch/>
        </p:blipFill>
        <p:spPr>
          <a:xfrm>
            <a:off x="1676400" y="6748116"/>
            <a:ext cx="6520594" cy="986184"/>
          </a:xfrm>
          <a:prstGeom prst="rect">
            <a:avLst/>
          </a:prstGeom>
          <a:noFill/>
          <a:ln>
            <a:noFill/>
          </a:ln>
        </p:spPr>
      </p:pic>
      <p:pic>
        <p:nvPicPr>
          <p:cNvPr id="856" name="Google Shape;856;p48"/>
          <p:cNvPicPr preferRelativeResize="0"/>
          <p:nvPr/>
        </p:nvPicPr>
        <p:blipFill rotWithShape="1">
          <a:blip r:embed="rId7">
            <a:alphaModFix/>
          </a:blip>
          <a:srcRect b="0" l="0" r="0" t="0"/>
          <a:stretch/>
        </p:blipFill>
        <p:spPr>
          <a:xfrm>
            <a:off x="1750338" y="8486082"/>
            <a:ext cx="4650462" cy="1273572"/>
          </a:xfrm>
          <a:prstGeom prst="rect">
            <a:avLst/>
          </a:prstGeom>
          <a:noFill/>
          <a:ln>
            <a:noFill/>
          </a:ln>
        </p:spPr>
      </p:pic>
    </p:spTree>
  </p:cSld>
  <p:clrMapOvr>
    <a:masterClrMapping/>
  </p:clrMapOvr>
  <p:transition spd="slow">
    <p:push/>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grpSp>
        <p:nvGrpSpPr>
          <p:cNvPr id="862" name="Google Shape;862;p49"/>
          <p:cNvGrpSpPr/>
          <p:nvPr/>
        </p:nvGrpSpPr>
        <p:grpSpPr>
          <a:xfrm>
            <a:off x="17016492" y="-180826"/>
            <a:ext cx="1271508" cy="10467826"/>
            <a:chOff x="0" y="-47625"/>
            <a:chExt cx="334883" cy="2756958"/>
          </a:xfrm>
        </p:grpSpPr>
        <p:sp>
          <p:nvSpPr>
            <p:cNvPr id="863" name="Google Shape;863;p49"/>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4" name="Google Shape;864;p49"/>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65" name="Google Shape;865;p49"/>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6" name="Google Shape;866;p49"/>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867" name="Google Shape;867;p49"/>
          <p:cNvSpPr txBox="1"/>
          <p:nvPr/>
        </p:nvSpPr>
        <p:spPr>
          <a:xfrm>
            <a:off x="234562" y="280854"/>
            <a:ext cx="13163036" cy="817340"/>
          </a:xfrm>
          <a:prstGeom prst="rect">
            <a:avLst/>
          </a:prstGeom>
          <a:noFill/>
          <a:ln>
            <a:noFill/>
          </a:ln>
        </p:spPr>
        <p:txBody>
          <a:bodyPr anchorCtr="0" anchor="t" bIns="0" lIns="0" spcFirstLastPara="1" rIns="0" wrap="square" tIns="0">
            <a:spAutoFit/>
          </a:bodyPr>
          <a:lstStyle/>
          <a:p>
            <a:pPr indent="0" lvl="0" marL="0" marR="0" rtl="0" algn="ctr">
              <a:lnSpc>
                <a:spcPct val="128722"/>
              </a:lnSpc>
              <a:spcBef>
                <a:spcPts val="0"/>
              </a:spcBef>
              <a:spcAft>
                <a:spcPts val="0"/>
              </a:spcAft>
              <a:buNone/>
            </a:pPr>
            <a:r>
              <a:rPr b="1" lang="en-US" sz="5400">
                <a:solidFill>
                  <a:srgbClr val="08377C"/>
                </a:solidFill>
                <a:latin typeface="Montserrat"/>
                <a:ea typeface="Montserrat"/>
                <a:cs typeface="Montserrat"/>
                <a:sym typeface="Montserrat"/>
              </a:rPr>
              <a:t>Cara Kerja Decision Tree?</a:t>
            </a:r>
            <a:endParaRPr/>
          </a:p>
        </p:txBody>
      </p:sp>
      <p:sp>
        <p:nvSpPr>
          <p:cNvPr id="868" name="Google Shape;868;p49"/>
          <p:cNvSpPr/>
          <p:nvPr/>
        </p:nvSpPr>
        <p:spPr>
          <a:xfrm>
            <a:off x="780320" y="1562100"/>
            <a:ext cx="13944600" cy="1958485"/>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US" sz="2800">
                <a:solidFill>
                  <a:srgbClr val="FF0000"/>
                </a:solidFill>
                <a:latin typeface="Montserrat"/>
                <a:ea typeface="Montserrat"/>
                <a:cs typeface="Montserrat"/>
                <a:sym typeface="Montserrat"/>
              </a:rPr>
              <a:t>Step 6: Tentukan root nya berdasarkan nilai information gain terbesar</a:t>
            </a:r>
            <a:endParaRPr b="1" sz="2800">
              <a:solidFill>
                <a:srgbClr val="FF0000"/>
              </a:solidFill>
              <a:latin typeface="Montserrat"/>
              <a:ea typeface="Montserrat"/>
              <a:cs typeface="Montserrat"/>
              <a:sym typeface="Montserrat"/>
            </a:endParaRPr>
          </a:p>
          <a:p>
            <a:pPr indent="0" lvl="0" marL="0" marR="0" rtl="0" algn="just">
              <a:lnSpc>
                <a:spcPct val="150000"/>
              </a:lnSpc>
              <a:spcBef>
                <a:spcPts val="0"/>
              </a:spcBef>
              <a:spcAft>
                <a:spcPts val="0"/>
              </a:spcAft>
              <a:buNone/>
            </a:pPr>
            <a:r>
              <a:rPr b="1" lang="en-US" sz="2800">
                <a:solidFill>
                  <a:srgbClr val="FF0000"/>
                </a:solidFill>
                <a:latin typeface="Montserrat"/>
                <a:ea typeface="Montserrat"/>
                <a:cs typeface="Montserrat"/>
                <a:sym typeface="Montserrat"/>
              </a:rPr>
              <a:t>Step 7 : Lakukan perhitungan ulang seperti step 2-5</a:t>
            </a:r>
            <a:endParaRPr/>
          </a:p>
          <a:p>
            <a:pPr indent="0" lvl="0" marL="0" marR="0" rtl="0" algn="just">
              <a:lnSpc>
                <a:spcPct val="150000"/>
              </a:lnSpc>
              <a:spcBef>
                <a:spcPts val="0"/>
              </a:spcBef>
              <a:spcAft>
                <a:spcPts val="0"/>
              </a:spcAft>
              <a:buNone/>
            </a:pPr>
            <a:r>
              <a:t/>
            </a:r>
            <a:endParaRPr b="1" sz="2800">
              <a:solidFill>
                <a:schemeClr val="dk1"/>
              </a:solidFill>
              <a:latin typeface="Montserrat"/>
              <a:ea typeface="Montserrat"/>
              <a:cs typeface="Montserrat"/>
              <a:sym typeface="Montserrat"/>
            </a:endParaRPr>
          </a:p>
        </p:txBody>
      </p:sp>
      <p:sp>
        <p:nvSpPr>
          <p:cNvPr id="869" name="Google Shape;869;p49"/>
          <p:cNvSpPr/>
          <p:nvPr/>
        </p:nvSpPr>
        <p:spPr>
          <a:xfrm>
            <a:off x="6021980" y="3314700"/>
            <a:ext cx="3657600" cy="9906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Outlook</a:t>
            </a:r>
            <a:endParaRPr/>
          </a:p>
        </p:txBody>
      </p:sp>
      <p:sp>
        <p:nvSpPr>
          <p:cNvPr id="870" name="Google Shape;870;p49"/>
          <p:cNvSpPr/>
          <p:nvPr/>
        </p:nvSpPr>
        <p:spPr>
          <a:xfrm>
            <a:off x="1990165" y="5372100"/>
            <a:ext cx="3657600" cy="9906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Humidity</a:t>
            </a:r>
            <a:endParaRPr/>
          </a:p>
        </p:txBody>
      </p:sp>
      <p:sp>
        <p:nvSpPr>
          <p:cNvPr id="871" name="Google Shape;871;p49"/>
          <p:cNvSpPr/>
          <p:nvPr/>
        </p:nvSpPr>
        <p:spPr>
          <a:xfrm>
            <a:off x="6110537" y="5419165"/>
            <a:ext cx="3657600" cy="9906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Outlook</a:t>
            </a:r>
            <a:endParaRPr/>
          </a:p>
        </p:txBody>
      </p:sp>
      <p:sp>
        <p:nvSpPr>
          <p:cNvPr id="872" name="Google Shape;872;p49"/>
          <p:cNvSpPr/>
          <p:nvPr/>
        </p:nvSpPr>
        <p:spPr>
          <a:xfrm>
            <a:off x="6110537" y="5372100"/>
            <a:ext cx="3657600" cy="990600"/>
          </a:xfrm>
          <a:prstGeom prst="rect">
            <a:avLst/>
          </a:prstGeom>
          <a:solidFill>
            <a:schemeClr val="accent3"/>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Yes</a:t>
            </a:r>
            <a:endParaRPr/>
          </a:p>
        </p:txBody>
      </p:sp>
      <p:sp>
        <p:nvSpPr>
          <p:cNvPr id="873" name="Google Shape;873;p49"/>
          <p:cNvSpPr/>
          <p:nvPr/>
        </p:nvSpPr>
        <p:spPr>
          <a:xfrm>
            <a:off x="10230909" y="5419165"/>
            <a:ext cx="3657600" cy="990600"/>
          </a:xfrm>
          <a:prstGeom prst="rect">
            <a:avLst/>
          </a:prstGeom>
          <a:solidFill>
            <a:schemeClr val="accent1"/>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Wind</a:t>
            </a:r>
            <a:endParaRPr/>
          </a:p>
        </p:txBody>
      </p:sp>
      <p:cxnSp>
        <p:nvCxnSpPr>
          <p:cNvPr id="874" name="Google Shape;874;p49"/>
          <p:cNvCxnSpPr>
            <a:stCxn id="869" idx="2"/>
            <a:endCxn id="870" idx="0"/>
          </p:cNvCxnSpPr>
          <p:nvPr/>
        </p:nvCxnSpPr>
        <p:spPr>
          <a:xfrm flipH="1">
            <a:off x="3819080" y="4305300"/>
            <a:ext cx="4031700" cy="1066800"/>
          </a:xfrm>
          <a:prstGeom prst="straightConnector1">
            <a:avLst/>
          </a:prstGeom>
          <a:noFill/>
          <a:ln cap="flat" cmpd="sng" w="9525">
            <a:solidFill>
              <a:srgbClr val="4A7DBA"/>
            </a:solidFill>
            <a:prstDash val="solid"/>
            <a:round/>
            <a:headEnd len="sm" w="sm" type="none"/>
            <a:tailEnd len="med" w="med" type="triangle"/>
          </a:ln>
        </p:spPr>
      </p:cxnSp>
      <p:cxnSp>
        <p:nvCxnSpPr>
          <p:cNvPr id="875" name="Google Shape;875;p49"/>
          <p:cNvCxnSpPr>
            <a:stCxn id="869" idx="2"/>
            <a:endCxn id="872" idx="0"/>
          </p:cNvCxnSpPr>
          <p:nvPr/>
        </p:nvCxnSpPr>
        <p:spPr>
          <a:xfrm>
            <a:off x="7850780" y="4305300"/>
            <a:ext cx="88500" cy="1066800"/>
          </a:xfrm>
          <a:prstGeom prst="straightConnector1">
            <a:avLst/>
          </a:prstGeom>
          <a:noFill/>
          <a:ln cap="flat" cmpd="sng" w="9525">
            <a:solidFill>
              <a:srgbClr val="4A7DBA"/>
            </a:solidFill>
            <a:prstDash val="solid"/>
            <a:round/>
            <a:headEnd len="sm" w="sm" type="none"/>
            <a:tailEnd len="med" w="med" type="triangle"/>
          </a:ln>
        </p:spPr>
      </p:cxnSp>
      <p:cxnSp>
        <p:nvCxnSpPr>
          <p:cNvPr id="876" name="Google Shape;876;p49"/>
          <p:cNvCxnSpPr>
            <a:stCxn id="869" idx="2"/>
            <a:endCxn id="873" idx="0"/>
          </p:cNvCxnSpPr>
          <p:nvPr/>
        </p:nvCxnSpPr>
        <p:spPr>
          <a:xfrm>
            <a:off x="7850780" y="4305300"/>
            <a:ext cx="4209000" cy="1113900"/>
          </a:xfrm>
          <a:prstGeom prst="straightConnector1">
            <a:avLst/>
          </a:prstGeom>
          <a:noFill/>
          <a:ln cap="flat" cmpd="sng" w="9525">
            <a:solidFill>
              <a:srgbClr val="4A7DBA"/>
            </a:solidFill>
            <a:prstDash val="solid"/>
            <a:round/>
            <a:headEnd len="sm" w="sm" type="none"/>
            <a:tailEnd len="med" w="med" type="triangle"/>
          </a:ln>
        </p:spPr>
      </p:cxnSp>
      <p:sp>
        <p:nvSpPr>
          <p:cNvPr id="877" name="Google Shape;877;p49"/>
          <p:cNvSpPr txBox="1"/>
          <p:nvPr/>
        </p:nvSpPr>
        <p:spPr>
          <a:xfrm>
            <a:off x="3818965" y="4610100"/>
            <a:ext cx="1828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Sunny</a:t>
            </a:r>
            <a:endParaRPr/>
          </a:p>
        </p:txBody>
      </p:sp>
      <p:sp>
        <p:nvSpPr>
          <p:cNvPr id="878" name="Google Shape;878;p49"/>
          <p:cNvSpPr txBox="1"/>
          <p:nvPr/>
        </p:nvSpPr>
        <p:spPr>
          <a:xfrm>
            <a:off x="7123487" y="4632050"/>
            <a:ext cx="1828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Cloudy</a:t>
            </a:r>
            <a:endParaRPr/>
          </a:p>
        </p:txBody>
      </p:sp>
      <p:sp>
        <p:nvSpPr>
          <p:cNvPr id="879" name="Google Shape;879;p49"/>
          <p:cNvSpPr txBox="1"/>
          <p:nvPr/>
        </p:nvSpPr>
        <p:spPr>
          <a:xfrm>
            <a:off x="10428009" y="4654000"/>
            <a:ext cx="1828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Rainy</a:t>
            </a:r>
            <a:endParaRPr/>
          </a:p>
        </p:txBody>
      </p:sp>
      <p:sp>
        <p:nvSpPr>
          <p:cNvPr id="880" name="Google Shape;880;p49"/>
          <p:cNvSpPr/>
          <p:nvPr/>
        </p:nvSpPr>
        <p:spPr>
          <a:xfrm>
            <a:off x="3845859" y="7734300"/>
            <a:ext cx="3657600" cy="990600"/>
          </a:xfrm>
          <a:prstGeom prst="rect">
            <a:avLst/>
          </a:prstGeom>
          <a:solidFill>
            <a:schemeClr val="accent3"/>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Yes</a:t>
            </a:r>
            <a:endParaRPr/>
          </a:p>
        </p:txBody>
      </p:sp>
      <p:sp>
        <p:nvSpPr>
          <p:cNvPr id="881" name="Google Shape;881;p49"/>
          <p:cNvSpPr/>
          <p:nvPr/>
        </p:nvSpPr>
        <p:spPr>
          <a:xfrm>
            <a:off x="22412" y="7718915"/>
            <a:ext cx="3657600" cy="990600"/>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No</a:t>
            </a:r>
            <a:endParaRPr/>
          </a:p>
        </p:txBody>
      </p:sp>
      <p:sp>
        <p:nvSpPr>
          <p:cNvPr id="882" name="Google Shape;882;p49"/>
          <p:cNvSpPr/>
          <p:nvPr/>
        </p:nvSpPr>
        <p:spPr>
          <a:xfrm>
            <a:off x="13011571" y="7791239"/>
            <a:ext cx="3657600" cy="990600"/>
          </a:xfrm>
          <a:prstGeom prst="rect">
            <a:avLst/>
          </a:prstGeom>
          <a:solidFill>
            <a:schemeClr val="accent3"/>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Yes</a:t>
            </a:r>
            <a:endParaRPr/>
          </a:p>
        </p:txBody>
      </p:sp>
      <p:sp>
        <p:nvSpPr>
          <p:cNvPr id="883" name="Google Shape;883;p49"/>
          <p:cNvSpPr/>
          <p:nvPr/>
        </p:nvSpPr>
        <p:spPr>
          <a:xfrm>
            <a:off x="9188124" y="7775854"/>
            <a:ext cx="3657600" cy="990600"/>
          </a:xfrm>
          <a:prstGeom prst="rect">
            <a:avLst/>
          </a:prstGeom>
          <a:solidFill>
            <a:schemeClr val="accent2"/>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chemeClr val="lt1"/>
                </a:solidFill>
                <a:latin typeface="Calibri"/>
                <a:ea typeface="Calibri"/>
                <a:cs typeface="Calibri"/>
                <a:sym typeface="Calibri"/>
              </a:rPr>
              <a:t>No</a:t>
            </a:r>
            <a:endParaRPr/>
          </a:p>
        </p:txBody>
      </p:sp>
      <p:cxnSp>
        <p:nvCxnSpPr>
          <p:cNvPr id="884" name="Google Shape;884;p49"/>
          <p:cNvCxnSpPr>
            <a:stCxn id="870" idx="2"/>
            <a:endCxn id="881" idx="0"/>
          </p:cNvCxnSpPr>
          <p:nvPr/>
        </p:nvCxnSpPr>
        <p:spPr>
          <a:xfrm flipH="1">
            <a:off x="1851265" y="6362700"/>
            <a:ext cx="1967700" cy="1356300"/>
          </a:xfrm>
          <a:prstGeom prst="straightConnector1">
            <a:avLst/>
          </a:prstGeom>
          <a:noFill/>
          <a:ln cap="flat" cmpd="sng" w="9525">
            <a:solidFill>
              <a:srgbClr val="4A7DBA"/>
            </a:solidFill>
            <a:prstDash val="solid"/>
            <a:round/>
            <a:headEnd len="sm" w="sm" type="none"/>
            <a:tailEnd len="med" w="med" type="triangle"/>
          </a:ln>
        </p:spPr>
      </p:cxnSp>
      <p:cxnSp>
        <p:nvCxnSpPr>
          <p:cNvPr id="885" name="Google Shape;885;p49"/>
          <p:cNvCxnSpPr>
            <a:stCxn id="870" idx="2"/>
          </p:cNvCxnSpPr>
          <p:nvPr/>
        </p:nvCxnSpPr>
        <p:spPr>
          <a:xfrm>
            <a:off x="3818965" y="6362700"/>
            <a:ext cx="1759500" cy="1371600"/>
          </a:xfrm>
          <a:prstGeom prst="straightConnector1">
            <a:avLst/>
          </a:prstGeom>
          <a:noFill/>
          <a:ln cap="flat" cmpd="sng" w="9525">
            <a:solidFill>
              <a:srgbClr val="4A7DBA"/>
            </a:solidFill>
            <a:prstDash val="solid"/>
            <a:round/>
            <a:headEnd len="sm" w="sm" type="none"/>
            <a:tailEnd len="med" w="med" type="triangle"/>
          </a:ln>
        </p:spPr>
      </p:cxnSp>
      <p:cxnSp>
        <p:nvCxnSpPr>
          <p:cNvPr id="886" name="Google Shape;886;p49"/>
          <p:cNvCxnSpPr>
            <a:stCxn id="873" idx="2"/>
            <a:endCxn id="883" idx="0"/>
          </p:cNvCxnSpPr>
          <p:nvPr/>
        </p:nvCxnSpPr>
        <p:spPr>
          <a:xfrm flipH="1">
            <a:off x="11016909" y="6409765"/>
            <a:ext cx="1042800" cy="1366200"/>
          </a:xfrm>
          <a:prstGeom prst="straightConnector1">
            <a:avLst/>
          </a:prstGeom>
          <a:noFill/>
          <a:ln cap="flat" cmpd="sng" w="9525">
            <a:solidFill>
              <a:srgbClr val="4A7DBA"/>
            </a:solidFill>
            <a:prstDash val="solid"/>
            <a:round/>
            <a:headEnd len="sm" w="sm" type="none"/>
            <a:tailEnd len="med" w="med" type="triangle"/>
          </a:ln>
        </p:spPr>
      </p:cxnSp>
      <p:cxnSp>
        <p:nvCxnSpPr>
          <p:cNvPr id="887" name="Google Shape;887;p49"/>
          <p:cNvCxnSpPr>
            <a:stCxn id="873" idx="2"/>
            <a:endCxn id="882" idx="0"/>
          </p:cNvCxnSpPr>
          <p:nvPr/>
        </p:nvCxnSpPr>
        <p:spPr>
          <a:xfrm>
            <a:off x="12059709" y="6409765"/>
            <a:ext cx="2780700" cy="1381500"/>
          </a:xfrm>
          <a:prstGeom prst="straightConnector1">
            <a:avLst/>
          </a:prstGeom>
          <a:noFill/>
          <a:ln cap="flat" cmpd="sng" w="9525">
            <a:solidFill>
              <a:srgbClr val="4A7DBA"/>
            </a:solidFill>
            <a:prstDash val="solid"/>
            <a:round/>
            <a:headEnd len="sm" w="sm" type="none"/>
            <a:tailEnd len="med" w="med" type="triangle"/>
          </a:ln>
        </p:spPr>
      </p:cxnSp>
      <p:sp>
        <p:nvSpPr>
          <p:cNvPr id="888" name="Google Shape;888;p49"/>
          <p:cNvSpPr txBox="1"/>
          <p:nvPr/>
        </p:nvSpPr>
        <p:spPr>
          <a:xfrm>
            <a:off x="1847307" y="6755368"/>
            <a:ext cx="1828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High </a:t>
            </a:r>
            <a:endParaRPr/>
          </a:p>
        </p:txBody>
      </p:sp>
      <p:sp>
        <p:nvSpPr>
          <p:cNvPr id="889" name="Google Shape;889;p49"/>
          <p:cNvSpPr txBox="1"/>
          <p:nvPr/>
        </p:nvSpPr>
        <p:spPr>
          <a:xfrm>
            <a:off x="5025809" y="6723477"/>
            <a:ext cx="1828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Normal</a:t>
            </a:r>
            <a:endParaRPr/>
          </a:p>
        </p:txBody>
      </p:sp>
      <p:sp>
        <p:nvSpPr>
          <p:cNvPr id="890" name="Google Shape;890;p49"/>
          <p:cNvSpPr txBox="1"/>
          <p:nvPr/>
        </p:nvSpPr>
        <p:spPr>
          <a:xfrm>
            <a:off x="10428009" y="6785254"/>
            <a:ext cx="1828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Strong</a:t>
            </a:r>
            <a:endParaRPr/>
          </a:p>
        </p:txBody>
      </p:sp>
      <p:sp>
        <p:nvSpPr>
          <p:cNvPr id="891" name="Google Shape;891;p49"/>
          <p:cNvSpPr txBox="1"/>
          <p:nvPr/>
        </p:nvSpPr>
        <p:spPr>
          <a:xfrm>
            <a:off x="13767463" y="6789881"/>
            <a:ext cx="1828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Weak</a:t>
            </a:r>
            <a:endParaRPr/>
          </a:p>
        </p:txBody>
      </p:sp>
    </p:spTree>
  </p:cSld>
  <p:clrMapOvr>
    <a:masterClrMapping/>
  </p:clrMapOvr>
  <p:transition spd="slow">
    <p:push/>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grpSp>
        <p:nvGrpSpPr>
          <p:cNvPr id="897" name="Google Shape;897;p50"/>
          <p:cNvGrpSpPr/>
          <p:nvPr/>
        </p:nvGrpSpPr>
        <p:grpSpPr>
          <a:xfrm>
            <a:off x="13955786" y="-435680"/>
            <a:ext cx="4632524" cy="10996052"/>
            <a:chOff x="0" y="-47625"/>
            <a:chExt cx="1220089" cy="2896080"/>
          </a:xfrm>
        </p:grpSpPr>
        <p:sp>
          <p:nvSpPr>
            <p:cNvPr id="898" name="Google Shape;898;p50"/>
            <p:cNvSpPr/>
            <p:nvPr/>
          </p:nvSpPr>
          <p:spPr>
            <a:xfrm>
              <a:off x="0" y="0"/>
              <a:ext cx="1220089" cy="2848455"/>
            </a:xfrm>
            <a:custGeom>
              <a:rect b="b" l="l" r="r" t="t"/>
              <a:pathLst>
                <a:path extrusionOk="0" h="2848455" w="1220089">
                  <a:moveTo>
                    <a:pt x="0" y="0"/>
                  </a:moveTo>
                  <a:lnTo>
                    <a:pt x="1220089" y="0"/>
                  </a:lnTo>
                  <a:lnTo>
                    <a:pt x="1220089" y="2848455"/>
                  </a:lnTo>
                  <a:lnTo>
                    <a:pt x="0" y="2848455"/>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9" name="Google Shape;899;p50"/>
            <p:cNvSpPr txBox="1"/>
            <p:nvPr/>
          </p:nvSpPr>
          <p:spPr>
            <a:xfrm>
              <a:off x="0" y="-47625"/>
              <a:ext cx="1220089" cy="289608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00" name="Google Shape;900;p50"/>
          <p:cNvSpPr/>
          <p:nvPr/>
        </p:nvSpPr>
        <p:spPr>
          <a:xfrm rot="-5400000">
            <a:off x="11952046" y="3265440"/>
            <a:ext cx="7715094" cy="3707614"/>
          </a:xfrm>
          <a:custGeom>
            <a:rect b="b" l="l" r="r" t="t"/>
            <a:pathLst>
              <a:path extrusionOk="0" h="3707614" w="7715094">
                <a:moveTo>
                  <a:pt x="0" y="0"/>
                </a:moveTo>
                <a:lnTo>
                  <a:pt x="7715094" y="0"/>
                </a:lnTo>
                <a:lnTo>
                  <a:pt x="7715094" y="3707614"/>
                </a:lnTo>
                <a:lnTo>
                  <a:pt x="0" y="3707614"/>
                </a:lnTo>
                <a:lnTo>
                  <a:pt x="0" y="0"/>
                </a:lnTo>
                <a:close/>
              </a:path>
            </a:pathLst>
          </a:custGeom>
          <a:blipFill rotWithShape="1">
            <a:blip r:embed="rId3">
              <a:alphaModFix/>
            </a:blip>
            <a:stretch>
              <a:fillRect b="0" l="0" r="0" t="-593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1" name="Google Shape;901;p50"/>
          <p:cNvSpPr txBox="1"/>
          <p:nvPr/>
        </p:nvSpPr>
        <p:spPr>
          <a:xfrm>
            <a:off x="1311647" y="4214179"/>
            <a:ext cx="8822953" cy="769441"/>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5035" u="none" strike="noStrike">
                <a:solidFill>
                  <a:srgbClr val="2A2E3A"/>
                </a:solidFill>
                <a:latin typeface="Montserrat"/>
                <a:ea typeface="Montserrat"/>
                <a:cs typeface="Montserrat"/>
                <a:sym typeface="Montserrat"/>
              </a:rPr>
              <a:t>Evaluation</a:t>
            </a:r>
            <a:endParaRPr/>
          </a:p>
        </p:txBody>
      </p:sp>
      <p:sp>
        <p:nvSpPr>
          <p:cNvPr id="902" name="Google Shape;902;p50"/>
          <p:cNvSpPr txBox="1"/>
          <p:nvPr/>
        </p:nvSpPr>
        <p:spPr>
          <a:xfrm>
            <a:off x="1259652" y="5143500"/>
            <a:ext cx="10779948" cy="957634"/>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lang="en-US" sz="6792">
                <a:solidFill>
                  <a:srgbClr val="08377C"/>
                </a:solidFill>
                <a:latin typeface="Montserrat"/>
                <a:ea typeface="Montserrat"/>
                <a:cs typeface="Montserrat"/>
                <a:sym typeface="Montserrat"/>
              </a:rPr>
              <a:t>in Classification</a:t>
            </a:r>
            <a:endParaRPr b="1" sz="6792" u="none" strike="noStrike">
              <a:solidFill>
                <a:srgbClr val="08377C"/>
              </a:solidFill>
              <a:latin typeface="Montserrat"/>
              <a:ea typeface="Montserrat"/>
              <a:cs typeface="Montserrat"/>
              <a:sym typeface="Montserrat"/>
            </a:endParaRPr>
          </a:p>
        </p:txBody>
      </p:sp>
      <p:sp>
        <p:nvSpPr>
          <p:cNvPr id="903" name="Google Shape;903;p50"/>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4">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4" name="Google Shape;904;p50"/>
          <p:cNvSpPr txBox="1"/>
          <p:nvPr/>
        </p:nvSpPr>
        <p:spPr>
          <a:xfrm>
            <a:off x="14721159" y="4804810"/>
            <a:ext cx="2237609" cy="730456"/>
          </a:xfrm>
          <a:prstGeom prst="rect">
            <a:avLst/>
          </a:prstGeom>
          <a:noFill/>
          <a:ln>
            <a:noFill/>
          </a:ln>
        </p:spPr>
        <p:txBody>
          <a:bodyPr anchorCtr="0" anchor="t" bIns="0" lIns="0" spcFirstLastPara="1" rIns="0" wrap="square" tIns="0">
            <a:spAutoFit/>
          </a:bodyPr>
          <a:lstStyle/>
          <a:p>
            <a:pPr indent="0" lvl="0" marL="0" marR="0" rtl="0" algn="l">
              <a:lnSpc>
                <a:spcPct val="42789"/>
              </a:lnSpc>
              <a:spcBef>
                <a:spcPts val="0"/>
              </a:spcBef>
              <a:spcAft>
                <a:spcPts val="0"/>
              </a:spcAft>
              <a:buNone/>
            </a:pPr>
            <a:r>
              <a:rPr lang="en-US" sz="10000">
                <a:solidFill>
                  <a:schemeClr val="lt1"/>
                </a:solidFill>
                <a:latin typeface="Montserrat"/>
                <a:ea typeface="Montserrat"/>
                <a:cs typeface="Montserrat"/>
                <a:sym typeface="Montserrat"/>
              </a:rPr>
              <a:t>04</a:t>
            </a:r>
            <a:endParaRPr/>
          </a:p>
        </p:txBody>
      </p:sp>
    </p:spTree>
  </p:cSld>
  <p:clrMapOvr>
    <a:masterClrMapping/>
  </p:clrMapOvr>
  <p:transition spd="slow">
    <p:push/>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pic>
        <p:nvPicPr>
          <p:cNvPr id="910" name="Google Shape;910;p51"/>
          <p:cNvPicPr preferRelativeResize="0"/>
          <p:nvPr/>
        </p:nvPicPr>
        <p:blipFill rotWithShape="1">
          <a:blip r:embed="rId3">
            <a:alphaModFix/>
          </a:blip>
          <a:srcRect b="0" l="0" r="0" t="0"/>
          <a:stretch/>
        </p:blipFill>
        <p:spPr>
          <a:xfrm>
            <a:off x="1474427" y="1709779"/>
            <a:ext cx="15240000" cy="8210550"/>
          </a:xfrm>
          <a:prstGeom prst="rect">
            <a:avLst/>
          </a:prstGeom>
          <a:noFill/>
          <a:ln>
            <a:noFill/>
          </a:ln>
        </p:spPr>
      </p:pic>
      <p:grpSp>
        <p:nvGrpSpPr>
          <p:cNvPr id="911" name="Google Shape;911;p51"/>
          <p:cNvGrpSpPr/>
          <p:nvPr/>
        </p:nvGrpSpPr>
        <p:grpSpPr>
          <a:xfrm>
            <a:off x="17016492" y="-180826"/>
            <a:ext cx="1271508" cy="10467826"/>
            <a:chOff x="0" y="-47625"/>
            <a:chExt cx="334883" cy="2756958"/>
          </a:xfrm>
        </p:grpSpPr>
        <p:sp>
          <p:nvSpPr>
            <p:cNvPr id="912" name="Google Shape;912;p51"/>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3" name="Google Shape;913;p51"/>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14" name="Google Shape;914;p51"/>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4">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5" name="Google Shape;915;p51"/>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916" name="Google Shape;916;p51"/>
          <p:cNvSpPr txBox="1"/>
          <p:nvPr/>
        </p:nvSpPr>
        <p:spPr>
          <a:xfrm>
            <a:off x="4152286" y="1328699"/>
            <a:ext cx="9983428" cy="81734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Serupa tapi tak sama</a:t>
            </a:r>
            <a:endParaRPr b="1" sz="5792">
              <a:solidFill>
                <a:srgbClr val="08377C"/>
              </a:solidFill>
              <a:latin typeface="Montserrat"/>
              <a:ea typeface="Montserrat"/>
              <a:cs typeface="Montserrat"/>
              <a:sym typeface="Montserrat"/>
            </a:endParaRPr>
          </a:p>
        </p:txBody>
      </p:sp>
    </p:spTree>
  </p:cSld>
  <p:clrMapOvr>
    <a:masterClrMapping/>
  </p:clrMapOvr>
  <p:transition spd="slow">
    <p:push/>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grpSp>
        <p:nvGrpSpPr>
          <p:cNvPr id="922" name="Google Shape;922;p52"/>
          <p:cNvGrpSpPr/>
          <p:nvPr/>
        </p:nvGrpSpPr>
        <p:grpSpPr>
          <a:xfrm>
            <a:off x="17016492" y="-180826"/>
            <a:ext cx="1271508" cy="10467826"/>
            <a:chOff x="0" y="-47625"/>
            <a:chExt cx="334883" cy="2756958"/>
          </a:xfrm>
        </p:grpSpPr>
        <p:sp>
          <p:nvSpPr>
            <p:cNvPr id="923" name="Google Shape;923;p52"/>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4" name="Google Shape;924;p52"/>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25" name="Google Shape;925;p52"/>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6" name="Google Shape;926;p52"/>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927" name="Google Shape;927;p52"/>
          <p:cNvSpPr txBox="1"/>
          <p:nvPr/>
        </p:nvSpPr>
        <p:spPr>
          <a:xfrm>
            <a:off x="4152286" y="1328699"/>
            <a:ext cx="9983428" cy="81734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Confusion Matrix</a:t>
            </a:r>
            <a:endParaRPr/>
          </a:p>
        </p:txBody>
      </p:sp>
      <p:sp>
        <p:nvSpPr>
          <p:cNvPr id="928" name="Google Shape;928;p52"/>
          <p:cNvSpPr/>
          <p:nvPr/>
        </p:nvSpPr>
        <p:spPr>
          <a:xfrm>
            <a:off x="8493228" y="3314700"/>
            <a:ext cx="7543800" cy="332398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i="1" lang="en-US" sz="2800">
                <a:solidFill>
                  <a:schemeClr val="dk1"/>
                </a:solidFill>
                <a:latin typeface="Montserrat"/>
                <a:ea typeface="Montserrat"/>
                <a:cs typeface="Montserrat"/>
                <a:sym typeface="Montserrat"/>
              </a:rPr>
              <a:t>Confusion matrix</a:t>
            </a:r>
            <a:r>
              <a:rPr lang="en-US" sz="2800">
                <a:solidFill>
                  <a:schemeClr val="dk1"/>
                </a:solidFill>
                <a:latin typeface="Montserrat"/>
                <a:ea typeface="Montserrat"/>
                <a:cs typeface="Montserrat"/>
                <a:sym typeface="Montserrat"/>
              </a:rPr>
              <a:t> adalah alat untuk mengevaluasi kinerja model klasifikasi dengan menunjukkan jumlah prediksi yang benar dan salah dalam format tabel. </a:t>
            </a:r>
            <a:endParaRPr/>
          </a:p>
        </p:txBody>
      </p:sp>
      <p:pic>
        <p:nvPicPr>
          <p:cNvPr descr="dos-ad83c262ee2432f5fedfa32b2a19c69b20241015153232.jpeg" id="929" name="Google Shape;929;p52"/>
          <p:cNvPicPr preferRelativeResize="0"/>
          <p:nvPr/>
        </p:nvPicPr>
        <p:blipFill rotWithShape="1">
          <a:blip r:embed="rId4">
            <a:alphaModFix/>
          </a:blip>
          <a:srcRect b="0" l="14530" r="14785" t="21149"/>
          <a:stretch/>
        </p:blipFill>
        <p:spPr>
          <a:xfrm>
            <a:off x="714606" y="2857500"/>
            <a:ext cx="6875359" cy="4419600"/>
          </a:xfrm>
          <a:prstGeom prst="rect">
            <a:avLst/>
          </a:prstGeom>
          <a:noFill/>
          <a:ln>
            <a:noFill/>
          </a:ln>
        </p:spPr>
      </p:pic>
      <p:sp>
        <p:nvSpPr>
          <p:cNvPr id="930" name="Google Shape;930;p52"/>
          <p:cNvSpPr/>
          <p:nvPr/>
        </p:nvSpPr>
        <p:spPr>
          <a:xfrm>
            <a:off x="1143000" y="7193537"/>
            <a:ext cx="15163800" cy="188692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000"/>
              <a:buFont typeface="Arial"/>
              <a:buChar char="•"/>
            </a:pPr>
            <a:r>
              <a:rPr b="1" lang="en-US" sz="2000">
                <a:solidFill>
                  <a:schemeClr val="dk1"/>
                </a:solidFill>
                <a:latin typeface="Montserrat"/>
                <a:ea typeface="Montserrat"/>
                <a:cs typeface="Montserrat"/>
                <a:sym typeface="Montserrat"/>
              </a:rPr>
              <a:t>True Positives (TP):</a:t>
            </a:r>
            <a:r>
              <a:rPr lang="en-US" sz="2000">
                <a:solidFill>
                  <a:schemeClr val="dk1"/>
                </a:solidFill>
                <a:latin typeface="Montserrat"/>
                <a:ea typeface="Montserrat"/>
                <a:cs typeface="Montserrat"/>
                <a:sym typeface="Montserrat"/>
              </a:rPr>
              <a:t> jumlah kasus positif yang benar-benar diprediksi sebagai positif.</a:t>
            </a:r>
            <a:endParaRPr/>
          </a:p>
          <a:p>
            <a:pPr indent="-457200" lvl="0" marL="457200" marR="0" rtl="0" algn="just">
              <a:lnSpc>
                <a:spcPct val="150000"/>
              </a:lnSpc>
              <a:spcBef>
                <a:spcPts val="0"/>
              </a:spcBef>
              <a:spcAft>
                <a:spcPts val="0"/>
              </a:spcAft>
              <a:buClr>
                <a:schemeClr val="dk1"/>
              </a:buClr>
              <a:buSzPts val="2000"/>
              <a:buFont typeface="Arial"/>
              <a:buChar char="•"/>
            </a:pPr>
            <a:r>
              <a:rPr b="1" lang="en-US" sz="2000">
                <a:solidFill>
                  <a:schemeClr val="dk1"/>
                </a:solidFill>
                <a:latin typeface="Montserrat"/>
                <a:ea typeface="Montserrat"/>
                <a:cs typeface="Montserrat"/>
                <a:sym typeface="Montserrat"/>
              </a:rPr>
              <a:t>True Negatives (TN):</a:t>
            </a:r>
            <a:r>
              <a:rPr lang="en-US" sz="2000">
                <a:solidFill>
                  <a:schemeClr val="dk1"/>
                </a:solidFill>
                <a:latin typeface="Montserrat"/>
                <a:ea typeface="Montserrat"/>
                <a:cs typeface="Montserrat"/>
                <a:sym typeface="Montserrat"/>
              </a:rPr>
              <a:t> jumlah kasus negatif yang benar-benar diprediksi sebagai negatif.</a:t>
            </a:r>
            <a:endParaRPr/>
          </a:p>
          <a:p>
            <a:pPr indent="-457200" lvl="0" marL="457200" marR="0" rtl="0" algn="just">
              <a:lnSpc>
                <a:spcPct val="150000"/>
              </a:lnSpc>
              <a:spcBef>
                <a:spcPts val="0"/>
              </a:spcBef>
              <a:spcAft>
                <a:spcPts val="0"/>
              </a:spcAft>
              <a:buClr>
                <a:schemeClr val="dk1"/>
              </a:buClr>
              <a:buSzPts val="2000"/>
              <a:buFont typeface="Arial"/>
              <a:buChar char="•"/>
            </a:pPr>
            <a:r>
              <a:rPr b="1" lang="en-US" sz="2000">
                <a:solidFill>
                  <a:schemeClr val="dk1"/>
                </a:solidFill>
                <a:latin typeface="Montserrat"/>
                <a:ea typeface="Montserrat"/>
                <a:cs typeface="Montserrat"/>
                <a:sym typeface="Montserrat"/>
              </a:rPr>
              <a:t>False Positives (FP):</a:t>
            </a:r>
            <a:r>
              <a:rPr lang="en-US" sz="2000">
                <a:solidFill>
                  <a:schemeClr val="dk1"/>
                </a:solidFill>
                <a:latin typeface="Montserrat"/>
                <a:ea typeface="Montserrat"/>
                <a:cs typeface="Montserrat"/>
                <a:sym typeface="Montserrat"/>
              </a:rPr>
              <a:t> jumlah kasus negatif yang diprediksi sebagai positif (juga dikenal sebagai kesalahan tipe I).</a:t>
            </a:r>
            <a:endParaRPr/>
          </a:p>
          <a:p>
            <a:pPr indent="-457200" lvl="0" marL="457200" marR="0" rtl="0" algn="just">
              <a:lnSpc>
                <a:spcPct val="150000"/>
              </a:lnSpc>
              <a:spcBef>
                <a:spcPts val="0"/>
              </a:spcBef>
              <a:spcAft>
                <a:spcPts val="0"/>
              </a:spcAft>
              <a:buClr>
                <a:schemeClr val="dk1"/>
              </a:buClr>
              <a:buSzPts val="2000"/>
              <a:buFont typeface="Arial"/>
              <a:buChar char="•"/>
            </a:pPr>
            <a:r>
              <a:rPr b="1" lang="en-US" sz="2000">
                <a:solidFill>
                  <a:schemeClr val="dk1"/>
                </a:solidFill>
                <a:latin typeface="Montserrat"/>
                <a:ea typeface="Montserrat"/>
                <a:cs typeface="Montserrat"/>
                <a:sym typeface="Montserrat"/>
              </a:rPr>
              <a:t>False Negatives (FN):</a:t>
            </a:r>
            <a:r>
              <a:rPr lang="en-US" sz="2000">
                <a:solidFill>
                  <a:schemeClr val="dk1"/>
                </a:solidFill>
                <a:latin typeface="Montserrat"/>
                <a:ea typeface="Montserrat"/>
                <a:cs typeface="Montserrat"/>
                <a:sym typeface="Montserrat"/>
              </a:rPr>
              <a:t> jumlah kasus positif yang diprediksi sebagai negatif (juga dikenal sebagai kesalahan tipe II).</a:t>
            </a:r>
            <a:endParaRPr/>
          </a:p>
        </p:txBody>
      </p:sp>
    </p:spTree>
  </p:cSld>
  <p:clrMapOvr>
    <a:masterClrMapping/>
  </p:clrMapOvr>
  <p:transition spd="slow">
    <p:push/>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grpSp>
        <p:nvGrpSpPr>
          <p:cNvPr id="936" name="Google Shape;936;p53"/>
          <p:cNvGrpSpPr/>
          <p:nvPr/>
        </p:nvGrpSpPr>
        <p:grpSpPr>
          <a:xfrm>
            <a:off x="17016492" y="-180826"/>
            <a:ext cx="1271508" cy="10467826"/>
            <a:chOff x="0" y="-47625"/>
            <a:chExt cx="334883" cy="2756958"/>
          </a:xfrm>
        </p:grpSpPr>
        <p:sp>
          <p:nvSpPr>
            <p:cNvPr id="937" name="Google Shape;937;p53"/>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8" name="Google Shape;938;p53"/>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39" name="Google Shape;939;p53"/>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0" name="Google Shape;940;p53"/>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sp>
        <p:nvSpPr>
          <p:cNvPr id="941" name="Google Shape;941;p53"/>
          <p:cNvSpPr txBox="1"/>
          <p:nvPr/>
        </p:nvSpPr>
        <p:spPr>
          <a:xfrm>
            <a:off x="4152286" y="1328699"/>
            <a:ext cx="9983428" cy="81734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lang="en-US" sz="5792">
                <a:solidFill>
                  <a:srgbClr val="08377C"/>
                </a:solidFill>
                <a:latin typeface="Montserrat"/>
                <a:ea typeface="Montserrat"/>
                <a:cs typeface="Montserrat"/>
                <a:sym typeface="Montserrat"/>
              </a:rPr>
              <a:t>Confusion Matrix</a:t>
            </a:r>
            <a:endParaRPr/>
          </a:p>
        </p:txBody>
      </p:sp>
      <p:pic>
        <p:nvPicPr>
          <p:cNvPr descr="dos-80cbb62ff55204a33c9e4d575569a6a520241015153232.jpeg" id="942" name="Google Shape;942;p53"/>
          <p:cNvPicPr preferRelativeResize="0"/>
          <p:nvPr/>
        </p:nvPicPr>
        <p:blipFill rotWithShape="1">
          <a:blip r:embed="rId4">
            <a:alphaModFix/>
          </a:blip>
          <a:srcRect b="7180" l="9677" r="4839" t="6537"/>
          <a:stretch/>
        </p:blipFill>
        <p:spPr>
          <a:xfrm>
            <a:off x="225597" y="3213100"/>
            <a:ext cx="8077200" cy="5029200"/>
          </a:xfrm>
          <a:prstGeom prst="rect">
            <a:avLst/>
          </a:prstGeom>
          <a:noFill/>
          <a:ln>
            <a:noFill/>
          </a:ln>
        </p:spPr>
      </p:pic>
      <p:graphicFrame>
        <p:nvGraphicFramePr>
          <p:cNvPr id="943" name="Google Shape;943;p53"/>
          <p:cNvGraphicFramePr/>
          <p:nvPr/>
        </p:nvGraphicFramePr>
        <p:xfrm>
          <a:off x="8458200" y="2837180"/>
          <a:ext cx="3000000" cy="3000000"/>
        </p:xfrm>
        <a:graphic>
          <a:graphicData uri="http://schemas.openxmlformats.org/drawingml/2006/table">
            <a:tbl>
              <a:tblPr bandRow="1" firstRow="1">
                <a:noFill/>
                <a:tableStyleId>{2C90F9C7-CA72-463E-B247-5019459E9078}</a:tableStyleId>
              </a:tblPr>
              <a:tblGrid>
                <a:gridCol w="2819400"/>
                <a:gridCol w="2133600"/>
                <a:gridCol w="3048000"/>
              </a:tblGrid>
              <a:tr h="370850">
                <a:tc>
                  <a:txBody>
                    <a:bodyPr/>
                    <a:lstStyle/>
                    <a:p>
                      <a:pPr indent="0" lvl="0" marL="0" marR="0" rtl="0" algn="ctr">
                        <a:spcBef>
                          <a:spcPts val="0"/>
                        </a:spcBef>
                        <a:spcAft>
                          <a:spcPts val="0"/>
                        </a:spcAft>
                        <a:buNone/>
                      </a:pPr>
                      <a:r>
                        <a:t/>
                      </a:r>
                      <a:endParaRPr sz="1800">
                        <a:latin typeface="Montserrat"/>
                        <a:ea typeface="Montserrat"/>
                        <a:cs typeface="Montserrat"/>
                        <a:sym typeface="Montserrat"/>
                      </a:endParaRPr>
                    </a:p>
                  </a:txBody>
                  <a:tcPr marT="45725" marB="45725" marR="91450" marL="91450"/>
                </a:tc>
                <a:tc>
                  <a:txBody>
                    <a:bodyPr/>
                    <a:lstStyle/>
                    <a:p>
                      <a:pPr indent="0" lvl="0" marL="0" marR="0" rtl="0" algn="ctr">
                        <a:spcBef>
                          <a:spcPts val="0"/>
                        </a:spcBef>
                        <a:spcAft>
                          <a:spcPts val="0"/>
                        </a:spcAft>
                        <a:buNone/>
                      </a:pPr>
                      <a:r>
                        <a:rPr lang="en-US" sz="1800">
                          <a:latin typeface="Montserrat"/>
                          <a:ea typeface="Montserrat"/>
                          <a:cs typeface="Montserrat"/>
                          <a:sym typeface="Montserrat"/>
                        </a:rPr>
                        <a:t>Prediksi Spam</a:t>
                      </a:r>
                      <a:endParaRPr/>
                    </a:p>
                  </a:txBody>
                  <a:tcPr marT="45725" marB="45725" marR="91450" marL="91450"/>
                </a:tc>
                <a:tc>
                  <a:txBody>
                    <a:bodyPr/>
                    <a:lstStyle/>
                    <a:p>
                      <a:pPr indent="0" lvl="0" marL="0" marR="0" rtl="0" algn="ctr">
                        <a:spcBef>
                          <a:spcPts val="0"/>
                        </a:spcBef>
                        <a:spcAft>
                          <a:spcPts val="0"/>
                        </a:spcAft>
                        <a:buNone/>
                      </a:pPr>
                      <a:r>
                        <a:rPr lang="en-US" sz="1800">
                          <a:latin typeface="Montserrat"/>
                          <a:ea typeface="Montserrat"/>
                          <a:cs typeface="Montserrat"/>
                          <a:sym typeface="Montserrat"/>
                        </a:rPr>
                        <a:t>Prediksi Bukan Spam</a:t>
                      </a:r>
                      <a:endParaRPr/>
                    </a:p>
                  </a:txBody>
                  <a:tcPr marT="45725" marB="45725" marR="91450" marL="91450"/>
                </a:tc>
              </a:tr>
              <a:tr h="370850">
                <a:tc>
                  <a:txBody>
                    <a:bodyPr/>
                    <a:lstStyle/>
                    <a:p>
                      <a:pPr indent="0" lvl="0" marL="0" marR="0" rtl="0" algn="ctr">
                        <a:spcBef>
                          <a:spcPts val="0"/>
                        </a:spcBef>
                        <a:spcAft>
                          <a:spcPts val="0"/>
                        </a:spcAft>
                        <a:buNone/>
                      </a:pPr>
                      <a:r>
                        <a:rPr lang="en-US" sz="1800">
                          <a:latin typeface="Montserrat"/>
                          <a:ea typeface="Montserrat"/>
                          <a:cs typeface="Montserrat"/>
                          <a:sym typeface="Montserrat"/>
                        </a:rPr>
                        <a:t>Spam Actual</a:t>
                      </a:r>
                      <a:endParaRPr/>
                    </a:p>
                  </a:txBody>
                  <a:tcPr marT="45725" marB="45725" marR="91450" marL="91450"/>
                </a:tc>
                <a:tc>
                  <a:txBody>
                    <a:bodyPr/>
                    <a:lstStyle/>
                    <a:p>
                      <a:pPr indent="0" lvl="0" marL="0" marR="0" rtl="0" algn="ctr">
                        <a:spcBef>
                          <a:spcPts val="0"/>
                        </a:spcBef>
                        <a:spcAft>
                          <a:spcPts val="0"/>
                        </a:spcAft>
                        <a:buNone/>
                      </a:pPr>
                      <a:r>
                        <a:rPr lang="en-US" sz="1800">
                          <a:latin typeface="Montserrat"/>
                          <a:ea typeface="Montserrat"/>
                          <a:cs typeface="Montserrat"/>
                          <a:sym typeface="Montserrat"/>
                        </a:rPr>
                        <a:t>30</a:t>
                      </a:r>
                      <a:endParaRPr/>
                    </a:p>
                  </a:txBody>
                  <a:tcPr marT="45725" marB="45725" marR="91450" marL="91450"/>
                </a:tc>
                <a:tc>
                  <a:txBody>
                    <a:bodyPr/>
                    <a:lstStyle/>
                    <a:p>
                      <a:pPr indent="0" lvl="0" marL="0" marR="0" rtl="0" algn="ctr">
                        <a:spcBef>
                          <a:spcPts val="0"/>
                        </a:spcBef>
                        <a:spcAft>
                          <a:spcPts val="0"/>
                        </a:spcAft>
                        <a:buNone/>
                      </a:pPr>
                      <a:r>
                        <a:rPr lang="en-US" sz="1800">
                          <a:latin typeface="Montserrat"/>
                          <a:ea typeface="Montserrat"/>
                          <a:cs typeface="Montserrat"/>
                          <a:sym typeface="Montserrat"/>
                        </a:rPr>
                        <a:t>10</a:t>
                      </a:r>
                      <a:endParaRPr/>
                    </a:p>
                  </a:txBody>
                  <a:tcPr marT="45725" marB="45725" marR="91450" marL="91450"/>
                </a:tc>
              </a:tr>
              <a:tr h="370850">
                <a:tc>
                  <a:txBody>
                    <a:bodyPr/>
                    <a:lstStyle/>
                    <a:p>
                      <a:pPr indent="0" lvl="0" marL="0" marR="0" rtl="0" algn="ctr">
                        <a:spcBef>
                          <a:spcPts val="0"/>
                        </a:spcBef>
                        <a:spcAft>
                          <a:spcPts val="0"/>
                        </a:spcAft>
                        <a:buNone/>
                      </a:pPr>
                      <a:r>
                        <a:rPr lang="en-US" sz="1800">
                          <a:latin typeface="Montserrat"/>
                          <a:ea typeface="Montserrat"/>
                          <a:cs typeface="Montserrat"/>
                          <a:sym typeface="Montserrat"/>
                        </a:rPr>
                        <a:t>Bukan Spam Actual</a:t>
                      </a:r>
                      <a:endParaRPr/>
                    </a:p>
                  </a:txBody>
                  <a:tcPr marT="45725" marB="45725" marR="91450" marL="91450"/>
                </a:tc>
                <a:tc>
                  <a:txBody>
                    <a:bodyPr/>
                    <a:lstStyle/>
                    <a:p>
                      <a:pPr indent="0" lvl="0" marL="0" marR="0" rtl="0" algn="ctr">
                        <a:spcBef>
                          <a:spcPts val="0"/>
                        </a:spcBef>
                        <a:spcAft>
                          <a:spcPts val="0"/>
                        </a:spcAft>
                        <a:buNone/>
                      </a:pPr>
                      <a:r>
                        <a:rPr lang="en-US" sz="1800">
                          <a:latin typeface="Montserrat"/>
                          <a:ea typeface="Montserrat"/>
                          <a:cs typeface="Montserrat"/>
                          <a:sym typeface="Montserrat"/>
                        </a:rPr>
                        <a:t>10</a:t>
                      </a:r>
                      <a:endParaRPr/>
                    </a:p>
                  </a:txBody>
                  <a:tcPr marT="45725" marB="45725" marR="91450" marL="91450"/>
                </a:tc>
                <a:tc>
                  <a:txBody>
                    <a:bodyPr/>
                    <a:lstStyle/>
                    <a:p>
                      <a:pPr indent="0" lvl="0" marL="0" marR="0" rtl="0" algn="ctr">
                        <a:spcBef>
                          <a:spcPts val="0"/>
                        </a:spcBef>
                        <a:spcAft>
                          <a:spcPts val="0"/>
                        </a:spcAft>
                        <a:buNone/>
                      </a:pPr>
                      <a:r>
                        <a:rPr lang="en-US" sz="1800">
                          <a:latin typeface="Montserrat"/>
                          <a:ea typeface="Montserrat"/>
                          <a:cs typeface="Montserrat"/>
                          <a:sym typeface="Montserrat"/>
                        </a:rPr>
                        <a:t>50</a:t>
                      </a:r>
                      <a:endParaRPr/>
                    </a:p>
                  </a:txBody>
                  <a:tcPr marT="45725" marB="45725" marR="91450" marL="91450"/>
                </a:tc>
              </a:tr>
            </a:tbl>
          </a:graphicData>
        </a:graphic>
      </p:graphicFrame>
      <p:pic>
        <p:nvPicPr>
          <p:cNvPr id="944" name="Google Shape;944;p53"/>
          <p:cNvPicPr preferRelativeResize="0"/>
          <p:nvPr/>
        </p:nvPicPr>
        <p:blipFill rotWithShape="1">
          <a:blip r:embed="rId5">
            <a:alphaModFix/>
          </a:blip>
          <a:srcRect b="0" l="0" r="0" t="0"/>
          <a:stretch/>
        </p:blipFill>
        <p:spPr>
          <a:xfrm>
            <a:off x="10058400" y="4598432"/>
            <a:ext cx="4996328" cy="1219200"/>
          </a:xfrm>
          <a:prstGeom prst="rect">
            <a:avLst/>
          </a:prstGeom>
          <a:noFill/>
          <a:ln>
            <a:noFill/>
          </a:ln>
        </p:spPr>
      </p:pic>
      <p:cxnSp>
        <p:nvCxnSpPr>
          <p:cNvPr id="945" name="Google Shape;945;p53"/>
          <p:cNvCxnSpPr>
            <a:endCxn id="944" idx="1"/>
          </p:cNvCxnSpPr>
          <p:nvPr/>
        </p:nvCxnSpPr>
        <p:spPr>
          <a:xfrm flipH="1" rot="10800000">
            <a:off x="8229600" y="5208032"/>
            <a:ext cx="1828800" cy="914400"/>
          </a:xfrm>
          <a:prstGeom prst="curvedConnector3">
            <a:avLst>
              <a:gd fmla="val 50000" name="adj1"/>
            </a:avLst>
          </a:prstGeom>
          <a:noFill/>
          <a:ln cap="flat" cmpd="sng" w="9525">
            <a:solidFill>
              <a:srgbClr val="4A7DBA"/>
            </a:solidFill>
            <a:prstDash val="solid"/>
            <a:round/>
            <a:headEnd len="sm" w="sm" type="none"/>
            <a:tailEnd len="med" w="med" type="triangle"/>
          </a:ln>
        </p:spPr>
      </p:cxnSp>
      <p:sp>
        <p:nvSpPr>
          <p:cNvPr id="946" name="Google Shape;946;p53"/>
          <p:cNvSpPr txBox="1"/>
          <p:nvPr/>
        </p:nvSpPr>
        <p:spPr>
          <a:xfrm>
            <a:off x="10058400" y="4229100"/>
            <a:ext cx="13716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Montserrat"/>
                <a:ea typeface="Montserrat"/>
                <a:cs typeface="Montserrat"/>
                <a:sym typeface="Montserrat"/>
              </a:rPr>
              <a:t>Example : </a:t>
            </a:r>
            <a:endParaRPr/>
          </a:p>
        </p:txBody>
      </p:sp>
    </p:spTree>
  </p:cSld>
  <p:clrMapOvr>
    <a:masterClrMapping/>
  </p:clrMapOvr>
  <p:transition spd="slow">
    <p:push/>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grpSp>
        <p:nvGrpSpPr>
          <p:cNvPr id="952" name="Google Shape;952;p54"/>
          <p:cNvGrpSpPr/>
          <p:nvPr/>
        </p:nvGrpSpPr>
        <p:grpSpPr>
          <a:xfrm>
            <a:off x="13955786" y="-435680"/>
            <a:ext cx="4632524" cy="10996052"/>
            <a:chOff x="0" y="-47625"/>
            <a:chExt cx="1220089" cy="2896080"/>
          </a:xfrm>
        </p:grpSpPr>
        <p:sp>
          <p:nvSpPr>
            <p:cNvPr id="953" name="Google Shape;953;p54"/>
            <p:cNvSpPr/>
            <p:nvPr/>
          </p:nvSpPr>
          <p:spPr>
            <a:xfrm>
              <a:off x="0" y="0"/>
              <a:ext cx="1220089" cy="2848455"/>
            </a:xfrm>
            <a:custGeom>
              <a:rect b="b" l="l" r="r" t="t"/>
              <a:pathLst>
                <a:path extrusionOk="0" h="2848455" w="1220089">
                  <a:moveTo>
                    <a:pt x="0" y="0"/>
                  </a:moveTo>
                  <a:lnTo>
                    <a:pt x="1220089" y="0"/>
                  </a:lnTo>
                  <a:lnTo>
                    <a:pt x="1220089" y="2848455"/>
                  </a:lnTo>
                  <a:lnTo>
                    <a:pt x="0" y="2848455"/>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4" name="Google Shape;954;p54"/>
            <p:cNvSpPr txBox="1"/>
            <p:nvPr/>
          </p:nvSpPr>
          <p:spPr>
            <a:xfrm>
              <a:off x="0" y="-47625"/>
              <a:ext cx="1220089" cy="289608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55" name="Google Shape;955;p54"/>
          <p:cNvSpPr/>
          <p:nvPr/>
        </p:nvSpPr>
        <p:spPr>
          <a:xfrm rot="-5400000">
            <a:off x="11952046" y="3265440"/>
            <a:ext cx="7715094" cy="3707614"/>
          </a:xfrm>
          <a:custGeom>
            <a:rect b="b" l="l" r="r" t="t"/>
            <a:pathLst>
              <a:path extrusionOk="0" h="3707614" w="7715094">
                <a:moveTo>
                  <a:pt x="0" y="0"/>
                </a:moveTo>
                <a:lnTo>
                  <a:pt x="7715094" y="0"/>
                </a:lnTo>
                <a:lnTo>
                  <a:pt x="7715094" y="3707614"/>
                </a:lnTo>
                <a:lnTo>
                  <a:pt x="0" y="3707614"/>
                </a:lnTo>
                <a:lnTo>
                  <a:pt x="0" y="0"/>
                </a:lnTo>
                <a:close/>
              </a:path>
            </a:pathLst>
          </a:custGeom>
          <a:blipFill rotWithShape="1">
            <a:blip r:embed="rId3">
              <a:alphaModFix/>
            </a:blip>
            <a:stretch>
              <a:fillRect b="0" l="0" r="0" t="-593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6" name="Google Shape;956;p54"/>
          <p:cNvSpPr txBox="1"/>
          <p:nvPr/>
        </p:nvSpPr>
        <p:spPr>
          <a:xfrm>
            <a:off x="1311647" y="4214179"/>
            <a:ext cx="8822953" cy="769441"/>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5035" u="none" strike="noStrike">
                <a:solidFill>
                  <a:srgbClr val="2A2E3A"/>
                </a:solidFill>
                <a:latin typeface="Montserrat"/>
                <a:ea typeface="Montserrat"/>
                <a:cs typeface="Montserrat"/>
                <a:sym typeface="Montserrat"/>
              </a:rPr>
              <a:t>Cara Kerja Model</a:t>
            </a:r>
            <a:endParaRPr/>
          </a:p>
        </p:txBody>
      </p:sp>
      <p:sp>
        <p:nvSpPr>
          <p:cNvPr id="957" name="Google Shape;957;p54"/>
          <p:cNvSpPr txBox="1"/>
          <p:nvPr/>
        </p:nvSpPr>
        <p:spPr>
          <a:xfrm>
            <a:off x="1259652" y="5143500"/>
            <a:ext cx="10779948" cy="957634"/>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lang="en-US" sz="6792" u="none" strike="noStrike">
                <a:solidFill>
                  <a:srgbClr val="08377C"/>
                </a:solidFill>
                <a:latin typeface="Montserrat"/>
                <a:ea typeface="Montserrat"/>
                <a:cs typeface="Montserrat"/>
                <a:sym typeface="Montserrat"/>
              </a:rPr>
              <a:t>Klasifikasi</a:t>
            </a:r>
            <a:endParaRPr b="1" sz="6792" u="none" strike="noStrike">
              <a:solidFill>
                <a:srgbClr val="08377C"/>
              </a:solidFill>
              <a:latin typeface="Montserrat"/>
              <a:ea typeface="Montserrat"/>
              <a:cs typeface="Montserrat"/>
              <a:sym typeface="Montserrat"/>
            </a:endParaRPr>
          </a:p>
        </p:txBody>
      </p:sp>
      <p:sp>
        <p:nvSpPr>
          <p:cNvPr id="958" name="Google Shape;958;p54"/>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4">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9" name="Google Shape;959;p54"/>
          <p:cNvSpPr txBox="1"/>
          <p:nvPr/>
        </p:nvSpPr>
        <p:spPr>
          <a:xfrm>
            <a:off x="14721159" y="4804810"/>
            <a:ext cx="2237609" cy="730456"/>
          </a:xfrm>
          <a:prstGeom prst="rect">
            <a:avLst/>
          </a:prstGeom>
          <a:noFill/>
          <a:ln>
            <a:noFill/>
          </a:ln>
        </p:spPr>
        <p:txBody>
          <a:bodyPr anchorCtr="0" anchor="t" bIns="0" lIns="0" spcFirstLastPara="1" rIns="0" wrap="square" tIns="0">
            <a:spAutoFit/>
          </a:bodyPr>
          <a:lstStyle/>
          <a:p>
            <a:pPr indent="0" lvl="0" marL="0" marR="0" rtl="0" algn="l">
              <a:lnSpc>
                <a:spcPct val="42789"/>
              </a:lnSpc>
              <a:spcBef>
                <a:spcPts val="0"/>
              </a:spcBef>
              <a:spcAft>
                <a:spcPts val="0"/>
              </a:spcAft>
              <a:buNone/>
            </a:pPr>
            <a:r>
              <a:rPr lang="en-US" sz="10000">
                <a:solidFill>
                  <a:schemeClr val="lt1"/>
                </a:solidFill>
                <a:latin typeface="Montserrat"/>
                <a:ea typeface="Montserrat"/>
                <a:cs typeface="Montserrat"/>
                <a:sym typeface="Montserrat"/>
              </a:rPr>
              <a:t>05</a:t>
            </a:r>
            <a:endParaRPr/>
          </a:p>
        </p:txBody>
      </p:sp>
    </p:spTree>
  </p:cSld>
  <p:clrMapOvr>
    <a:masterClrMapping/>
  </p:clrMapOvr>
  <p:transition spd="slow">
    <p:push/>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grpSp>
        <p:nvGrpSpPr>
          <p:cNvPr id="965" name="Google Shape;965;p55"/>
          <p:cNvGrpSpPr/>
          <p:nvPr/>
        </p:nvGrpSpPr>
        <p:grpSpPr>
          <a:xfrm>
            <a:off x="17016492" y="-180826"/>
            <a:ext cx="1271508" cy="10467826"/>
            <a:chOff x="0" y="-47625"/>
            <a:chExt cx="334883" cy="2756958"/>
          </a:xfrm>
        </p:grpSpPr>
        <p:sp>
          <p:nvSpPr>
            <p:cNvPr id="966" name="Google Shape;966;p55"/>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7" name="Google Shape;967;p55"/>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68" name="Google Shape;968;p55"/>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9" name="Google Shape;969;p55"/>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pic>
        <p:nvPicPr>
          <p:cNvPr id="970" name="Google Shape;970;p55"/>
          <p:cNvPicPr preferRelativeResize="0"/>
          <p:nvPr/>
        </p:nvPicPr>
        <p:blipFill rotWithShape="1">
          <a:blip r:embed="rId4">
            <a:alphaModFix/>
          </a:blip>
          <a:srcRect b="0" l="0" r="0" t="0"/>
          <a:stretch/>
        </p:blipFill>
        <p:spPr>
          <a:xfrm>
            <a:off x="1447800" y="876300"/>
            <a:ext cx="8686800" cy="2854486"/>
          </a:xfrm>
          <a:prstGeom prst="rect">
            <a:avLst/>
          </a:prstGeom>
          <a:noFill/>
          <a:ln cap="flat" cmpd="sng" w="9525">
            <a:solidFill>
              <a:schemeClr val="dk1"/>
            </a:solidFill>
            <a:prstDash val="solid"/>
            <a:round/>
            <a:headEnd len="sm" w="sm" type="none"/>
            <a:tailEnd len="sm" w="sm" type="none"/>
          </a:ln>
        </p:spPr>
      </p:pic>
      <p:pic>
        <p:nvPicPr>
          <p:cNvPr descr="Analisis Menggunakan NaiveBayes dengan Python pada Data Perawatan Kutil  dengan Cryotherapy | by DIANAWATI KHAERUNNISA | Medium" id="971" name="Google Shape;971;p55"/>
          <p:cNvPicPr preferRelativeResize="0"/>
          <p:nvPr/>
        </p:nvPicPr>
        <p:blipFill rotWithShape="1">
          <a:blip r:embed="rId5">
            <a:alphaModFix/>
          </a:blip>
          <a:srcRect b="0" l="0" r="0" t="4878"/>
          <a:stretch/>
        </p:blipFill>
        <p:spPr>
          <a:xfrm>
            <a:off x="2411968" y="4686300"/>
            <a:ext cx="8183632" cy="2971800"/>
          </a:xfrm>
          <a:prstGeom prst="rect">
            <a:avLst/>
          </a:prstGeom>
          <a:noFill/>
          <a:ln cap="flat" cmpd="sng" w="9525">
            <a:solidFill>
              <a:schemeClr val="dk1"/>
            </a:solidFill>
            <a:prstDash val="solid"/>
            <a:round/>
            <a:headEnd len="sm" w="sm" type="none"/>
            <a:tailEnd len="sm" w="sm" type="none"/>
          </a:ln>
        </p:spPr>
      </p:pic>
      <p:sp>
        <p:nvSpPr>
          <p:cNvPr id="972" name="Google Shape;972;p55"/>
          <p:cNvSpPr txBox="1"/>
          <p:nvPr/>
        </p:nvSpPr>
        <p:spPr>
          <a:xfrm>
            <a:off x="3429000" y="1405528"/>
            <a:ext cx="25146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rgbClr val="FF0000"/>
                </a:solidFill>
                <a:latin typeface="Calibri"/>
                <a:ea typeface="Calibri"/>
                <a:cs typeface="Calibri"/>
                <a:sym typeface="Calibri"/>
              </a:rPr>
              <a:t>Bisa Menggunakan: ---&gt;</a:t>
            </a:r>
            <a:endParaRPr/>
          </a:p>
        </p:txBody>
      </p:sp>
      <p:cxnSp>
        <p:nvCxnSpPr>
          <p:cNvPr id="973" name="Google Shape;973;p55"/>
          <p:cNvCxnSpPr/>
          <p:nvPr/>
        </p:nvCxnSpPr>
        <p:spPr>
          <a:xfrm flipH="1">
            <a:off x="3124201" y="2914618"/>
            <a:ext cx="1409699" cy="2457482"/>
          </a:xfrm>
          <a:prstGeom prst="straightConnector1">
            <a:avLst/>
          </a:prstGeom>
          <a:noFill/>
          <a:ln cap="flat" cmpd="sng" w="57150">
            <a:solidFill>
              <a:schemeClr val="accent2"/>
            </a:solidFill>
            <a:prstDash val="dash"/>
            <a:round/>
            <a:headEnd len="sm" w="sm" type="none"/>
            <a:tailEnd len="med" w="med" type="triangle"/>
          </a:ln>
        </p:spPr>
      </p:cxnSp>
      <p:pic>
        <p:nvPicPr>
          <p:cNvPr id="974" name="Google Shape;974;p55"/>
          <p:cNvPicPr preferRelativeResize="0"/>
          <p:nvPr/>
        </p:nvPicPr>
        <p:blipFill rotWithShape="1">
          <a:blip r:embed="rId6">
            <a:alphaModFix/>
          </a:blip>
          <a:srcRect b="0" l="0" r="0" t="0"/>
          <a:stretch/>
        </p:blipFill>
        <p:spPr>
          <a:xfrm>
            <a:off x="11201400" y="6362700"/>
            <a:ext cx="5284884" cy="3544073"/>
          </a:xfrm>
          <a:prstGeom prst="rect">
            <a:avLst/>
          </a:prstGeom>
          <a:noFill/>
          <a:ln cap="flat" cmpd="sng" w="9525">
            <a:solidFill>
              <a:schemeClr val="dk1"/>
            </a:solidFill>
            <a:prstDash val="solid"/>
            <a:round/>
            <a:headEnd len="sm" w="sm" type="none"/>
            <a:tailEnd len="sm" w="sm" type="none"/>
          </a:ln>
        </p:spPr>
      </p:pic>
      <p:sp>
        <p:nvSpPr>
          <p:cNvPr id="975" name="Google Shape;975;p55"/>
          <p:cNvSpPr/>
          <p:nvPr/>
        </p:nvSpPr>
        <p:spPr>
          <a:xfrm>
            <a:off x="538573" y="1426009"/>
            <a:ext cx="738664" cy="738664"/>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1.</a:t>
            </a:r>
            <a:endParaRPr/>
          </a:p>
        </p:txBody>
      </p:sp>
      <p:sp>
        <p:nvSpPr>
          <p:cNvPr id="976" name="Google Shape;976;p55"/>
          <p:cNvSpPr/>
          <p:nvPr/>
        </p:nvSpPr>
        <p:spPr>
          <a:xfrm>
            <a:off x="1673304" y="4533900"/>
            <a:ext cx="738664" cy="738664"/>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2.</a:t>
            </a:r>
            <a:endParaRPr/>
          </a:p>
        </p:txBody>
      </p:sp>
      <p:cxnSp>
        <p:nvCxnSpPr>
          <p:cNvPr id="977" name="Google Shape;977;p55"/>
          <p:cNvCxnSpPr/>
          <p:nvPr/>
        </p:nvCxnSpPr>
        <p:spPr>
          <a:xfrm>
            <a:off x="4953000" y="4457700"/>
            <a:ext cx="8686800" cy="2743200"/>
          </a:xfrm>
          <a:prstGeom prst="bentConnector3">
            <a:avLst>
              <a:gd fmla="val 99845" name="adj1"/>
            </a:avLst>
          </a:prstGeom>
          <a:noFill/>
          <a:ln cap="flat" cmpd="sng" w="57150">
            <a:solidFill>
              <a:schemeClr val="accent2"/>
            </a:solidFill>
            <a:prstDash val="dash"/>
            <a:round/>
            <a:headEnd len="sm" w="sm" type="none"/>
            <a:tailEnd len="med" w="med" type="triangle"/>
          </a:ln>
        </p:spPr>
      </p:cxnSp>
      <p:cxnSp>
        <p:nvCxnSpPr>
          <p:cNvPr id="978" name="Google Shape;978;p55"/>
          <p:cNvCxnSpPr/>
          <p:nvPr/>
        </p:nvCxnSpPr>
        <p:spPr>
          <a:xfrm rot="10800000">
            <a:off x="4953000" y="4381500"/>
            <a:ext cx="0" cy="381000"/>
          </a:xfrm>
          <a:prstGeom prst="straightConnector1">
            <a:avLst/>
          </a:prstGeom>
          <a:noFill/>
          <a:ln cap="flat" cmpd="sng" w="57150">
            <a:solidFill>
              <a:srgbClr val="BD4B48"/>
            </a:solidFill>
            <a:prstDash val="dash"/>
            <a:round/>
            <a:headEnd len="sm" w="sm" type="none"/>
            <a:tailEnd len="sm" w="sm" type="none"/>
          </a:ln>
        </p:spPr>
      </p:cxnSp>
      <p:sp>
        <p:nvSpPr>
          <p:cNvPr id="979" name="Google Shape;979;p55"/>
          <p:cNvSpPr/>
          <p:nvPr/>
        </p:nvSpPr>
        <p:spPr>
          <a:xfrm>
            <a:off x="11298405" y="5459968"/>
            <a:ext cx="738664" cy="738664"/>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3.</a:t>
            </a:r>
            <a:endParaRPr/>
          </a:p>
        </p:txBody>
      </p:sp>
    </p:spTree>
  </p:cSld>
  <p:clrMapOvr>
    <a:masterClrMapping/>
  </p:clrMapOvr>
  <p:transition spd="slow">
    <p:push/>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grpSp>
        <p:nvGrpSpPr>
          <p:cNvPr id="985" name="Google Shape;985;p56"/>
          <p:cNvGrpSpPr/>
          <p:nvPr/>
        </p:nvGrpSpPr>
        <p:grpSpPr>
          <a:xfrm>
            <a:off x="17016492" y="-180826"/>
            <a:ext cx="1271508" cy="10467826"/>
            <a:chOff x="0" y="-47625"/>
            <a:chExt cx="334883" cy="2756958"/>
          </a:xfrm>
        </p:grpSpPr>
        <p:sp>
          <p:nvSpPr>
            <p:cNvPr id="986" name="Google Shape;986;p56"/>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7" name="Google Shape;987;p56"/>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88" name="Google Shape;988;p56"/>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9" name="Google Shape;989;p56"/>
          <p:cNvSpPr txBox="1"/>
          <p:nvPr/>
        </p:nvSpPr>
        <p:spPr>
          <a:xfrm>
            <a:off x="17315322" y="9410922"/>
            <a:ext cx="670613" cy="689890"/>
          </a:xfrm>
          <a:prstGeom prst="rect">
            <a:avLst/>
          </a:prstGeom>
          <a:noFill/>
          <a:ln>
            <a:noFill/>
          </a:ln>
        </p:spPr>
        <p:txBody>
          <a:bodyPr anchorCtr="0" anchor="ctr" bIns="50800" lIns="50800" spcFirstLastPara="1" rIns="50800" wrap="square" tIns="50800">
            <a:noAutofit/>
          </a:bodyPr>
          <a:lstStyle/>
          <a:p>
            <a:pPr indent="0" lvl="0" marL="0" marR="0" rtl="0" algn="ctr">
              <a:lnSpc>
                <a:spcPct val="140021"/>
              </a:lnSpc>
              <a:spcBef>
                <a:spcPts val="0"/>
              </a:spcBef>
              <a:spcAft>
                <a:spcPts val="0"/>
              </a:spcAft>
              <a:buNone/>
            </a:pPr>
            <a:r>
              <a:t/>
            </a:r>
            <a:endParaRPr b="1" sz="1899">
              <a:solidFill>
                <a:srgbClr val="FDFDFD"/>
              </a:solidFill>
              <a:latin typeface="Open Sans ExtraBold"/>
              <a:ea typeface="Open Sans ExtraBold"/>
              <a:cs typeface="Open Sans ExtraBold"/>
              <a:sym typeface="Open Sans ExtraBold"/>
            </a:endParaRPr>
          </a:p>
        </p:txBody>
      </p:sp>
      <p:pic>
        <p:nvPicPr>
          <p:cNvPr id="990" name="Google Shape;990;p56"/>
          <p:cNvPicPr preferRelativeResize="0"/>
          <p:nvPr/>
        </p:nvPicPr>
        <p:blipFill rotWithShape="1">
          <a:blip r:embed="rId4">
            <a:alphaModFix/>
          </a:blip>
          <a:srcRect b="0" l="0" r="0" t="0"/>
          <a:stretch/>
        </p:blipFill>
        <p:spPr>
          <a:xfrm>
            <a:off x="2362200" y="1102677"/>
            <a:ext cx="5284884" cy="3544073"/>
          </a:xfrm>
          <a:prstGeom prst="rect">
            <a:avLst/>
          </a:prstGeom>
          <a:noFill/>
          <a:ln cap="flat" cmpd="sng" w="9525">
            <a:solidFill>
              <a:schemeClr val="dk1"/>
            </a:solidFill>
            <a:prstDash val="solid"/>
            <a:round/>
            <a:headEnd len="sm" w="sm" type="none"/>
            <a:tailEnd len="sm" w="sm" type="none"/>
          </a:ln>
        </p:spPr>
      </p:pic>
      <p:sp>
        <p:nvSpPr>
          <p:cNvPr id="991" name="Google Shape;991;p56"/>
          <p:cNvSpPr/>
          <p:nvPr/>
        </p:nvSpPr>
        <p:spPr>
          <a:xfrm>
            <a:off x="1136505" y="1142556"/>
            <a:ext cx="738664" cy="738664"/>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3.</a:t>
            </a:r>
            <a:endParaRPr/>
          </a:p>
        </p:txBody>
      </p:sp>
      <p:pic>
        <p:nvPicPr>
          <p:cNvPr descr="Understanding Cross-Validation | Aptech" id="992" name="Google Shape;992;p56"/>
          <p:cNvPicPr preferRelativeResize="0"/>
          <p:nvPr/>
        </p:nvPicPr>
        <p:blipFill rotWithShape="1">
          <a:blip r:embed="rId5">
            <a:alphaModFix/>
          </a:blip>
          <a:srcRect b="0" l="0" r="0" t="0"/>
          <a:stretch/>
        </p:blipFill>
        <p:spPr>
          <a:xfrm>
            <a:off x="8494844" y="2628900"/>
            <a:ext cx="7736640" cy="6591300"/>
          </a:xfrm>
          <a:prstGeom prst="rect">
            <a:avLst/>
          </a:prstGeom>
          <a:noFill/>
          <a:ln cap="flat" cmpd="sng" w="9525">
            <a:solidFill>
              <a:schemeClr val="dk1"/>
            </a:solidFill>
            <a:prstDash val="solid"/>
            <a:round/>
            <a:headEnd len="sm" w="sm" type="none"/>
            <a:tailEnd len="sm" w="sm" type="none"/>
          </a:ln>
        </p:spPr>
      </p:pic>
      <p:cxnSp>
        <p:nvCxnSpPr>
          <p:cNvPr id="993" name="Google Shape;993;p56"/>
          <p:cNvCxnSpPr/>
          <p:nvPr/>
        </p:nvCxnSpPr>
        <p:spPr>
          <a:xfrm>
            <a:off x="2362200" y="2400300"/>
            <a:ext cx="6369900" cy="4572000"/>
          </a:xfrm>
          <a:prstGeom prst="bentConnector3">
            <a:avLst>
              <a:gd fmla="val -14176" name="adj1"/>
            </a:avLst>
          </a:prstGeom>
          <a:noFill/>
          <a:ln cap="flat" cmpd="sng" w="57150">
            <a:solidFill>
              <a:srgbClr val="BD4B48"/>
            </a:solidFill>
            <a:prstDash val="dash"/>
            <a:round/>
            <a:headEnd len="sm" w="sm" type="none"/>
            <a:tailEnd len="med" w="med" type="triangle"/>
          </a:ln>
        </p:spPr>
      </p:cxnSp>
      <p:sp>
        <p:nvSpPr>
          <p:cNvPr id="994" name="Google Shape;994;p56"/>
          <p:cNvSpPr/>
          <p:nvPr/>
        </p:nvSpPr>
        <p:spPr>
          <a:xfrm>
            <a:off x="8432092" y="1661636"/>
            <a:ext cx="738664" cy="738664"/>
          </a:xfrm>
          <a:prstGeom prst="ellipse">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4.</a:t>
            </a:r>
            <a:endParaRPr/>
          </a:p>
        </p:txBody>
      </p:sp>
    </p:spTree>
  </p:cSld>
  <p:clrMapOvr>
    <a:masterClrMapping/>
  </p:clrMapOvr>
  <p:transition spd="slow">
    <p:push/>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grpSp>
        <p:nvGrpSpPr>
          <p:cNvPr id="999" name="Google Shape;999;p57"/>
          <p:cNvGrpSpPr/>
          <p:nvPr/>
        </p:nvGrpSpPr>
        <p:grpSpPr>
          <a:xfrm>
            <a:off x="17016492" y="-180826"/>
            <a:ext cx="1271508" cy="10467826"/>
            <a:chOff x="0" y="-47625"/>
            <a:chExt cx="334883" cy="2756958"/>
          </a:xfrm>
        </p:grpSpPr>
        <p:sp>
          <p:nvSpPr>
            <p:cNvPr id="1000" name="Google Shape;1000;p57"/>
            <p:cNvSpPr/>
            <p:nvPr/>
          </p:nvSpPr>
          <p:spPr>
            <a:xfrm>
              <a:off x="0" y="0"/>
              <a:ext cx="334883" cy="2709333"/>
            </a:xfrm>
            <a:custGeom>
              <a:rect b="b" l="l" r="r" t="t"/>
              <a:pathLst>
                <a:path extrusionOk="0" h="2709333" w="334883">
                  <a:moveTo>
                    <a:pt x="0" y="0"/>
                  </a:moveTo>
                  <a:lnTo>
                    <a:pt x="334883" y="0"/>
                  </a:lnTo>
                  <a:lnTo>
                    <a:pt x="334883" y="2709333"/>
                  </a:lnTo>
                  <a:lnTo>
                    <a:pt x="0" y="2709333"/>
                  </a:lnTo>
                  <a:close/>
                </a:path>
              </a:pathLst>
            </a:custGeom>
            <a:solidFill>
              <a:srgbClr val="08377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1" name="Google Shape;1001;p57"/>
            <p:cNvSpPr txBox="1"/>
            <p:nvPr/>
          </p:nvSpPr>
          <p:spPr>
            <a:xfrm>
              <a:off x="0" y="-47625"/>
              <a:ext cx="334883" cy="275695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002" name="Google Shape;1002;p57"/>
          <p:cNvSpPr/>
          <p:nvPr/>
        </p:nvSpPr>
        <p:spPr>
          <a:xfrm>
            <a:off x="225597" y="158093"/>
            <a:ext cx="1051640" cy="946825"/>
          </a:xfrm>
          <a:custGeom>
            <a:rect b="b" l="l" r="r" t="t"/>
            <a:pathLst>
              <a:path extrusionOk="0" h="946825" w="1051640">
                <a:moveTo>
                  <a:pt x="0" y="0"/>
                </a:moveTo>
                <a:lnTo>
                  <a:pt x="1051639" y="0"/>
                </a:lnTo>
                <a:lnTo>
                  <a:pt x="1051639" y="946825"/>
                </a:lnTo>
                <a:lnTo>
                  <a:pt x="0" y="946825"/>
                </a:lnTo>
                <a:lnTo>
                  <a:pt x="0" y="0"/>
                </a:lnTo>
                <a:close/>
              </a:path>
            </a:pathLst>
          </a:custGeom>
          <a:blipFill rotWithShape="1">
            <a:blip r:embed="rId3">
              <a:alphaModFix/>
            </a:blip>
            <a:stretch>
              <a:fillRect b="0" l="-3962" r="-39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3" name="Google Shape;1003;p57"/>
          <p:cNvSpPr txBox="1"/>
          <p:nvPr/>
        </p:nvSpPr>
        <p:spPr>
          <a:xfrm>
            <a:off x="6083684" y="1257300"/>
            <a:ext cx="5211826" cy="933450"/>
          </a:xfrm>
          <a:prstGeom prst="rect">
            <a:avLst/>
          </a:prstGeom>
          <a:noFill/>
          <a:ln>
            <a:noFill/>
          </a:ln>
        </p:spPr>
        <p:txBody>
          <a:bodyPr anchorCtr="0" anchor="t" bIns="0" lIns="0" spcFirstLastPara="1" rIns="0" wrap="square" tIns="0">
            <a:spAutoFit/>
          </a:bodyPr>
          <a:lstStyle/>
          <a:p>
            <a:pPr indent="0" lvl="0" marL="0" marR="0" rtl="0" algn="ctr">
              <a:lnSpc>
                <a:spcPct val="120009"/>
              </a:lnSpc>
              <a:spcBef>
                <a:spcPts val="0"/>
              </a:spcBef>
              <a:spcAft>
                <a:spcPts val="0"/>
              </a:spcAft>
              <a:buNone/>
            </a:pPr>
            <a:r>
              <a:rPr b="1" lang="en-US" sz="6092">
                <a:solidFill>
                  <a:srgbClr val="08377C"/>
                </a:solidFill>
                <a:latin typeface="Montserrat"/>
                <a:ea typeface="Montserrat"/>
                <a:cs typeface="Montserrat"/>
                <a:sym typeface="Montserrat"/>
              </a:rPr>
              <a:t>Reference</a:t>
            </a:r>
            <a:endParaRPr/>
          </a:p>
        </p:txBody>
      </p:sp>
      <p:sp>
        <p:nvSpPr>
          <p:cNvPr id="1004" name="Google Shape;1004;p57"/>
          <p:cNvSpPr txBox="1"/>
          <p:nvPr/>
        </p:nvSpPr>
        <p:spPr>
          <a:xfrm>
            <a:off x="767595" y="2919347"/>
            <a:ext cx="15844005" cy="3426772"/>
          </a:xfrm>
          <a:prstGeom prst="rect">
            <a:avLst/>
          </a:prstGeom>
          <a:noFill/>
          <a:ln>
            <a:noFill/>
          </a:ln>
        </p:spPr>
        <p:txBody>
          <a:bodyPr anchorCtr="0" anchor="t" bIns="0" lIns="0" spcFirstLastPara="1" rIns="0" wrap="square" tIns="0">
            <a:spAutoFit/>
          </a:bodyPr>
          <a:lstStyle/>
          <a:p>
            <a:pPr indent="-514350" lvl="0" marL="514350" marR="0" rtl="0" algn="l">
              <a:lnSpc>
                <a:spcPct val="110000"/>
              </a:lnSpc>
              <a:spcBef>
                <a:spcPts val="0"/>
              </a:spcBef>
              <a:spcAft>
                <a:spcPts val="0"/>
              </a:spcAft>
              <a:buClr>
                <a:srgbClr val="074364"/>
              </a:buClr>
              <a:buSzPts val="2800"/>
              <a:buFont typeface="Calibri"/>
              <a:buAutoNum type="arabicPeriod"/>
            </a:pPr>
            <a:r>
              <a:rPr b="0" i="0" lang="en-US" sz="2800">
                <a:solidFill>
                  <a:srgbClr val="074364"/>
                </a:solidFill>
                <a:latin typeface="Raleway"/>
                <a:ea typeface="Raleway"/>
                <a:cs typeface="Raleway"/>
                <a:sym typeface="Raleway"/>
              </a:rPr>
              <a:t>Nils. J. Nilson, 1998, Intoduction to Machine Learning, Department of Computer Science, Standford University, Last Edition</a:t>
            </a:r>
            <a:endParaRPr/>
          </a:p>
          <a:p>
            <a:pPr indent="-514350" lvl="0" marL="514350" marR="0" rtl="0" algn="l">
              <a:lnSpc>
                <a:spcPct val="110000"/>
              </a:lnSpc>
              <a:spcBef>
                <a:spcPts val="1600"/>
              </a:spcBef>
              <a:spcAft>
                <a:spcPts val="0"/>
              </a:spcAft>
              <a:buClr>
                <a:srgbClr val="074364"/>
              </a:buClr>
              <a:buSzPts val="2800"/>
              <a:buFont typeface="Calibri"/>
              <a:buAutoNum type="arabicPeriod"/>
            </a:pPr>
            <a:r>
              <a:rPr lang="en-US" sz="2800">
                <a:solidFill>
                  <a:srgbClr val="074364"/>
                </a:solidFill>
                <a:latin typeface="Raleway"/>
                <a:ea typeface="Raleway"/>
                <a:cs typeface="Raleway"/>
                <a:sym typeface="Raleway"/>
              </a:rPr>
              <a:t>Dicoding – Belajar Machine Learning untuk Pemula</a:t>
            </a:r>
            <a:endParaRPr sz="2800">
              <a:solidFill>
                <a:srgbClr val="074364"/>
              </a:solidFill>
              <a:latin typeface="Raleway"/>
              <a:ea typeface="Raleway"/>
              <a:cs typeface="Raleway"/>
              <a:sym typeface="Raleway"/>
            </a:endParaRPr>
          </a:p>
          <a:p>
            <a:pPr indent="-514350" lvl="0" marL="514350" marR="0" rtl="0" algn="l">
              <a:lnSpc>
                <a:spcPct val="110000"/>
              </a:lnSpc>
              <a:spcBef>
                <a:spcPts val="1600"/>
              </a:spcBef>
              <a:spcAft>
                <a:spcPts val="0"/>
              </a:spcAft>
              <a:buClr>
                <a:srgbClr val="074364"/>
              </a:buClr>
              <a:buSzPts val="2800"/>
              <a:buFont typeface="Calibri"/>
              <a:buAutoNum type="arabicPeriod"/>
            </a:pPr>
            <a:r>
              <a:rPr b="0" lang="en-US" sz="2800" u="sng">
                <a:solidFill>
                  <a:srgbClr val="074364"/>
                </a:solidFill>
                <a:latin typeface="Raleway"/>
                <a:ea typeface="Raleway"/>
                <a:cs typeface="Raleway"/>
                <a:sym typeface="Raleway"/>
                <a:hlinkClick r:id="rId4">
                  <a:extLst>
                    <a:ext uri="{A12FA001-AC4F-418D-AE19-62706E023703}">
                      <ahyp:hlinkClr val="tx"/>
                    </a:ext>
                  </a:extLst>
                </a:hlinkClick>
              </a:rPr>
              <a:t>https://www.mltut.com/k-fold-cross-validation-in-machine-learning-how-does-k-fold-work/</a:t>
            </a:r>
            <a:endParaRPr b="0" sz="2800">
              <a:solidFill>
                <a:srgbClr val="074364"/>
              </a:solidFill>
              <a:latin typeface="Raleway"/>
              <a:ea typeface="Raleway"/>
              <a:cs typeface="Raleway"/>
              <a:sym typeface="Raleway"/>
            </a:endParaRPr>
          </a:p>
          <a:p>
            <a:pPr indent="-514350" lvl="0" marL="514350" marR="0" rtl="0" algn="l">
              <a:lnSpc>
                <a:spcPct val="110000"/>
              </a:lnSpc>
              <a:spcBef>
                <a:spcPts val="1600"/>
              </a:spcBef>
              <a:spcAft>
                <a:spcPts val="0"/>
              </a:spcAft>
              <a:buClr>
                <a:srgbClr val="074364"/>
              </a:buClr>
              <a:buSzPts val="2800"/>
              <a:buFont typeface="Calibri"/>
              <a:buAutoNum type="arabicPeriod"/>
            </a:pPr>
            <a:r>
              <a:rPr b="0" lang="en-US" sz="2800">
                <a:solidFill>
                  <a:srgbClr val="074364"/>
                </a:solidFill>
                <a:latin typeface="Raleway"/>
                <a:ea typeface="Raleway"/>
                <a:cs typeface="Raleway"/>
                <a:sym typeface="Raleway"/>
              </a:rPr>
              <a:t>https://scikit-learn.org/stable/modules/cross_validation.html</a:t>
            </a:r>
            <a:endParaRPr/>
          </a:p>
        </p:txBody>
      </p:sp>
    </p:spTree>
  </p:cSld>
  <p:clrMapOvr>
    <a:masterClrMapping/>
  </p:clrMapOvr>
  <p:transition spd="slow">
    <p:push/>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009" name="Shape 1009"/>
        <p:cNvGrpSpPr/>
        <p:nvPr/>
      </p:nvGrpSpPr>
      <p:grpSpPr>
        <a:xfrm>
          <a:off x="0" y="0"/>
          <a:ext cx="0" cy="0"/>
          <a:chOff x="0" y="0"/>
          <a:chExt cx="0" cy="0"/>
        </a:xfrm>
      </p:grpSpPr>
      <p:grpSp>
        <p:nvGrpSpPr>
          <p:cNvPr id="1010" name="Google Shape;1010;p58"/>
          <p:cNvGrpSpPr/>
          <p:nvPr/>
        </p:nvGrpSpPr>
        <p:grpSpPr>
          <a:xfrm>
            <a:off x="1" y="9204114"/>
            <a:ext cx="18288000" cy="1082886"/>
            <a:chOff x="0" y="-38100"/>
            <a:chExt cx="6110362" cy="303232"/>
          </a:xfrm>
        </p:grpSpPr>
        <p:sp>
          <p:nvSpPr>
            <p:cNvPr id="1011" name="Google Shape;1011;p58"/>
            <p:cNvSpPr/>
            <p:nvPr/>
          </p:nvSpPr>
          <p:spPr>
            <a:xfrm>
              <a:off x="0" y="0"/>
              <a:ext cx="6110362" cy="265132"/>
            </a:xfrm>
            <a:custGeom>
              <a:rect b="b" l="l" r="r" t="t"/>
              <a:pathLst>
                <a:path extrusionOk="0" h="265132" w="6110362">
                  <a:moveTo>
                    <a:pt x="0" y="0"/>
                  </a:moveTo>
                  <a:lnTo>
                    <a:pt x="6110362" y="0"/>
                  </a:lnTo>
                  <a:lnTo>
                    <a:pt x="6110362" y="265132"/>
                  </a:lnTo>
                  <a:lnTo>
                    <a:pt x="0" y="265132"/>
                  </a:ln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2" name="Google Shape;1012;p58"/>
            <p:cNvSpPr txBox="1"/>
            <p:nvPr/>
          </p:nvSpPr>
          <p:spPr>
            <a:xfrm>
              <a:off x="0" y="-38100"/>
              <a:ext cx="6110362" cy="30323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13" name="Google Shape;1013;p58"/>
          <p:cNvGrpSpPr/>
          <p:nvPr/>
        </p:nvGrpSpPr>
        <p:grpSpPr>
          <a:xfrm>
            <a:off x="1" y="-73076"/>
            <a:ext cx="18288000" cy="1019900"/>
            <a:chOff x="0" y="-38100"/>
            <a:chExt cx="6110362" cy="531751"/>
          </a:xfrm>
        </p:grpSpPr>
        <p:sp>
          <p:nvSpPr>
            <p:cNvPr id="1014" name="Google Shape;1014;p58"/>
            <p:cNvSpPr/>
            <p:nvPr/>
          </p:nvSpPr>
          <p:spPr>
            <a:xfrm>
              <a:off x="0" y="0"/>
              <a:ext cx="6110362" cy="493651"/>
            </a:xfrm>
            <a:custGeom>
              <a:rect b="b" l="l" r="r" t="t"/>
              <a:pathLst>
                <a:path extrusionOk="0" h="493651" w="6110362">
                  <a:moveTo>
                    <a:pt x="0" y="0"/>
                  </a:moveTo>
                  <a:lnTo>
                    <a:pt x="6110362" y="0"/>
                  </a:lnTo>
                  <a:lnTo>
                    <a:pt x="6110362" y="493651"/>
                  </a:lnTo>
                  <a:lnTo>
                    <a:pt x="0" y="493651"/>
                  </a:lnTo>
                  <a:close/>
                </a:path>
              </a:pathLst>
            </a:custGeom>
            <a:solidFill>
              <a:srgbClr val="145D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5" name="Google Shape;1015;p58"/>
            <p:cNvSpPr txBox="1"/>
            <p:nvPr/>
          </p:nvSpPr>
          <p:spPr>
            <a:xfrm>
              <a:off x="0" y="-38100"/>
              <a:ext cx="6110362" cy="5317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016" name="Google Shape;1016;p58"/>
          <p:cNvSpPr txBox="1"/>
          <p:nvPr/>
        </p:nvSpPr>
        <p:spPr>
          <a:xfrm>
            <a:off x="4734204" y="3627935"/>
            <a:ext cx="8819592" cy="1771491"/>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1" lang="en-US" sz="10364">
                <a:solidFill>
                  <a:srgbClr val="051D40"/>
                </a:solidFill>
                <a:latin typeface="Open Sans ExtraBold"/>
                <a:ea typeface="Open Sans ExtraBold"/>
                <a:cs typeface="Open Sans ExtraBold"/>
                <a:sym typeface="Open Sans ExtraBold"/>
              </a:rPr>
              <a:t>THANK YOU!</a:t>
            </a:r>
            <a:endParaRPr/>
          </a:p>
        </p:txBody>
      </p:sp>
    </p:spTree>
  </p:cSld>
  <p:clrMapOvr>
    <a:masterClrMapping/>
  </p:clrMapOvr>
  <p:transition spd="slow">
    <p:push/>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M S I</dc:creator>
</cp:coreProperties>
</file>